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26"/>
  </p:notesMasterIdLst>
  <p:sldIdLst>
    <p:sldId id="256" r:id="rId2"/>
    <p:sldId id="257" r:id="rId3"/>
    <p:sldId id="320" r:id="rId4"/>
    <p:sldId id="339" r:id="rId5"/>
    <p:sldId id="322" r:id="rId6"/>
    <p:sldId id="323" r:id="rId7"/>
    <p:sldId id="266" r:id="rId8"/>
    <p:sldId id="267" r:id="rId9"/>
    <p:sldId id="268" r:id="rId10"/>
    <p:sldId id="275" r:id="rId11"/>
    <p:sldId id="274" r:id="rId12"/>
    <p:sldId id="279" r:id="rId13"/>
    <p:sldId id="273" r:id="rId14"/>
    <p:sldId id="269" r:id="rId15"/>
    <p:sldId id="278" r:id="rId16"/>
    <p:sldId id="276" r:id="rId17"/>
    <p:sldId id="272" r:id="rId18"/>
    <p:sldId id="283" r:id="rId19"/>
    <p:sldId id="270" r:id="rId20"/>
    <p:sldId id="282" r:id="rId21"/>
    <p:sldId id="280" r:id="rId22"/>
    <p:sldId id="271" r:id="rId23"/>
    <p:sldId id="281" r:id="rId24"/>
    <p:sldId id="265" r:id="rId25"/>
  </p:sldIdLst>
  <p:sldSz cx="9144000" cy="5143500" type="screen16x9"/>
  <p:notesSz cx="6858000" cy="9144000"/>
  <p:embeddedFontLst>
    <p:embeddedFont>
      <p:font typeface="Audiowide" panose="020B0604020202020204" charset="0"/>
      <p:regular r:id="rId27"/>
    </p:embeddedFont>
    <p:embeddedFont>
      <p:font typeface="Karla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945C18-DC50-4A0C-B772-0B5F9BE0D4EE}">
  <a:tblStyle styleId="{9F945C18-DC50-4A0C-B772-0B5F9BE0D4E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595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1610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21caab1d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21caab1d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7263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6658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7121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7889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2057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79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00712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9953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69971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34214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53971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4215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69155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3584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92255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5276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04249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78514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22491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91469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61803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11ed1af4641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11ed1af4641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t="1620" b="17753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25850" y="1317528"/>
            <a:ext cx="5892300" cy="2358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>
                <a:latin typeface="Audiowide"/>
                <a:ea typeface="Audiowide"/>
                <a:cs typeface="Audiowide"/>
                <a:sym typeface="Audiowid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25850" y="3778500"/>
            <a:ext cx="5892300" cy="473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-1011050" y="-447675"/>
            <a:ext cx="5892301" cy="364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10800000">
            <a:off x="4261050" y="1962150"/>
            <a:ext cx="5892301" cy="36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t="1620" b="17753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0000" y="116846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2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pic>
        <p:nvPicPr>
          <p:cNvPr id="33" name="Google Shape;33;p4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-825300" y="-371475"/>
            <a:ext cx="4857272" cy="300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4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10800000">
            <a:off x="5048253" y="2398274"/>
            <a:ext cx="5095572" cy="315487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0"/>
          <p:cNvPicPr preferRelativeResize="0"/>
          <p:nvPr/>
        </p:nvPicPr>
        <p:blipFill rotWithShape="1">
          <a:blip r:embed="rId2">
            <a:alphaModFix/>
          </a:blip>
          <a:srcRect t="1620" b="17753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0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0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0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title"/>
          </p:nvPr>
        </p:nvSpPr>
        <p:spPr>
          <a:xfrm rot="300">
            <a:off x="720000" y="3295650"/>
            <a:ext cx="3433500" cy="120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8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5"/>
          <p:cNvPicPr preferRelativeResize="0"/>
          <p:nvPr/>
        </p:nvPicPr>
        <p:blipFill rotWithShape="1">
          <a:blip r:embed="rId2">
            <a:alphaModFix/>
          </a:blip>
          <a:srcRect t="1620" b="17753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5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5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2" name="Google Shape;262;p25"/>
          <p:cNvPicPr preferRelativeResize="0"/>
          <p:nvPr/>
        </p:nvPicPr>
        <p:blipFill rotWithShape="1">
          <a:blip r:embed="rId3">
            <a:alphaModFix amt="75000"/>
          </a:blip>
          <a:srcRect l="23664" t="13299"/>
          <a:stretch/>
        </p:blipFill>
        <p:spPr>
          <a:xfrm>
            <a:off x="9525" y="-156200"/>
            <a:ext cx="4171950" cy="293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5"/>
          <p:cNvPicPr preferRelativeResize="0"/>
          <p:nvPr/>
        </p:nvPicPr>
        <p:blipFill rotWithShape="1">
          <a:blip r:embed="rId3">
            <a:alphaModFix amt="75000"/>
          </a:blip>
          <a:srcRect l="21334" t="3883"/>
          <a:stretch/>
        </p:blipFill>
        <p:spPr>
          <a:xfrm rot="-10799995">
            <a:off x="5739700" y="2603702"/>
            <a:ext cx="3747200" cy="2835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_1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6"/>
          <p:cNvPicPr preferRelativeResize="0"/>
          <p:nvPr/>
        </p:nvPicPr>
        <p:blipFill rotWithShape="1">
          <a:blip r:embed="rId2">
            <a:alphaModFix/>
          </a:blip>
          <a:srcRect t="1620" b="17753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6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6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6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9" name="Google Shape;269;p26"/>
          <p:cNvPicPr preferRelativeResize="0"/>
          <p:nvPr/>
        </p:nvPicPr>
        <p:blipFill rotWithShape="1">
          <a:blip r:embed="rId3">
            <a:alphaModFix amt="75000"/>
          </a:blip>
          <a:srcRect l="20356"/>
          <a:stretch/>
        </p:blipFill>
        <p:spPr>
          <a:xfrm rot="5400000">
            <a:off x="4631025" y="510125"/>
            <a:ext cx="5524500" cy="42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 amt="75000"/>
          </a:blip>
          <a:srcRect l="16645" t="537"/>
          <a:stretch/>
        </p:blipFill>
        <p:spPr>
          <a:xfrm rot="-5399997">
            <a:off x="-1058539" y="294014"/>
            <a:ext cx="5654502" cy="4177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dk2"/>
            </a:gs>
            <a:gs pos="37000">
              <a:schemeClr val="dk1"/>
            </a:gs>
            <a:gs pos="63000">
              <a:schemeClr val="dk1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82475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udiowide"/>
              <a:buNone/>
              <a:defRPr sz="280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82475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●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○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■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●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○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■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●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○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■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6" r:id="rId3"/>
    <p:sldLayoutId id="2147483658" r:id="rId4"/>
    <p:sldLayoutId id="2147483671" r:id="rId5"/>
    <p:sldLayoutId id="2147483672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mages.datacamp.com/image/upload/v1676302459/Marketing/Blog/Numpy_Cheat_Sheet.pdf" TargetMode="Externa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mages.datacamp.com/image/upload/v1676302204/Marketing/Blog/Pandas_Cheat_Sheet.pdf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"/>
          <p:cNvSpPr/>
          <p:nvPr/>
        </p:nvSpPr>
        <p:spPr>
          <a:xfrm>
            <a:off x="1727250" y="1228150"/>
            <a:ext cx="5689500" cy="24768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30"/>
          <p:cNvSpPr txBox="1">
            <a:spLocks noGrp="1"/>
          </p:cNvSpPr>
          <p:nvPr>
            <p:ph type="ctrTitle"/>
          </p:nvPr>
        </p:nvSpPr>
        <p:spPr>
          <a:xfrm>
            <a:off x="1625850" y="1317528"/>
            <a:ext cx="5892300" cy="235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/>
              <a:t>Data </a:t>
            </a:r>
            <a:br>
              <a:rPr lang="en-US" sz="5400" dirty="0"/>
            </a:br>
            <a:r>
              <a:rPr lang="en-US" sz="4800" dirty="0"/>
              <a:t>Management &amp; Visualization</a:t>
            </a:r>
            <a:endParaRPr dirty="0">
              <a:solidFill>
                <a:srgbClr val="CC0000"/>
              </a:solidFill>
            </a:endParaRPr>
          </a:p>
        </p:txBody>
      </p:sp>
      <p:sp>
        <p:nvSpPr>
          <p:cNvPr id="283" name="Google Shape;283;p30"/>
          <p:cNvSpPr txBox="1">
            <a:spLocks noGrp="1"/>
          </p:cNvSpPr>
          <p:nvPr>
            <p:ph type="subTitle" idx="1"/>
          </p:nvPr>
        </p:nvSpPr>
        <p:spPr>
          <a:xfrm>
            <a:off x="1413419" y="3921148"/>
            <a:ext cx="5892300" cy="47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Eng- Mohamed Khaled Idris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Eng- Mayar Swilam</a:t>
            </a:r>
            <a:endParaRPr dirty="0"/>
          </a:p>
        </p:txBody>
      </p:sp>
      <p:grpSp>
        <p:nvGrpSpPr>
          <p:cNvPr id="284" name="Google Shape;284;p30"/>
          <p:cNvGrpSpPr/>
          <p:nvPr/>
        </p:nvGrpSpPr>
        <p:grpSpPr>
          <a:xfrm>
            <a:off x="1006807" y="487596"/>
            <a:ext cx="288601" cy="1096693"/>
            <a:chOff x="1006700" y="2603975"/>
            <a:chExt cx="55450" cy="210700"/>
          </a:xfrm>
        </p:grpSpPr>
        <p:sp>
          <p:nvSpPr>
            <p:cNvPr id="285" name="Google Shape;285;p30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0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0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0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0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0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" name="Google Shape;291;p30"/>
          <p:cNvGrpSpPr/>
          <p:nvPr/>
        </p:nvGrpSpPr>
        <p:grpSpPr>
          <a:xfrm rot="5400000">
            <a:off x="7769557" y="3906771"/>
            <a:ext cx="288601" cy="1096693"/>
            <a:chOff x="1006700" y="2603975"/>
            <a:chExt cx="55450" cy="210700"/>
          </a:xfrm>
        </p:grpSpPr>
        <p:sp>
          <p:nvSpPr>
            <p:cNvPr id="292" name="Google Shape;292;p30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0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0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0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8" name="Google Shape;298;p30"/>
          <p:cNvGrpSpPr/>
          <p:nvPr/>
        </p:nvGrpSpPr>
        <p:grpSpPr>
          <a:xfrm>
            <a:off x="551124" y="3629702"/>
            <a:ext cx="1178637" cy="1096691"/>
            <a:chOff x="827350" y="3629733"/>
            <a:chExt cx="1431600" cy="1332067"/>
          </a:xfrm>
        </p:grpSpPr>
        <p:sp>
          <p:nvSpPr>
            <p:cNvPr id="299" name="Google Shape;299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" name="Google Shape;302;p30"/>
          <p:cNvGrpSpPr/>
          <p:nvPr/>
        </p:nvGrpSpPr>
        <p:grpSpPr>
          <a:xfrm>
            <a:off x="322602" y="2902809"/>
            <a:ext cx="781224" cy="726909"/>
            <a:chOff x="827350" y="3629733"/>
            <a:chExt cx="1431600" cy="1332067"/>
          </a:xfrm>
        </p:grpSpPr>
        <p:sp>
          <p:nvSpPr>
            <p:cNvPr id="303" name="Google Shape;303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6" name="Google Shape;306;p30"/>
          <p:cNvGrpSpPr/>
          <p:nvPr/>
        </p:nvGrpSpPr>
        <p:grpSpPr>
          <a:xfrm>
            <a:off x="1816189" y="4394848"/>
            <a:ext cx="356325" cy="331552"/>
            <a:chOff x="827350" y="3629733"/>
            <a:chExt cx="1431600" cy="1332067"/>
          </a:xfrm>
        </p:grpSpPr>
        <p:sp>
          <p:nvSpPr>
            <p:cNvPr id="307" name="Google Shape;307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0" name="Google Shape;310;p30"/>
          <p:cNvGrpSpPr/>
          <p:nvPr/>
        </p:nvGrpSpPr>
        <p:grpSpPr>
          <a:xfrm>
            <a:off x="7466251" y="219713"/>
            <a:ext cx="895180" cy="832942"/>
            <a:chOff x="827350" y="3629733"/>
            <a:chExt cx="1431600" cy="1332067"/>
          </a:xfrm>
        </p:grpSpPr>
        <p:sp>
          <p:nvSpPr>
            <p:cNvPr id="311" name="Google Shape;311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4" name="Google Shape;314;p30"/>
          <p:cNvGrpSpPr/>
          <p:nvPr/>
        </p:nvGrpSpPr>
        <p:grpSpPr>
          <a:xfrm>
            <a:off x="8131283" y="1065715"/>
            <a:ext cx="598982" cy="557337"/>
            <a:chOff x="827350" y="3629733"/>
            <a:chExt cx="1431600" cy="1332067"/>
          </a:xfrm>
        </p:grpSpPr>
        <p:sp>
          <p:nvSpPr>
            <p:cNvPr id="315" name="Google Shape;315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8" name="Google Shape;318;p30"/>
          <p:cNvGrpSpPr/>
          <p:nvPr/>
        </p:nvGrpSpPr>
        <p:grpSpPr>
          <a:xfrm>
            <a:off x="6901231" y="620669"/>
            <a:ext cx="464268" cy="431989"/>
            <a:chOff x="827350" y="3629733"/>
            <a:chExt cx="1431600" cy="1332067"/>
          </a:xfrm>
        </p:grpSpPr>
        <p:sp>
          <p:nvSpPr>
            <p:cNvPr id="319" name="Google Shape;319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CFFCD9B-A246-8CB9-634B-27BEE4A1B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109" y="1250676"/>
            <a:ext cx="6239746" cy="3524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8616F1-18E3-AB56-9746-11004F73CCE0}"/>
              </a:ext>
            </a:extLst>
          </p:cNvPr>
          <p:cNvSpPr txBox="1"/>
          <p:nvPr/>
        </p:nvSpPr>
        <p:spPr>
          <a:xfrm>
            <a:off x="1243012" y="471488"/>
            <a:ext cx="3879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Review: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85F28D-1B93-67C4-3D3C-31E31B647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49" y="778018"/>
            <a:ext cx="7940728" cy="40160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268C7A-5DAC-9395-BFDA-B3958BCC0DB5}"/>
              </a:ext>
            </a:extLst>
          </p:cNvPr>
          <p:cNvSpPr txBox="1"/>
          <p:nvPr/>
        </p:nvSpPr>
        <p:spPr>
          <a:xfrm>
            <a:off x="4636870" y="87784"/>
            <a:ext cx="6461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Python Libraries</a:t>
            </a:r>
          </a:p>
        </p:txBody>
      </p:sp>
    </p:spTree>
    <p:extLst>
      <p:ext uri="{BB962C8B-B14F-4D97-AF65-F5344CB8AC3E}">
        <p14:creationId xmlns:p14="http://schemas.microsoft.com/office/powerpoint/2010/main" val="2946637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268C7A-5DAC-9395-BFDA-B3958BCC0DB5}"/>
              </a:ext>
            </a:extLst>
          </p:cNvPr>
          <p:cNvSpPr txBox="1"/>
          <p:nvPr/>
        </p:nvSpPr>
        <p:spPr>
          <a:xfrm>
            <a:off x="4636870" y="87784"/>
            <a:ext cx="6461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Python Libraries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A14FF6-65B1-97A7-3922-7665DC5CC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05" y="921877"/>
            <a:ext cx="7963590" cy="32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28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268C7A-5DAC-9395-BFDA-B3958BCC0DB5}"/>
              </a:ext>
            </a:extLst>
          </p:cNvPr>
          <p:cNvSpPr txBox="1"/>
          <p:nvPr/>
        </p:nvSpPr>
        <p:spPr>
          <a:xfrm>
            <a:off x="4636870" y="87784"/>
            <a:ext cx="6461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Python Libraries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D40E66-CEC0-E586-1C58-CDBF13D54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84" y="849481"/>
            <a:ext cx="7757832" cy="344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016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268C7A-5DAC-9395-BFDA-B3958BCC0DB5}"/>
              </a:ext>
            </a:extLst>
          </p:cNvPr>
          <p:cNvSpPr txBox="1"/>
          <p:nvPr/>
        </p:nvSpPr>
        <p:spPr>
          <a:xfrm>
            <a:off x="4636870" y="87784"/>
            <a:ext cx="6461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Python Libraries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7AF935-CE93-5BA7-8C34-F350B7472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661" y="803787"/>
            <a:ext cx="7064454" cy="24851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246E75-6694-7500-A780-EC3037300E80}"/>
              </a:ext>
            </a:extLst>
          </p:cNvPr>
          <p:cNvSpPr txBox="1"/>
          <p:nvPr/>
        </p:nvSpPr>
        <p:spPr>
          <a:xfrm>
            <a:off x="1713868" y="3625386"/>
            <a:ext cx="59620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TENSORFLOW &amp; PYTORCH </a:t>
            </a:r>
          </a:p>
        </p:txBody>
      </p:sp>
    </p:spTree>
    <p:extLst>
      <p:ext uri="{BB962C8B-B14F-4D97-AF65-F5344CB8AC3E}">
        <p14:creationId xmlns:p14="http://schemas.microsoft.com/office/powerpoint/2010/main" val="334432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7BAE7B39-F847-7D97-3F30-A95AB8B73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1193" y="58079"/>
            <a:ext cx="9905998" cy="1478570"/>
          </a:xfrm>
        </p:spPr>
        <p:txBody>
          <a:bodyPr/>
          <a:lstStyle/>
          <a:p>
            <a:r>
              <a:rPr lang="en-US" sz="3200" b="1" dirty="0"/>
              <a:t>Data Management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232793-1B21-3173-C92D-1C2AC794D2FE}"/>
              </a:ext>
            </a:extLst>
          </p:cNvPr>
          <p:cNvSpPr txBox="1"/>
          <p:nvPr/>
        </p:nvSpPr>
        <p:spPr>
          <a:xfrm>
            <a:off x="586044" y="1536649"/>
            <a:ext cx="782214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order to manage data through python, there are many ways to do it 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Also, you may need to do some mathematical operations to matrices, lists or any 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You can simply manage your data as the same as SQL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1112A5-E6E7-37FD-2AC1-7E1EA769C713}"/>
              </a:ext>
            </a:extLst>
          </p:cNvPr>
          <p:cNvSpPr/>
          <p:nvPr/>
        </p:nvSpPr>
        <p:spPr>
          <a:xfrm>
            <a:off x="2496564" y="3443216"/>
            <a:ext cx="45704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HOW THEN ?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5920048-5ABF-0AD8-3A41-D503329E523F}"/>
              </a:ext>
            </a:extLst>
          </p:cNvPr>
          <p:cNvSpPr txBox="1">
            <a:spLocks/>
          </p:cNvSpPr>
          <p:nvPr/>
        </p:nvSpPr>
        <p:spPr>
          <a:xfrm>
            <a:off x="8963715" y="5322835"/>
            <a:ext cx="771089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4B7E4EF-A1BD-40F4-AB7B-04F084DD991D}" type="slidenum">
              <a:rPr lang="en-US" b="1" smtClean="0"/>
              <a:pPr/>
              <a:t>7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61820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">
            <a:extLst>
              <a:ext uri="{FF2B5EF4-FFF2-40B4-BE49-F238E27FC236}">
                <a16:creationId xmlns:a16="http://schemas.microsoft.com/office/drawing/2014/main" id="{68B8E7AF-F4E2-5E53-6AAC-ED33ABCD68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26" y="641519"/>
            <a:ext cx="8213747" cy="386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249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AC745-66E5-02D7-06B4-1625E0FD9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181" y="46027"/>
            <a:ext cx="7559041" cy="1478570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What is NumPy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82881E-B5FC-EB69-EB84-34F34C484602}"/>
              </a:ext>
            </a:extLst>
          </p:cNvPr>
          <p:cNvSpPr txBox="1"/>
          <p:nvPr/>
        </p:nvSpPr>
        <p:spPr>
          <a:xfrm>
            <a:off x="525779" y="1412635"/>
            <a:ext cx="75590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NumPy is an open-source Python library that facilitates efficient numerical operations on large quantities of data.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124355-B85D-FFDC-4479-269F0F6C7125}"/>
              </a:ext>
            </a:extLst>
          </p:cNvPr>
          <p:cNvSpPr txBox="1"/>
          <p:nvPr/>
        </p:nvSpPr>
        <p:spPr>
          <a:xfrm>
            <a:off x="525780" y="2383068"/>
            <a:ext cx="75590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There are a few functions that exist in NumPy that we use on pandas </a:t>
            </a:r>
            <a:r>
              <a:rPr lang="en-US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0AD675-0876-E4DA-6A8E-D970F00582FC}"/>
              </a:ext>
            </a:extLst>
          </p:cNvPr>
          <p:cNvSpPr txBox="1"/>
          <p:nvPr/>
        </p:nvSpPr>
        <p:spPr>
          <a:xfrm>
            <a:off x="525780" y="3136315"/>
            <a:ext cx="75590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For us, the most important part about NumPy is that pandas is built on top of it. So, NumPy is a dependency of Pandas. </a:t>
            </a:r>
          </a:p>
        </p:txBody>
      </p:sp>
      <p:pic>
        <p:nvPicPr>
          <p:cNvPr id="7" name="Picture 6" descr="A blue and black logo&#10;&#10;Description automatically generated">
            <a:extLst>
              <a:ext uri="{FF2B5EF4-FFF2-40B4-BE49-F238E27FC236}">
                <a16:creationId xmlns:a16="http://schemas.microsoft.com/office/drawing/2014/main" id="{2D6481D9-2215-281B-1F05-F610DD598E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" y="3661409"/>
            <a:ext cx="3042999" cy="1794510"/>
          </a:xfrm>
          <a:prstGeom prst="rect">
            <a:avLst/>
          </a:prstGeom>
        </p:spPr>
      </p:pic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F4CEABCD-C990-2D7A-B7F3-D09EEA43EF3E}"/>
              </a:ext>
            </a:extLst>
          </p:cNvPr>
          <p:cNvSpPr txBox="1">
            <a:spLocks/>
          </p:cNvSpPr>
          <p:nvPr/>
        </p:nvSpPr>
        <p:spPr>
          <a:xfrm>
            <a:off x="8914378" y="5090794"/>
            <a:ext cx="5884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4B7E4EF-A1BD-40F4-AB7B-04F084DD991D}" type="slidenum">
              <a:rPr lang="en-US" b="1" smtClean="0">
                <a:solidFill>
                  <a:schemeClr val="bg1"/>
                </a:solidFill>
              </a:rPr>
              <a:pPr/>
              <a:t>9</a:t>
            </a:fld>
            <a:endParaRPr 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629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06BF0-B0A6-FC79-3838-783A67B92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447" y="-234922"/>
            <a:ext cx="8839864" cy="147857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NumPy Arrays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390407-567B-99F6-7575-58EB8E862123}"/>
              </a:ext>
            </a:extLst>
          </p:cNvPr>
          <p:cNvSpPr txBox="1"/>
          <p:nvPr/>
        </p:nvSpPr>
        <p:spPr>
          <a:xfrm>
            <a:off x="967739" y="1002408"/>
            <a:ext cx="772128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NumPy arrays are unique in that they are more flexible than normal Python lists.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They are called </a:t>
            </a:r>
            <a:r>
              <a:rPr lang="en-US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ndarrays</a:t>
            </a: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since they can have any number (n) of dimensions (d).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They hold a collection of items of any one data type and can be either a vector (one-dimensional) or a matrix (multi-dimensional).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NumPy arrays allow for fast element access and efficient data manipulation.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675FD4A5-91CA-8BE8-31FB-A5A1059F4A13}"/>
              </a:ext>
            </a:extLst>
          </p:cNvPr>
          <p:cNvSpPr txBox="1">
            <a:spLocks/>
          </p:cNvSpPr>
          <p:nvPr/>
        </p:nvSpPr>
        <p:spPr>
          <a:xfrm>
            <a:off x="9414430" y="5365114"/>
            <a:ext cx="6881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4B7E4EF-A1BD-40F4-AB7B-04F084DD991D}" type="slidenum">
              <a:rPr lang="en-US" b="1" smtClean="0">
                <a:solidFill>
                  <a:schemeClr val="bg1"/>
                </a:solidFill>
              </a:rPr>
              <a:pPr/>
              <a:t>10</a:t>
            </a:fld>
            <a:endParaRPr 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1938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">
            <a:extLst>
              <a:ext uri="{FF2B5EF4-FFF2-40B4-BE49-F238E27FC236}">
                <a16:creationId xmlns:a16="http://schemas.microsoft.com/office/drawing/2014/main" id="{EC26E4A2-3216-0B29-0FB1-E1F350754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299" y="802070"/>
            <a:ext cx="6805402" cy="403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175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0441FD9-5716-0B33-BE88-8827A0725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2F3EBAB-60DE-60EF-6509-F2788DF87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F7FCC521-AC02-FC9E-2587-18E016108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199AF865-B42C-B0F5-F1C6-DF43F4C33D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A4951027-F8BF-C563-FB09-945214BAB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214F7C2B-98EB-6378-A65B-8700922A7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A3FA3D9B-6F87-FB9E-321A-B00319886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FD62BEB5-DA14-023C-A930-BD8F1B2C2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EF5F438D-B270-7A90-F862-FF3F5CF6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A3D84E5E-BFF9-EEB7-2688-0243E155AF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E614EE43-C336-6D41-1AE2-DCBE593429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80224838-CAE6-D499-F69B-3E65F5A619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257E9E9B-3C96-3BD6-1096-240AD7AD50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CB87B3FA-7DF5-3AF6-BC5A-D55BBD73E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4827B411-34AA-B38B-8856-3693AC6CC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98AC9B77-D529-5130-6203-63D079987E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E72CD605-D14A-28AD-36E2-DA3207E3D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CC1F0962-3D35-4792-0B5F-D5255C3F49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4DB57800-6510-D1FE-E304-4D0AA4E7AC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561E591F-D625-1B5A-6213-02683D65E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3">
              <a:extLst>
                <a:ext uri="{FF2B5EF4-FFF2-40B4-BE49-F238E27FC236}">
                  <a16:creationId xmlns:a16="http://schemas.microsoft.com/office/drawing/2014/main" id="{E0D08E86-6918-38A6-653D-8505905578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4">
              <a:extLst>
                <a:ext uri="{FF2B5EF4-FFF2-40B4-BE49-F238E27FC236}">
                  <a16:creationId xmlns:a16="http://schemas.microsoft.com/office/drawing/2014/main" id="{D51C1A44-B513-1C56-A303-D93FBA9D9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5">
              <a:extLst>
                <a:ext uri="{FF2B5EF4-FFF2-40B4-BE49-F238E27FC236}">
                  <a16:creationId xmlns:a16="http://schemas.microsoft.com/office/drawing/2014/main" id="{20D99529-4C33-52DD-FA30-3C708DEB9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C998DA86-EA19-33F6-EA19-D81A655E39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9BB5566E-72BF-D1E0-22AF-79AC057AB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F77191B4-5805-860A-99AF-56269986D4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C3FBCBEE-65F0-C63E-35F3-5D27237ADA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9DDC14B9-25D6-7598-F80A-587F47193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D02847F5-F26C-E227-A089-DF2877889F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F117C14E-BDEF-E8C2-C64E-E4D666F81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Rectangle 33">
              <a:extLst>
                <a:ext uri="{FF2B5EF4-FFF2-40B4-BE49-F238E27FC236}">
                  <a16:creationId xmlns:a16="http://schemas.microsoft.com/office/drawing/2014/main" id="{AE36152A-A2CE-92DB-D63A-F0957426B3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1A6CE44D-0AEC-4D0D-7C50-59FE34B95B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4CA7DAE9-1C05-2272-D393-13B8D25D30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EED77777-4731-1D59-1A1A-628AAAC64E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A8744266-F9C0-38C4-2B34-26115144DF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2C3CE221-3456-1060-F334-B74B5489B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9">
              <a:extLst>
                <a:ext uri="{FF2B5EF4-FFF2-40B4-BE49-F238E27FC236}">
                  <a16:creationId xmlns:a16="http://schemas.microsoft.com/office/drawing/2014/main" id="{9751B946-53D7-C577-1F51-A5FB30A1BF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40">
              <a:extLst>
                <a:ext uri="{FF2B5EF4-FFF2-40B4-BE49-F238E27FC236}">
                  <a16:creationId xmlns:a16="http://schemas.microsoft.com/office/drawing/2014/main" id="{70E57DDF-802E-D793-A651-17C51F82B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41">
              <a:extLst>
                <a:ext uri="{FF2B5EF4-FFF2-40B4-BE49-F238E27FC236}">
                  <a16:creationId xmlns:a16="http://schemas.microsoft.com/office/drawing/2014/main" id="{4C3F177D-33CD-8017-867A-DE849DCC04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2">
              <a:extLst>
                <a:ext uri="{FF2B5EF4-FFF2-40B4-BE49-F238E27FC236}">
                  <a16:creationId xmlns:a16="http://schemas.microsoft.com/office/drawing/2014/main" id="{6D1BA6DA-45CD-BA10-8C04-C60616CC3F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3">
              <a:extLst>
                <a:ext uri="{FF2B5EF4-FFF2-40B4-BE49-F238E27FC236}">
                  <a16:creationId xmlns:a16="http://schemas.microsoft.com/office/drawing/2014/main" id="{C8D9D7C5-8DF5-B08E-C2FB-910451F1D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4">
              <a:extLst>
                <a:ext uri="{FF2B5EF4-FFF2-40B4-BE49-F238E27FC236}">
                  <a16:creationId xmlns:a16="http://schemas.microsoft.com/office/drawing/2014/main" id="{19977385-F8B1-652E-834D-64DAD8E58C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Rectangle 45">
              <a:extLst>
                <a:ext uri="{FF2B5EF4-FFF2-40B4-BE49-F238E27FC236}">
                  <a16:creationId xmlns:a16="http://schemas.microsoft.com/office/drawing/2014/main" id="{57BC4811-34FD-2A0C-1D45-6CF65364A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6">
              <a:extLst>
                <a:ext uri="{FF2B5EF4-FFF2-40B4-BE49-F238E27FC236}">
                  <a16:creationId xmlns:a16="http://schemas.microsoft.com/office/drawing/2014/main" id="{C09513C5-0CED-8C19-78F5-569537DB48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7">
              <a:extLst>
                <a:ext uri="{FF2B5EF4-FFF2-40B4-BE49-F238E27FC236}">
                  <a16:creationId xmlns:a16="http://schemas.microsoft.com/office/drawing/2014/main" id="{654F1714-4959-0C98-FF2F-598F798A79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8">
              <a:extLst>
                <a:ext uri="{FF2B5EF4-FFF2-40B4-BE49-F238E27FC236}">
                  <a16:creationId xmlns:a16="http://schemas.microsoft.com/office/drawing/2014/main" id="{80B7FA37-A513-14AC-04BE-FC7ABC601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9">
              <a:extLst>
                <a:ext uri="{FF2B5EF4-FFF2-40B4-BE49-F238E27FC236}">
                  <a16:creationId xmlns:a16="http://schemas.microsoft.com/office/drawing/2014/main" id="{6D2896EE-CD82-6258-6D79-CF17CE795A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50">
              <a:extLst>
                <a:ext uri="{FF2B5EF4-FFF2-40B4-BE49-F238E27FC236}">
                  <a16:creationId xmlns:a16="http://schemas.microsoft.com/office/drawing/2014/main" id="{E0E6880E-BB21-EA4E-149B-C4EAC6C52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51">
              <a:extLst>
                <a:ext uri="{FF2B5EF4-FFF2-40B4-BE49-F238E27FC236}">
                  <a16:creationId xmlns:a16="http://schemas.microsoft.com/office/drawing/2014/main" id="{25B772EE-C170-5ECC-802A-94FB4166FA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2">
              <a:extLst>
                <a:ext uri="{FF2B5EF4-FFF2-40B4-BE49-F238E27FC236}">
                  <a16:creationId xmlns:a16="http://schemas.microsoft.com/office/drawing/2014/main" id="{9DD8201B-1B92-A621-A372-28548FAC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53">
              <a:extLst>
                <a:ext uri="{FF2B5EF4-FFF2-40B4-BE49-F238E27FC236}">
                  <a16:creationId xmlns:a16="http://schemas.microsoft.com/office/drawing/2014/main" id="{DEDEC996-8427-BBD1-8AC5-CB92D03D87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4">
              <a:extLst>
                <a:ext uri="{FF2B5EF4-FFF2-40B4-BE49-F238E27FC236}">
                  <a16:creationId xmlns:a16="http://schemas.microsoft.com/office/drawing/2014/main" id="{0C0B6308-B659-A487-DB6E-3FB001150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55">
              <a:extLst>
                <a:ext uri="{FF2B5EF4-FFF2-40B4-BE49-F238E27FC236}">
                  <a16:creationId xmlns:a16="http://schemas.microsoft.com/office/drawing/2014/main" id="{D79E4FAD-E701-2D27-A26F-221B2FB92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56">
              <a:extLst>
                <a:ext uri="{FF2B5EF4-FFF2-40B4-BE49-F238E27FC236}">
                  <a16:creationId xmlns:a16="http://schemas.microsoft.com/office/drawing/2014/main" id="{3615F825-A2DC-6B0F-3971-51ED6A6172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7">
              <a:extLst>
                <a:ext uri="{FF2B5EF4-FFF2-40B4-BE49-F238E27FC236}">
                  <a16:creationId xmlns:a16="http://schemas.microsoft.com/office/drawing/2014/main" id="{362ABC99-69BB-3ED7-E8D7-3277E66B69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8">
              <a:extLst>
                <a:ext uri="{FF2B5EF4-FFF2-40B4-BE49-F238E27FC236}">
                  <a16:creationId xmlns:a16="http://schemas.microsoft.com/office/drawing/2014/main" id="{A89259A3-70E0-AF54-C0F4-EBBFCBCCA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2AB7380-DAC7-5904-58DA-DD313C3A2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59" name="Rectangle 58">
              <a:extLst>
                <a:ext uri="{FF2B5EF4-FFF2-40B4-BE49-F238E27FC236}">
                  <a16:creationId xmlns:a16="http://schemas.microsoft.com/office/drawing/2014/main" id="{E8B1EA17-AC2A-5FDB-BA25-E4A8F3F2AA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0" name="Picture 2">
              <a:extLst>
                <a:ext uri="{FF2B5EF4-FFF2-40B4-BE49-F238E27FC236}">
                  <a16:creationId xmlns:a16="http://schemas.microsoft.com/office/drawing/2014/main" id="{5CC5E47A-747E-53C9-8A82-D542D4905E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1" name="Picture 60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915E3C91-34C2-07B6-CFA0-E57489EF01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rcRect t="2966" b="16939"/>
          <a:stretch/>
        </p:blipFill>
        <p:spPr>
          <a:xfrm>
            <a:off x="3612" y="-173620"/>
            <a:ext cx="12188389" cy="7220525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D5C25B57-68A1-CCE0-333E-D280C647D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63" name="Round Diagonal Corner Rectangle 7">
              <a:extLst>
                <a:ext uri="{FF2B5EF4-FFF2-40B4-BE49-F238E27FC236}">
                  <a16:creationId xmlns:a16="http://schemas.microsoft.com/office/drawing/2014/main" id="{AA4C0484-0CD7-683E-D074-D3064BB14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E4FBFAE9-8E8C-B84F-00C0-62A2A3B2A6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65" name="Freeform 32">
                <a:extLst>
                  <a:ext uri="{FF2B5EF4-FFF2-40B4-BE49-F238E27FC236}">
                    <a16:creationId xmlns:a16="http://schemas.microsoft.com/office/drawing/2014/main" id="{E67B8783-98BC-8FA6-80C8-A72B7C886D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Freeform 33">
                <a:extLst>
                  <a:ext uri="{FF2B5EF4-FFF2-40B4-BE49-F238E27FC236}">
                    <a16:creationId xmlns:a16="http://schemas.microsoft.com/office/drawing/2014/main" id="{3E75CEC5-8582-04BC-30A1-E2D7FCC54D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Freeform 34">
                <a:extLst>
                  <a:ext uri="{FF2B5EF4-FFF2-40B4-BE49-F238E27FC236}">
                    <a16:creationId xmlns:a16="http://schemas.microsoft.com/office/drawing/2014/main" id="{BE701D72-13F3-6515-A479-0DE5483534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Freeform 37">
                <a:extLst>
                  <a:ext uri="{FF2B5EF4-FFF2-40B4-BE49-F238E27FC236}">
                    <a16:creationId xmlns:a16="http://schemas.microsoft.com/office/drawing/2014/main" id="{77B9E913-2251-1BB6-8CB3-8279C7D453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35">
                <a:extLst>
                  <a:ext uri="{FF2B5EF4-FFF2-40B4-BE49-F238E27FC236}">
                    <a16:creationId xmlns:a16="http://schemas.microsoft.com/office/drawing/2014/main" id="{C94608B1-1430-C3D3-5C31-C7E27468A6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36">
                <a:extLst>
                  <a:ext uri="{FF2B5EF4-FFF2-40B4-BE49-F238E27FC236}">
                    <a16:creationId xmlns:a16="http://schemas.microsoft.com/office/drawing/2014/main" id="{2CA5B131-72D2-EC4F-E799-3E154A333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Freeform 38">
                <a:extLst>
                  <a:ext uri="{FF2B5EF4-FFF2-40B4-BE49-F238E27FC236}">
                    <a16:creationId xmlns:a16="http://schemas.microsoft.com/office/drawing/2014/main" id="{62E7681F-1284-73E7-44F4-9014D52069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Freeform 39">
                <a:extLst>
                  <a:ext uri="{FF2B5EF4-FFF2-40B4-BE49-F238E27FC236}">
                    <a16:creationId xmlns:a16="http://schemas.microsoft.com/office/drawing/2014/main" id="{CEDB6C07-F4B3-DC9A-7AB1-6B4FEF6F23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Freeform 40">
                <a:extLst>
                  <a:ext uri="{FF2B5EF4-FFF2-40B4-BE49-F238E27FC236}">
                    <a16:creationId xmlns:a16="http://schemas.microsoft.com/office/drawing/2014/main" id="{CC46D9C9-2B0B-7837-CA68-4C57ECC27C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Rectangle 41">
                <a:extLst>
                  <a:ext uri="{FF2B5EF4-FFF2-40B4-BE49-F238E27FC236}">
                    <a16:creationId xmlns:a16="http://schemas.microsoft.com/office/drawing/2014/main" id="{5777B7A5-BBA6-D2B6-3375-A8C4A6F05A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32">
                <a:extLst>
                  <a:ext uri="{FF2B5EF4-FFF2-40B4-BE49-F238E27FC236}">
                    <a16:creationId xmlns:a16="http://schemas.microsoft.com/office/drawing/2014/main" id="{C9738789-2859-DDA0-F8BE-5907BAE35B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33">
                <a:extLst>
                  <a:ext uri="{FF2B5EF4-FFF2-40B4-BE49-F238E27FC236}">
                    <a16:creationId xmlns:a16="http://schemas.microsoft.com/office/drawing/2014/main" id="{25190705-35C4-3A97-6CA6-3F2FDA5B6C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Freeform 34">
                <a:extLst>
                  <a:ext uri="{FF2B5EF4-FFF2-40B4-BE49-F238E27FC236}">
                    <a16:creationId xmlns:a16="http://schemas.microsoft.com/office/drawing/2014/main" id="{5ACFC3BC-DFBF-688D-0DE9-3C53A04A18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 37">
                <a:extLst>
                  <a:ext uri="{FF2B5EF4-FFF2-40B4-BE49-F238E27FC236}">
                    <a16:creationId xmlns:a16="http://schemas.microsoft.com/office/drawing/2014/main" id="{960F45C9-FB2E-1925-2DC4-45489DC195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 35">
                <a:extLst>
                  <a:ext uri="{FF2B5EF4-FFF2-40B4-BE49-F238E27FC236}">
                    <a16:creationId xmlns:a16="http://schemas.microsoft.com/office/drawing/2014/main" id="{8E2A30E3-3241-8E3F-0EC8-0C166643AD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Freeform 36">
                <a:extLst>
                  <a:ext uri="{FF2B5EF4-FFF2-40B4-BE49-F238E27FC236}">
                    <a16:creationId xmlns:a16="http://schemas.microsoft.com/office/drawing/2014/main" id="{2BB1E5FD-EDF4-1D91-9008-EFF6F1BCD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 38">
                <a:extLst>
                  <a:ext uri="{FF2B5EF4-FFF2-40B4-BE49-F238E27FC236}">
                    <a16:creationId xmlns:a16="http://schemas.microsoft.com/office/drawing/2014/main" id="{F7FE44DD-FCB7-49B6-9352-93B24CE65C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 39">
                <a:extLst>
                  <a:ext uri="{FF2B5EF4-FFF2-40B4-BE49-F238E27FC236}">
                    <a16:creationId xmlns:a16="http://schemas.microsoft.com/office/drawing/2014/main" id="{3895BB13-32A7-6D34-BF13-A09EF462DE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Freeform 40">
                <a:extLst>
                  <a:ext uri="{FF2B5EF4-FFF2-40B4-BE49-F238E27FC236}">
                    <a16:creationId xmlns:a16="http://schemas.microsoft.com/office/drawing/2014/main" id="{AFFDB587-2992-B704-AA91-7C17C11E8B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Rectangle 41">
                <a:extLst>
                  <a:ext uri="{FF2B5EF4-FFF2-40B4-BE49-F238E27FC236}">
                    <a16:creationId xmlns:a16="http://schemas.microsoft.com/office/drawing/2014/main" id="{DD3A740F-B688-1733-DCAE-AD68491BFF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85" name="Title 1">
            <a:extLst>
              <a:ext uri="{FF2B5EF4-FFF2-40B4-BE49-F238E27FC236}">
                <a16:creationId xmlns:a16="http://schemas.microsoft.com/office/drawing/2014/main" id="{3B06AE8A-F5F9-4E98-C015-250F217B0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328334"/>
            <a:ext cx="6858000" cy="136789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Datacamp Cheat Sheet (NumPy)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2DB1411-A9B9-D2B9-119B-874B63B66D9B}"/>
              </a:ext>
            </a:extLst>
          </p:cNvPr>
          <p:cNvSpPr txBox="1"/>
          <p:nvPr/>
        </p:nvSpPr>
        <p:spPr>
          <a:xfrm>
            <a:off x="3422014" y="3835182"/>
            <a:ext cx="5712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https://images.datacamp.com/image/upload/v1676302459/Marketing/Blog/Numpy_Cheat_Sheet.pdf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7" name="Slide Number Placeholder 6">
            <a:extLst>
              <a:ext uri="{FF2B5EF4-FFF2-40B4-BE49-F238E27FC236}">
                <a16:creationId xmlns:a16="http://schemas.microsoft.com/office/drawing/2014/main" id="{D4B74C94-4701-FF7C-BF1E-D7169ACB3B65}"/>
              </a:ext>
            </a:extLst>
          </p:cNvPr>
          <p:cNvSpPr txBox="1">
            <a:spLocks/>
          </p:cNvSpPr>
          <p:nvPr/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4B7E4EF-A1BD-40F4-AB7B-04F084DD991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742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of a bear&#10;&#10;Description automatically generated">
            <a:extLst>
              <a:ext uri="{FF2B5EF4-FFF2-40B4-BE49-F238E27FC236}">
                <a16:creationId xmlns:a16="http://schemas.microsoft.com/office/drawing/2014/main" id="{7DC7E121-B80E-538A-4144-F05C3F916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592" y="135043"/>
            <a:ext cx="7797460" cy="487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173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40C19-F12C-DDB5-C5EF-ADD13FB2A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103" y="91440"/>
            <a:ext cx="8050897" cy="1478570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What is Pandas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ABEC3-66D1-6CE4-6D18-2636A7AE4E02}"/>
              </a:ext>
            </a:extLst>
          </p:cNvPr>
          <p:cNvSpPr txBox="1"/>
          <p:nvPr/>
        </p:nvSpPr>
        <p:spPr>
          <a:xfrm>
            <a:off x="272733" y="1755743"/>
            <a:ext cx="78044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is a very popular library for working with data (its goal is to be the most powerful and flexible open-source tool, and in our opinion, it has reached that goal).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D1B1FB-C64E-B6AB-11BF-40B10F15674E}"/>
              </a:ext>
            </a:extLst>
          </p:cNvPr>
          <p:cNvSpPr txBox="1"/>
          <p:nvPr/>
        </p:nvSpPr>
        <p:spPr>
          <a:xfrm>
            <a:off x="272733" y="2957140"/>
            <a:ext cx="780446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are at the center of pandas. A </a:t>
            </a:r>
            <a:r>
              <a:rPr lang="en-US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is structured like a table or spreadsheet. The rows and the columns both have indexes, and you can perform operations on rows or columns separately. </a:t>
            </a:r>
          </a:p>
        </p:txBody>
      </p:sp>
    </p:spTree>
    <p:extLst>
      <p:ext uri="{BB962C8B-B14F-4D97-AF65-F5344CB8AC3E}">
        <p14:creationId xmlns:p14="http://schemas.microsoft.com/office/powerpoint/2010/main" val="3866793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E9AFC-F8B3-99D1-45B4-02E1D5CE2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3" y="-128242"/>
            <a:ext cx="7827329" cy="1478570"/>
          </a:xfrm>
        </p:spPr>
        <p:txBody>
          <a:bodyPr/>
          <a:lstStyle/>
          <a:p>
            <a:r>
              <a:rPr lang="en-US" sz="3200" b="1" dirty="0" err="1">
                <a:solidFill>
                  <a:schemeClr val="bg1"/>
                </a:solidFill>
              </a:rPr>
              <a:t>DataFrame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C758B9-36FB-AD3F-1919-70AD9A9C6E44}"/>
              </a:ext>
            </a:extLst>
          </p:cNvPr>
          <p:cNvSpPr txBox="1"/>
          <p:nvPr/>
        </p:nvSpPr>
        <p:spPr>
          <a:xfrm>
            <a:off x="272733" y="1350328"/>
            <a:ext cx="78273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pandas </a:t>
            </a:r>
            <a:r>
              <a:rPr lang="en-US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can be easily changed and manipulated. Pandas has helpful functions for handling missing data, performing operations on columns and rows, and transforming data.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0A6584-BEE8-799E-AF3B-7B45D3F4587A}"/>
              </a:ext>
            </a:extLst>
          </p:cNvPr>
          <p:cNvSpPr txBox="1"/>
          <p:nvPr/>
        </p:nvSpPr>
        <p:spPr>
          <a:xfrm>
            <a:off x="272732" y="2644547"/>
            <a:ext cx="78273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If that wasn’t enough, a lot of SQL functions have counterparts in pandas, such as join, merge, filter by, and group by.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97883E-9EB2-6DE4-1A28-77F0F68BC362}"/>
              </a:ext>
            </a:extLst>
          </p:cNvPr>
          <p:cNvSpPr txBox="1"/>
          <p:nvPr/>
        </p:nvSpPr>
        <p:spPr>
          <a:xfrm>
            <a:off x="272731" y="3725251"/>
            <a:ext cx="78273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With all of these powerful tools, it should come as no surprise that pandas is very popular among data scientists.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5981F904-60A2-9C12-18C2-2740CA03604D}"/>
              </a:ext>
            </a:extLst>
          </p:cNvPr>
          <p:cNvSpPr txBox="1">
            <a:spLocks/>
          </p:cNvSpPr>
          <p:nvPr/>
        </p:nvSpPr>
        <p:spPr>
          <a:xfrm>
            <a:off x="9407642" y="5136514"/>
            <a:ext cx="609284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4B7E4EF-A1BD-40F4-AB7B-04F084DD991D}" type="slidenum">
              <a:rPr lang="en-US" b="1" smtClean="0">
                <a:solidFill>
                  <a:schemeClr val="bg1"/>
                </a:solidFill>
              </a:rPr>
              <a:pPr/>
              <a:t>15</a:t>
            </a:fld>
            <a:endParaRPr 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321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C2C41A-0024-EA82-A0B9-4BFCEB2797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14371" b="6101"/>
          <a:stretch/>
        </p:blipFill>
        <p:spPr>
          <a:xfrm>
            <a:off x="3611" y="-115746"/>
            <a:ext cx="9140389" cy="5259246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81269E3-D452-E2B8-B5EF-84FB3EF5F763}"/>
              </a:ext>
            </a:extLst>
          </p:cNvPr>
          <p:cNvSpPr/>
          <p:nvPr/>
        </p:nvSpPr>
        <p:spPr>
          <a:xfrm>
            <a:off x="2639027" y="1876650"/>
            <a:ext cx="4247909" cy="1711501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39C9EF2-628C-7198-B7EC-DDAF15CE9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981" y="1364504"/>
            <a:ext cx="6858000" cy="1367896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Datacamp Cheat Sheet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(Pandas)</a:t>
            </a:r>
          </a:p>
        </p:txBody>
      </p:sp>
      <p:sp>
        <p:nvSpPr>
          <p:cNvPr id="7" name="TextBox 6">
            <a:hlinkClick r:id="rId4"/>
            <a:extLst>
              <a:ext uri="{FF2B5EF4-FFF2-40B4-BE49-F238E27FC236}">
                <a16:creationId xmlns:a16="http://schemas.microsoft.com/office/drawing/2014/main" id="{72F292D6-2C47-0C85-1985-7AEA7F52E7BE}"/>
              </a:ext>
            </a:extLst>
          </p:cNvPr>
          <p:cNvSpPr txBox="1"/>
          <p:nvPr/>
        </p:nvSpPr>
        <p:spPr>
          <a:xfrm>
            <a:off x="2680186" y="2732400"/>
            <a:ext cx="39571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https://images.datacamp.com/image/upload/v1676302204/Marketing/Blog/Pandas_Cheat_Sheet.pdf</a:t>
            </a:r>
          </a:p>
        </p:txBody>
      </p:sp>
    </p:spTree>
    <p:extLst>
      <p:ext uri="{BB962C8B-B14F-4D97-AF65-F5344CB8AC3E}">
        <p14:creationId xmlns:p14="http://schemas.microsoft.com/office/powerpoint/2010/main" val="1506434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5C580-4760-51D0-871F-4CCEB75C2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3" y="3244080"/>
            <a:ext cx="8957534" cy="11828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Why Visualization ?</a:t>
            </a:r>
          </a:p>
        </p:txBody>
      </p:sp>
      <p:pic>
        <p:nvPicPr>
          <p:cNvPr id="3" name="Picture 2" descr="A white background with black text">
            <a:extLst>
              <a:ext uri="{FF2B5EF4-FFF2-40B4-BE49-F238E27FC236}">
                <a16:creationId xmlns:a16="http://schemas.microsoft.com/office/drawing/2014/main" id="{98AC9384-D9C1-D502-F1A9-15BD51859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568" y="268587"/>
            <a:ext cx="5722100" cy="297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250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7EB96-2702-0B36-7C83-295EFEB35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53" y="1093180"/>
            <a:ext cx="2851417" cy="147857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The important of Visualization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6921E-8040-43B7-CF40-A0BE5C75604C}"/>
              </a:ext>
            </a:extLst>
          </p:cNvPr>
          <p:cNvSpPr txBox="1"/>
          <p:nvPr/>
        </p:nvSpPr>
        <p:spPr>
          <a:xfrm>
            <a:off x="393207" y="2724149"/>
            <a:ext cx="2862444" cy="3957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FFFFFF"/>
                </a:solidFill>
              </a:rPr>
              <a:t>Considering only the years represented in the figure, which countries spent at least 5 consecutive years in the #1 ranked spot?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434D12-056F-F4C0-17E4-3FD360DFA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810" y="1549156"/>
            <a:ext cx="5394902" cy="322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363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63FC5F-6DE9-F90D-23D8-F653E2461A15}"/>
              </a:ext>
            </a:extLst>
          </p:cNvPr>
          <p:cNvSpPr txBox="1"/>
          <p:nvPr/>
        </p:nvSpPr>
        <p:spPr>
          <a:xfrm>
            <a:off x="1151882" y="1176308"/>
            <a:ext cx="2862444" cy="3957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125000"/>
            </a:pPr>
            <a:r>
              <a:rPr 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Does Avila Adobe get more visitors: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September-February (in LA, the fall and winter months), or 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March-August (in LA, the spring and summer)? 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125000"/>
            </a:pPr>
            <a:r>
              <a:rPr 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Using this information, when should the museum staff additional seasonal employees?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951E93-7AF1-BBCE-A1E8-844A45AF6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1" y="1176308"/>
            <a:ext cx="4033520" cy="3114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721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F21B43-9FFE-0EB5-211C-DFA8453DF51E}"/>
              </a:ext>
            </a:extLst>
          </p:cNvPr>
          <p:cNvSpPr txBox="1"/>
          <p:nvPr/>
        </p:nvSpPr>
        <p:spPr>
          <a:xfrm>
            <a:off x="5463530" y="1420813"/>
            <a:ext cx="3489569" cy="239668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cap="all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Is there any relation between Body mass Index and Insurance charges ?</a:t>
            </a:r>
          </a:p>
        </p:txBody>
      </p:sp>
      <p:pic>
        <p:nvPicPr>
          <p:cNvPr id="3" name="Picture 2" descr="A diagram of a number of dots">
            <a:extLst>
              <a:ext uri="{FF2B5EF4-FFF2-40B4-BE49-F238E27FC236}">
                <a16:creationId xmlns:a16="http://schemas.microsoft.com/office/drawing/2014/main" id="{FA2170C4-6E17-522F-64CA-93B0E2E7A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48" y="1204722"/>
            <a:ext cx="4626492" cy="282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6841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8DC9B-BC0F-BB02-94C2-AE9267729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2277" y="-1081278"/>
            <a:ext cx="3489569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>
                <a:solidFill>
                  <a:srgbClr val="FFFFFF"/>
                </a:solidFill>
              </a:rPr>
              <a:t>Matplotlib</a:t>
            </a:r>
          </a:p>
        </p:txBody>
      </p:sp>
      <p:pic>
        <p:nvPicPr>
          <p:cNvPr id="3" name="Picture 2" descr="A white paper with black text&#10;&#10;Description automatically generated">
            <a:extLst>
              <a:ext uri="{FF2B5EF4-FFF2-40B4-BE49-F238E27FC236}">
                <a16:creationId xmlns:a16="http://schemas.microsoft.com/office/drawing/2014/main" id="{5A7EB7FF-87FA-3342-CD1E-173535DF8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" y="1574787"/>
            <a:ext cx="6112382" cy="249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9899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045B9B8-C16E-D86A-EF64-C68643DE7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2BEE65A-1F4F-C2F9-9398-76CBEDA3C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EB81CCEE-D00C-F0C6-C277-7ABDCD2DE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7FA1D5DE-8985-394F-FD9D-0C4653FF92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35F169FF-6047-4EF7-84D9-BC669F330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40D0581B-5823-403F-5F01-FF78BD87B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289149AF-EBE5-CB8F-7138-EC5D82E693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3791D039-4FD9-AC02-5DAC-350AAF384C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57F8D857-127F-BD74-865E-4D3B25D49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F5E75CF1-B5DC-4CD2-6D76-ABA1DCB67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7CB18A08-EA75-46E8-3717-AC449D6E0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35343606-64A1-331A-64DF-2CEBDE185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79188BF6-B792-9291-6485-E652A8F2E4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874CBA6A-6467-924D-5937-BA59E097A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FB19A5E6-9D67-D6A0-7C35-7324B2813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52FFCD6D-951C-7627-83C9-B0FDFB2CF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2457A98A-3A73-8649-1D99-692DD8F8C3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1464B9ED-0CE1-5634-ACFC-EB3B0B44BE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EADBFB42-37FD-37FD-FFC7-D20978B2E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B0AE2A9A-264F-AAE8-CE37-762004FA1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3">
              <a:extLst>
                <a:ext uri="{FF2B5EF4-FFF2-40B4-BE49-F238E27FC236}">
                  <a16:creationId xmlns:a16="http://schemas.microsoft.com/office/drawing/2014/main" id="{181A333A-C895-492C-5833-4DED9AA2D5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4">
              <a:extLst>
                <a:ext uri="{FF2B5EF4-FFF2-40B4-BE49-F238E27FC236}">
                  <a16:creationId xmlns:a16="http://schemas.microsoft.com/office/drawing/2014/main" id="{F0EFAA32-C9BD-DE92-86CA-DE49AE23F6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5">
              <a:extLst>
                <a:ext uri="{FF2B5EF4-FFF2-40B4-BE49-F238E27FC236}">
                  <a16:creationId xmlns:a16="http://schemas.microsoft.com/office/drawing/2014/main" id="{43EF2CF4-E7E0-D94C-D99F-1FE58984D5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9DCAA8FC-58E1-CF63-B13E-C46DAF0127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C03B7576-1A6F-98C6-8C55-BC4D51DEBE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4E26B590-EEB0-3E59-0F14-E46DC54FB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2BB0B4FF-BAA6-1E17-77B5-62E254840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075F2070-590C-F3F0-94A7-4C1D162D8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05322751-92EA-DD67-F882-C6BF207D49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EC3C10DC-33AB-0328-DB87-998487D07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Rectangle 33">
              <a:extLst>
                <a:ext uri="{FF2B5EF4-FFF2-40B4-BE49-F238E27FC236}">
                  <a16:creationId xmlns:a16="http://schemas.microsoft.com/office/drawing/2014/main" id="{49515A6B-0944-6C32-50CD-985017F4E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7DAE20C9-5A8A-4DF5-0410-90B3CF984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E0D2C756-45D8-AA70-7194-8560710317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835F6ECC-2730-7FB1-BE9B-83DC77FA0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03375E6C-29E1-E272-9F8B-D37B40E6B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CD54466A-077F-5B87-B748-94A15488C1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9">
              <a:extLst>
                <a:ext uri="{FF2B5EF4-FFF2-40B4-BE49-F238E27FC236}">
                  <a16:creationId xmlns:a16="http://schemas.microsoft.com/office/drawing/2014/main" id="{2FF6ECF4-187D-6F1B-A299-E08EF93E7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40">
              <a:extLst>
                <a:ext uri="{FF2B5EF4-FFF2-40B4-BE49-F238E27FC236}">
                  <a16:creationId xmlns:a16="http://schemas.microsoft.com/office/drawing/2014/main" id="{B25FB283-09CB-9470-2418-C4016B677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41">
              <a:extLst>
                <a:ext uri="{FF2B5EF4-FFF2-40B4-BE49-F238E27FC236}">
                  <a16:creationId xmlns:a16="http://schemas.microsoft.com/office/drawing/2014/main" id="{6BCA93C7-960B-DD45-7B08-46C9E8AC2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2">
              <a:extLst>
                <a:ext uri="{FF2B5EF4-FFF2-40B4-BE49-F238E27FC236}">
                  <a16:creationId xmlns:a16="http://schemas.microsoft.com/office/drawing/2014/main" id="{1104752E-4C05-22EF-1538-EE75F95D5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3">
              <a:extLst>
                <a:ext uri="{FF2B5EF4-FFF2-40B4-BE49-F238E27FC236}">
                  <a16:creationId xmlns:a16="http://schemas.microsoft.com/office/drawing/2014/main" id="{C877553E-8F88-153E-D03C-0BD3E27AE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4">
              <a:extLst>
                <a:ext uri="{FF2B5EF4-FFF2-40B4-BE49-F238E27FC236}">
                  <a16:creationId xmlns:a16="http://schemas.microsoft.com/office/drawing/2014/main" id="{DA37B263-ECAA-3DC9-BFEA-F3B57A5792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Rectangle 45">
              <a:extLst>
                <a:ext uri="{FF2B5EF4-FFF2-40B4-BE49-F238E27FC236}">
                  <a16:creationId xmlns:a16="http://schemas.microsoft.com/office/drawing/2014/main" id="{749C754F-B0FE-8011-E113-6C92AB884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6">
              <a:extLst>
                <a:ext uri="{FF2B5EF4-FFF2-40B4-BE49-F238E27FC236}">
                  <a16:creationId xmlns:a16="http://schemas.microsoft.com/office/drawing/2014/main" id="{5FAF57BA-C89B-6BED-2DA1-112C23610A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7">
              <a:extLst>
                <a:ext uri="{FF2B5EF4-FFF2-40B4-BE49-F238E27FC236}">
                  <a16:creationId xmlns:a16="http://schemas.microsoft.com/office/drawing/2014/main" id="{4350E44B-9382-0CBD-7635-FD11F0A195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8">
              <a:extLst>
                <a:ext uri="{FF2B5EF4-FFF2-40B4-BE49-F238E27FC236}">
                  <a16:creationId xmlns:a16="http://schemas.microsoft.com/office/drawing/2014/main" id="{24CB969E-637A-AC9A-956A-B3FF2D4A2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9">
              <a:extLst>
                <a:ext uri="{FF2B5EF4-FFF2-40B4-BE49-F238E27FC236}">
                  <a16:creationId xmlns:a16="http://schemas.microsoft.com/office/drawing/2014/main" id="{66C26E5F-2E76-5543-66AB-8812B4218C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50">
              <a:extLst>
                <a:ext uri="{FF2B5EF4-FFF2-40B4-BE49-F238E27FC236}">
                  <a16:creationId xmlns:a16="http://schemas.microsoft.com/office/drawing/2014/main" id="{C4362722-2DF8-AC79-63AB-0E817EE22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51">
              <a:extLst>
                <a:ext uri="{FF2B5EF4-FFF2-40B4-BE49-F238E27FC236}">
                  <a16:creationId xmlns:a16="http://schemas.microsoft.com/office/drawing/2014/main" id="{CEEC6572-EEF0-2467-9122-5D8B02935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2">
              <a:extLst>
                <a:ext uri="{FF2B5EF4-FFF2-40B4-BE49-F238E27FC236}">
                  <a16:creationId xmlns:a16="http://schemas.microsoft.com/office/drawing/2014/main" id="{49408416-ACE8-51C4-885F-1F54E11988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53">
              <a:extLst>
                <a:ext uri="{FF2B5EF4-FFF2-40B4-BE49-F238E27FC236}">
                  <a16:creationId xmlns:a16="http://schemas.microsoft.com/office/drawing/2014/main" id="{C637FCD8-3102-F847-A947-1BFD49BA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4">
              <a:extLst>
                <a:ext uri="{FF2B5EF4-FFF2-40B4-BE49-F238E27FC236}">
                  <a16:creationId xmlns:a16="http://schemas.microsoft.com/office/drawing/2014/main" id="{DD292C22-B584-36F3-38E3-5757DFCD46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55">
              <a:extLst>
                <a:ext uri="{FF2B5EF4-FFF2-40B4-BE49-F238E27FC236}">
                  <a16:creationId xmlns:a16="http://schemas.microsoft.com/office/drawing/2014/main" id="{96393A72-E61C-C57E-F404-146BDF28F1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56">
              <a:extLst>
                <a:ext uri="{FF2B5EF4-FFF2-40B4-BE49-F238E27FC236}">
                  <a16:creationId xmlns:a16="http://schemas.microsoft.com/office/drawing/2014/main" id="{FA1AF603-3833-4B0F-AC0F-1ECF10D2B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7">
              <a:extLst>
                <a:ext uri="{FF2B5EF4-FFF2-40B4-BE49-F238E27FC236}">
                  <a16:creationId xmlns:a16="http://schemas.microsoft.com/office/drawing/2014/main" id="{28319487-E863-5A0C-84D9-A95ED719F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8">
              <a:extLst>
                <a:ext uri="{FF2B5EF4-FFF2-40B4-BE49-F238E27FC236}">
                  <a16:creationId xmlns:a16="http://schemas.microsoft.com/office/drawing/2014/main" id="{2363143B-9C60-E423-66CB-48C364D7F1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C2D564E-45A4-FD19-B5D0-38283A9BA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59" name="Rectangle 58">
              <a:extLst>
                <a:ext uri="{FF2B5EF4-FFF2-40B4-BE49-F238E27FC236}">
                  <a16:creationId xmlns:a16="http://schemas.microsoft.com/office/drawing/2014/main" id="{7DAFC7B2-60DB-5179-0BB2-1A0FA235B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0" name="Picture 2">
              <a:extLst>
                <a:ext uri="{FF2B5EF4-FFF2-40B4-BE49-F238E27FC236}">
                  <a16:creationId xmlns:a16="http://schemas.microsoft.com/office/drawing/2014/main" id="{4B575FE6-82FB-03DF-3C9A-4B5008A1CD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1" name="Picture 60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F77C3E4-2F53-7682-4EE7-A2F84A5F826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rcRect t="13273" b="7478"/>
          <a:stretch/>
        </p:blipFill>
        <p:spPr>
          <a:xfrm>
            <a:off x="-12238" y="-136786"/>
            <a:ext cx="12188389" cy="6857990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506F23B0-B45A-E243-8AF3-364562FE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63" name="Round Diagonal Corner Rectangle 7">
              <a:extLst>
                <a:ext uri="{FF2B5EF4-FFF2-40B4-BE49-F238E27FC236}">
                  <a16:creationId xmlns:a16="http://schemas.microsoft.com/office/drawing/2014/main" id="{4DB8964C-DD1C-9364-7E80-E0CE609D1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7F5334D4-4A33-E553-0015-0685A0E8E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65" name="Freeform 32">
                <a:extLst>
                  <a:ext uri="{FF2B5EF4-FFF2-40B4-BE49-F238E27FC236}">
                    <a16:creationId xmlns:a16="http://schemas.microsoft.com/office/drawing/2014/main" id="{85D08622-5889-E19E-4705-F3FD6D96A5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Freeform 33">
                <a:extLst>
                  <a:ext uri="{FF2B5EF4-FFF2-40B4-BE49-F238E27FC236}">
                    <a16:creationId xmlns:a16="http://schemas.microsoft.com/office/drawing/2014/main" id="{E15F326A-E68C-E9DE-F1E9-365044D2A9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Freeform 34">
                <a:extLst>
                  <a:ext uri="{FF2B5EF4-FFF2-40B4-BE49-F238E27FC236}">
                    <a16:creationId xmlns:a16="http://schemas.microsoft.com/office/drawing/2014/main" id="{D395663F-2650-611D-1FE6-CF687BDFA7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Freeform 37">
                <a:extLst>
                  <a:ext uri="{FF2B5EF4-FFF2-40B4-BE49-F238E27FC236}">
                    <a16:creationId xmlns:a16="http://schemas.microsoft.com/office/drawing/2014/main" id="{F5CF7D82-B434-6717-BE47-CF5B47FCBA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35">
                <a:extLst>
                  <a:ext uri="{FF2B5EF4-FFF2-40B4-BE49-F238E27FC236}">
                    <a16:creationId xmlns:a16="http://schemas.microsoft.com/office/drawing/2014/main" id="{CBC6F45B-E3A7-7562-454F-D73D68C701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36">
                <a:extLst>
                  <a:ext uri="{FF2B5EF4-FFF2-40B4-BE49-F238E27FC236}">
                    <a16:creationId xmlns:a16="http://schemas.microsoft.com/office/drawing/2014/main" id="{3F607E8E-0082-2258-64B0-1CEB554731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Freeform 38">
                <a:extLst>
                  <a:ext uri="{FF2B5EF4-FFF2-40B4-BE49-F238E27FC236}">
                    <a16:creationId xmlns:a16="http://schemas.microsoft.com/office/drawing/2014/main" id="{94C046FF-0D2E-C57C-7CD2-3C26777810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Freeform 39">
                <a:extLst>
                  <a:ext uri="{FF2B5EF4-FFF2-40B4-BE49-F238E27FC236}">
                    <a16:creationId xmlns:a16="http://schemas.microsoft.com/office/drawing/2014/main" id="{0E8D93F5-91A8-DA27-71FE-47D2899764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Freeform 40">
                <a:extLst>
                  <a:ext uri="{FF2B5EF4-FFF2-40B4-BE49-F238E27FC236}">
                    <a16:creationId xmlns:a16="http://schemas.microsoft.com/office/drawing/2014/main" id="{E771AE81-9D39-F96D-DB98-ABEF9AE7D1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Rectangle 41">
                <a:extLst>
                  <a:ext uri="{FF2B5EF4-FFF2-40B4-BE49-F238E27FC236}">
                    <a16:creationId xmlns:a16="http://schemas.microsoft.com/office/drawing/2014/main" id="{D46F0EBD-0224-004E-7023-68E0A8F268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32">
                <a:extLst>
                  <a:ext uri="{FF2B5EF4-FFF2-40B4-BE49-F238E27FC236}">
                    <a16:creationId xmlns:a16="http://schemas.microsoft.com/office/drawing/2014/main" id="{F21D5F83-AABD-085E-9746-BAE2D81D99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33">
                <a:extLst>
                  <a:ext uri="{FF2B5EF4-FFF2-40B4-BE49-F238E27FC236}">
                    <a16:creationId xmlns:a16="http://schemas.microsoft.com/office/drawing/2014/main" id="{23D88358-97BC-819E-F86C-43BCC01221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Freeform 34">
                <a:extLst>
                  <a:ext uri="{FF2B5EF4-FFF2-40B4-BE49-F238E27FC236}">
                    <a16:creationId xmlns:a16="http://schemas.microsoft.com/office/drawing/2014/main" id="{F869A577-4F08-FB2E-5459-E1C41775B8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 37">
                <a:extLst>
                  <a:ext uri="{FF2B5EF4-FFF2-40B4-BE49-F238E27FC236}">
                    <a16:creationId xmlns:a16="http://schemas.microsoft.com/office/drawing/2014/main" id="{D90C5F84-FC2E-B4D3-79FE-F602CAF30B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 35">
                <a:extLst>
                  <a:ext uri="{FF2B5EF4-FFF2-40B4-BE49-F238E27FC236}">
                    <a16:creationId xmlns:a16="http://schemas.microsoft.com/office/drawing/2014/main" id="{A3C144F9-8378-8237-8B8D-601E0E47C1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Freeform 36">
                <a:extLst>
                  <a:ext uri="{FF2B5EF4-FFF2-40B4-BE49-F238E27FC236}">
                    <a16:creationId xmlns:a16="http://schemas.microsoft.com/office/drawing/2014/main" id="{1F6542DA-1A1F-A48D-6B1C-C0F17D5F7A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 38">
                <a:extLst>
                  <a:ext uri="{FF2B5EF4-FFF2-40B4-BE49-F238E27FC236}">
                    <a16:creationId xmlns:a16="http://schemas.microsoft.com/office/drawing/2014/main" id="{90B25FBB-6F82-B051-6C53-E42C8D5B1C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 39">
                <a:extLst>
                  <a:ext uri="{FF2B5EF4-FFF2-40B4-BE49-F238E27FC236}">
                    <a16:creationId xmlns:a16="http://schemas.microsoft.com/office/drawing/2014/main" id="{61867D84-57CE-7D79-1264-83ADB85665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Freeform 40">
                <a:extLst>
                  <a:ext uri="{FF2B5EF4-FFF2-40B4-BE49-F238E27FC236}">
                    <a16:creationId xmlns:a16="http://schemas.microsoft.com/office/drawing/2014/main" id="{E6B2B0EE-3FFC-30AC-2322-33B2C3E1BA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Rectangle 41">
                <a:extLst>
                  <a:ext uri="{FF2B5EF4-FFF2-40B4-BE49-F238E27FC236}">
                    <a16:creationId xmlns:a16="http://schemas.microsoft.com/office/drawing/2014/main" id="{E2BE3F71-A74C-C1D0-9C97-995A3944AA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85" name="Title 1">
            <a:extLst>
              <a:ext uri="{FF2B5EF4-FFF2-40B4-BE49-F238E27FC236}">
                <a16:creationId xmlns:a16="http://schemas.microsoft.com/office/drawing/2014/main" id="{9C17C7F8-2895-B517-43DC-4F38796D5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328334"/>
            <a:ext cx="6858000" cy="136789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400" dirty="0" err="1">
                <a:solidFill>
                  <a:schemeClr val="tx1"/>
                </a:solidFill>
              </a:rPr>
              <a:t>Datacamp</a:t>
            </a:r>
            <a:r>
              <a:rPr lang="en-US" sz="4400" dirty="0">
                <a:solidFill>
                  <a:schemeClr val="tx1"/>
                </a:solidFill>
              </a:rPr>
              <a:t> Cheat Sheet (Matplotlib)</a:t>
            </a:r>
          </a:p>
        </p:txBody>
      </p:sp>
      <p:sp>
        <p:nvSpPr>
          <p:cNvPr id="86" name="Slide Number Placeholder 5">
            <a:extLst>
              <a:ext uri="{FF2B5EF4-FFF2-40B4-BE49-F238E27FC236}">
                <a16:creationId xmlns:a16="http://schemas.microsoft.com/office/drawing/2014/main" id="{1561DA6E-9350-0DCE-9885-AAE28235971E}"/>
              </a:ext>
            </a:extLst>
          </p:cNvPr>
          <p:cNvSpPr txBox="1">
            <a:spLocks/>
          </p:cNvSpPr>
          <p:nvPr/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4B7E4EF-A1BD-40F4-AB7B-04F084DD991D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B7A9301-9B1B-CFA8-8D0E-1C093636757A}"/>
              </a:ext>
            </a:extLst>
          </p:cNvPr>
          <p:cNvSpPr txBox="1"/>
          <p:nvPr/>
        </p:nvSpPr>
        <p:spPr>
          <a:xfrm>
            <a:off x="2826014" y="3905310"/>
            <a:ext cx="65608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https://images.datacamp.com/image/upload/v1676360378/Marketing/Blog/Matplotlib_Cheat_Sheet.pdf</a:t>
            </a:r>
          </a:p>
        </p:txBody>
      </p:sp>
    </p:spTree>
    <p:extLst>
      <p:ext uri="{BB962C8B-B14F-4D97-AF65-F5344CB8AC3E}">
        <p14:creationId xmlns:p14="http://schemas.microsoft.com/office/powerpoint/2010/main" val="36609096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1E475-3D11-6EAB-60FD-56654826E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6828" y="285856"/>
            <a:ext cx="5367866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Questions</a:t>
            </a:r>
          </a:p>
        </p:txBody>
      </p:sp>
      <p:pic>
        <p:nvPicPr>
          <p:cNvPr id="3" name="Graphic 5" descr="Help">
            <a:extLst>
              <a:ext uri="{FF2B5EF4-FFF2-40B4-BE49-F238E27FC236}">
                <a16:creationId xmlns:a16="http://schemas.microsoft.com/office/drawing/2014/main" id="{A969B95A-576B-A757-45E4-B20B9CF06D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4663" y="609546"/>
            <a:ext cx="3525628" cy="3525628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21658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39"/>
          <p:cNvPicPr preferRelativeResize="0"/>
          <p:nvPr/>
        </p:nvPicPr>
        <p:blipFill rotWithShape="1">
          <a:blip r:embed="rId4">
            <a:alphaModFix amt="75000"/>
          </a:blip>
          <a:srcRect l="15261" t="6068"/>
          <a:stretch/>
        </p:blipFill>
        <p:spPr>
          <a:xfrm rot="-10799997">
            <a:off x="4324348" y="1876426"/>
            <a:ext cx="5162552" cy="35432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7" name="Google Shape;667;p39"/>
          <p:cNvGrpSpPr/>
          <p:nvPr/>
        </p:nvGrpSpPr>
        <p:grpSpPr>
          <a:xfrm rot="5400000">
            <a:off x="8054157" y="-219079"/>
            <a:ext cx="288601" cy="1096693"/>
            <a:chOff x="1006700" y="2603975"/>
            <a:chExt cx="55450" cy="210700"/>
          </a:xfrm>
        </p:grpSpPr>
        <p:sp>
          <p:nvSpPr>
            <p:cNvPr id="668" name="Google Shape;668;p39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9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9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9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9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9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4" name="Google Shape;674;p39"/>
          <p:cNvGrpSpPr/>
          <p:nvPr/>
        </p:nvGrpSpPr>
        <p:grpSpPr>
          <a:xfrm>
            <a:off x="8020620" y="875122"/>
            <a:ext cx="820307" cy="763275"/>
            <a:chOff x="827350" y="3629733"/>
            <a:chExt cx="1431600" cy="1332067"/>
          </a:xfrm>
        </p:grpSpPr>
        <p:sp>
          <p:nvSpPr>
            <p:cNvPr id="675" name="Google Shape;675;p39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9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9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8" name="Google Shape;678;p39"/>
          <p:cNvGrpSpPr/>
          <p:nvPr/>
        </p:nvGrpSpPr>
        <p:grpSpPr>
          <a:xfrm>
            <a:off x="1574940" y="3737806"/>
            <a:ext cx="932831" cy="867975"/>
            <a:chOff x="827350" y="3629733"/>
            <a:chExt cx="1431600" cy="1332067"/>
          </a:xfrm>
        </p:grpSpPr>
        <p:sp>
          <p:nvSpPr>
            <p:cNvPr id="679" name="Google Shape;679;p39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9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9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2" name="Google Shape;682;p39"/>
          <p:cNvGrpSpPr/>
          <p:nvPr/>
        </p:nvGrpSpPr>
        <p:grpSpPr>
          <a:xfrm>
            <a:off x="952423" y="3121457"/>
            <a:ext cx="633913" cy="589839"/>
            <a:chOff x="827350" y="3629733"/>
            <a:chExt cx="1431600" cy="1332067"/>
          </a:xfrm>
        </p:grpSpPr>
        <p:sp>
          <p:nvSpPr>
            <p:cNvPr id="683" name="Google Shape;683;p39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9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9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6" name="Google Shape;686;p39"/>
          <p:cNvGrpSpPr/>
          <p:nvPr/>
        </p:nvGrpSpPr>
        <p:grpSpPr>
          <a:xfrm>
            <a:off x="648758" y="3952066"/>
            <a:ext cx="487174" cy="453302"/>
            <a:chOff x="827350" y="3629733"/>
            <a:chExt cx="1431600" cy="1332067"/>
          </a:xfrm>
        </p:grpSpPr>
        <p:sp>
          <p:nvSpPr>
            <p:cNvPr id="687" name="Google Shape;687;p39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9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9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CD34D6B-A5B7-4DBC-7BFB-B6C6E24158F3}"/>
              </a:ext>
            </a:extLst>
          </p:cNvPr>
          <p:cNvSpPr txBox="1"/>
          <p:nvPr/>
        </p:nvSpPr>
        <p:spPr>
          <a:xfrm>
            <a:off x="158918" y="751977"/>
            <a:ext cx="5486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  <a:highlight>
                  <a:srgbClr val="FF0000"/>
                </a:highlight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ber-Futuristic AI Technology Thesis Defense by Slidesgo">
  <a:themeElements>
    <a:clrScheme name="Simple Light">
      <a:dk1>
        <a:srgbClr val="031126"/>
      </a:dk1>
      <a:lt1>
        <a:srgbClr val="FFFFFF"/>
      </a:lt1>
      <a:dk2>
        <a:srgbClr val="10355F"/>
      </a:dk2>
      <a:lt2>
        <a:srgbClr val="3B8794"/>
      </a:lt2>
      <a:accent1>
        <a:srgbClr val="51AFDB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561</Words>
  <Application>Microsoft Office PowerPoint</Application>
  <PresentationFormat>On-screen Show (16:9)</PresentationFormat>
  <Paragraphs>56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Audiowide</vt:lpstr>
      <vt:lpstr>Times New Roman</vt:lpstr>
      <vt:lpstr>Arial</vt:lpstr>
      <vt:lpstr>Karla</vt:lpstr>
      <vt:lpstr>Cyber-Futuristic AI Technology Thesis Defense by Slidesgo</vt:lpstr>
      <vt:lpstr>Data  Management &amp; Visualization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Management</vt:lpstr>
      <vt:lpstr>PowerPoint Presentation</vt:lpstr>
      <vt:lpstr>What is NumPy ?</vt:lpstr>
      <vt:lpstr>NumPy Arrays</vt:lpstr>
      <vt:lpstr>PowerPoint Presentation</vt:lpstr>
      <vt:lpstr>Datacamp Cheat Sheet (NumPy)</vt:lpstr>
      <vt:lpstr>PowerPoint Presentation</vt:lpstr>
      <vt:lpstr>What is Pandas ?</vt:lpstr>
      <vt:lpstr>DataFrame</vt:lpstr>
      <vt:lpstr>Datacamp Cheat Sheet (Pandas)</vt:lpstr>
      <vt:lpstr>Why Visualization ?</vt:lpstr>
      <vt:lpstr>The important of Visualization</vt:lpstr>
      <vt:lpstr>PowerPoint Presentation</vt:lpstr>
      <vt:lpstr>PowerPoint Presentation</vt:lpstr>
      <vt:lpstr>Matplotlib</vt:lpstr>
      <vt:lpstr>Datacamp Cheat Sheet (Matplotlib)</vt:lpstr>
      <vt:lpstr>Questions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creator>mayar</dc:creator>
  <cp:lastModifiedBy>Mohamed Khaled Mohamed Mohamed Ali Idris</cp:lastModifiedBy>
  <cp:revision>12</cp:revision>
  <dcterms:modified xsi:type="dcterms:W3CDTF">2023-10-17T18:45:07Z</dcterms:modified>
</cp:coreProperties>
</file>