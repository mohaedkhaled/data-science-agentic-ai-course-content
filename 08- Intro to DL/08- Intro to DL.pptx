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9" r:id="rId1"/>
  </p:sldMasterIdLst>
  <p:notesMasterIdLst>
    <p:notesMasterId r:id="rId27"/>
  </p:notesMasterIdLst>
  <p:sldIdLst>
    <p:sldId id="403" r:id="rId2"/>
    <p:sldId id="353" r:id="rId3"/>
    <p:sldId id="328" r:id="rId4"/>
    <p:sldId id="315" r:id="rId5"/>
    <p:sldId id="316" r:id="rId6"/>
    <p:sldId id="322" r:id="rId7"/>
    <p:sldId id="323" r:id="rId8"/>
    <p:sldId id="317" r:id="rId9"/>
    <p:sldId id="318" r:id="rId10"/>
    <p:sldId id="319" r:id="rId11"/>
    <p:sldId id="320" r:id="rId12"/>
    <p:sldId id="324" r:id="rId13"/>
    <p:sldId id="326" r:id="rId14"/>
    <p:sldId id="321" r:id="rId15"/>
    <p:sldId id="334" r:id="rId16"/>
    <p:sldId id="335" r:id="rId17"/>
    <p:sldId id="348" r:id="rId18"/>
    <p:sldId id="349" r:id="rId19"/>
    <p:sldId id="343" r:id="rId20"/>
    <p:sldId id="344" r:id="rId21"/>
    <p:sldId id="345" r:id="rId22"/>
    <p:sldId id="346" r:id="rId23"/>
    <p:sldId id="351" r:id="rId24"/>
    <p:sldId id="372" r:id="rId25"/>
    <p:sldId id="373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A422049-DD27-4B48-B61B-9490F3BF786D}">
          <p14:sldIdLst>
            <p14:sldId id="403"/>
          </p14:sldIdLst>
        </p14:section>
        <p14:section name="Section 1" id="{24B8932D-09E9-4A76-B28D-76CC734B710F}">
          <p14:sldIdLst>
            <p14:sldId id="353"/>
            <p14:sldId id="328"/>
            <p14:sldId id="315"/>
            <p14:sldId id="316"/>
            <p14:sldId id="322"/>
            <p14:sldId id="323"/>
            <p14:sldId id="317"/>
            <p14:sldId id="318"/>
            <p14:sldId id="319"/>
            <p14:sldId id="320"/>
            <p14:sldId id="324"/>
            <p14:sldId id="326"/>
            <p14:sldId id="321"/>
            <p14:sldId id="334"/>
            <p14:sldId id="335"/>
            <p14:sldId id="348"/>
            <p14:sldId id="349"/>
            <p14:sldId id="343"/>
            <p14:sldId id="344"/>
            <p14:sldId id="345"/>
            <p14:sldId id="346"/>
            <p14:sldId id="351"/>
            <p14:sldId id="372"/>
            <p14:sldId id="3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1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3D933C-5DFA-4300-A746-E2480BC9EADD}" type="datetimeFigureOut">
              <a:rPr lang="en-US" smtClean="0"/>
              <a:t>12/27/2023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399143-F1E5-47E5-8E2F-AB776D3CD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7901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21caab1d1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121caab1d1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56CB3317-DAD0-47F7-890A-73946873BB7B}" type="datetimeFigureOut">
              <a:rPr lang="en-US" smtClean="0"/>
              <a:t>12/27/2023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34693126-6F63-4D80-9C82-ADC9072A4A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4765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B3317-DAD0-47F7-890A-73946873BB7B}" type="datetimeFigureOut">
              <a:rPr lang="en-US" smtClean="0"/>
              <a:t>12/27/2023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93126-6F63-4D80-9C82-ADC9072A4A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1825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B3317-DAD0-47F7-890A-73946873BB7B}" type="datetimeFigureOut">
              <a:rPr lang="en-US" smtClean="0"/>
              <a:t>12/27/2023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93126-6F63-4D80-9C82-ADC9072A4A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015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B3317-DAD0-47F7-890A-73946873BB7B}" type="datetimeFigureOut">
              <a:rPr lang="en-US" smtClean="0"/>
              <a:t>12/27/2023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93126-6F63-4D80-9C82-ADC9072A4A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6274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B3317-DAD0-47F7-890A-73946873BB7B}" type="datetimeFigureOut">
              <a:rPr lang="en-US" smtClean="0"/>
              <a:t>12/27/2023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93126-6F63-4D80-9C82-ADC9072A4A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159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B3317-DAD0-47F7-890A-73946873BB7B}" type="datetimeFigureOut">
              <a:rPr lang="en-US" smtClean="0"/>
              <a:t>12/27/2023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93126-6F63-4D80-9C82-ADC9072A4A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8522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B3317-DAD0-47F7-890A-73946873BB7B}" type="datetimeFigureOut">
              <a:rPr lang="en-US" smtClean="0"/>
              <a:t>12/27/2023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93126-6F63-4D80-9C82-ADC9072A4A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937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B3317-DAD0-47F7-890A-73946873BB7B}" type="datetimeFigureOut">
              <a:rPr lang="en-US" smtClean="0"/>
              <a:t>12/27/2023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93126-6F63-4D80-9C82-ADC9072A4A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74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B3317-DAD0-47F7-890A-73946873BB7B}" type="datetimeFigureOut">
              <a:rPr lang="en-US" smtClean="0"/>
              <a:t>12/27/2023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93126-6F63-4D80-9C82-ADC9072A4A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6917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98CD3-27C6-4EAF-AE0F-D2D199A5B035}" type="datetime1">
              <a:rPr lang="en-US" smtClean="0"/>
              <a:t>12/27/2023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732513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B3317-DAD0-47F7-890A-73946873BB7B}" type="datetimeFigureOut">
              <a:rPr lang="en-US" smtClean="0"/>
              <a:t>12/27/2023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93126-6F63-4D80-9C82-ADC9072A4A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8485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B3317-DAD0-47F7-890A-73946873BB7B}" type="datetimeFigureOut">
              <a:rPr lang="en-US" smtClean="0"/>
              <a:t>12/27/2023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93126-6F63-4D80-9C82-ADC9072A4A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3675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98CD3-27C6-4EAF-AE0F-D2D199A5B035}" type="datetime1">
              <a:rPr lang="en-US" smtClean="0"/>
              <a:t>12/27/2023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89533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B3317-DAD0-47F7-890A-73946873BB7B}" type="datetimeFigureOut">
              <a:rPr lang="en-US" smtClean="0"/>
              <a:t>12/27/2023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93126-6F63-4D80-9C82-ADC9072A4A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6390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B3317-DAD0-47F7-890A-73946873BB7B}" type="datetimeFigureOut">
              <a:rPr lang="en-US" smtClean="0"/>
              <a:t>12/27/2023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93126-6F63-4D80-9C82-ADC9072A4A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2199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B3317-DAD0-47F7-890A-73946873BB7B}" type="datetimeFigureOut">
              <a:rPr lang="en-US" smtClean="0"/>
              <a:t>12/27/2023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93126-6F63-4D80-9C82-ADC9072A4A9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80524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B3317-DAD0-47F7-890A-73946873BB7B}" type="datetimeFigureOut">
              <a:rPr lang="en-US" smtClean="0"/>
              <a:t>12/27/2023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93126-6F63-4D80-9C82-ADC9072A4A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157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6CB3317-DAD0-47F7-890A-73946873BB7B}" type="datetimeFigureOut">
              <a:rPr lang="en-US" smtClean="0"/>
              <a:t>12/27/2023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4693126-6F63-4D80-9C82-ADC9072A4A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05893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  <p:sldLayoutId id="2147483751" r:id="rId12"/>
    <p:sldLayoutId id="2147483752" r:id="rId13"/>
    <p:sldLayoutId id="2147483753" r:id="rId14"/>
    <p:sldLayoutId id="2147483754" r:id="rId15"/>
    <p:sldLayoutId id="2147483755" r:id="rId16"/>
    <p:sldLayoutId id="2147483756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0"/>
          <p:cNvSpPr/>
          <p:nvPr/>
        </p:nvSpPr>
        <p:spPr>
          <a:xfrm>
            <a:off x="2303000" y="1637533"/>
            <a:ext cx="7586000" cy="3302400"/>
          </a:xfrm>
          <a:prstGeom prst="snip2DiagRect">
            <a:avLst>
              <a:gd name="adj1" fmla="val 0"/>
              <a:gd name="adj2" fmla="val 16667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282" name="Google Shape;282;p30"/>
          <p:cNvSpPr txBox="1">
            <a:spLocks noGrp="1"/>
          </p:cNvSpPr>
          <p:nvPr>
            <p:ph type="ctrTitle"/>
          </p:nvPr>
        </p:nvSpPr>
        <p:spPr>
          <a:xfrm>
            <a:off x="2136310" y="1725618"/>
            <a:ext cx="7856400" cy="3184548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-US" sz="7200" b="1" dirty="0"/>
              <a:t>Intro to Deep Learning</a:t>
            </a:r>
            <a:endParaRPr lang="en-US" b="1" dirty="0">
              <a:solidFill>
                <a:srgbClr val="CC0000"/>
              </a:solidFill>
            </a:endParaRPr>
          </a:p>
        </p:txBody>
      </p:sp>
      <p:sp>
        <p:nvSpPr>
          <p:cNvPr id="283" name="Google Shape;283;p30"/>
          <p:cNvSpPr txBox="1">
            <a:spLocks noGrp="1"/>
          </p:cNvSpPr>
          <p:nvPr>
            <p:ph type="subTitle" idx="1"/>
          </p:nvPr>
        </p:nvSpPr>
        <p:spPr>
          <a:xfrm>
            <a:off x="2335832" y="5361218"/>
            <a:ext cx="7856400" cy="631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 rtl="1"/>
            <a:r>
              <a:rPr lang="en" sz="2000" b="1" dirty="0"/>
              <a:t>Eng- Mohamed Khaled Idris</a:t>
            </a:r>
          </a:p>
          <a:p>
            <a:pPr algn="ctr" rtl="1"/>
            <a:r>
              <a:rPr lang="en-US" sz="2000" b="1" dirty="0"/>
              <a:t>E</a:t>
            </a:r>
            <a:r>
              <a:rPr lang="en" sz="2000" b="1" dirty="0"/>
              <a:t>ng- mayar swilam</a:t>
            </a:r>
          </a:p>
        </p:txBody>
      </p:sp>
      <p:grpSp>
        <p:nvGrpSpPr>
          <p:cNvPr id="284" name="Google Shape;284;p30"/>
          <p:cNvGrpSpPr/>
          <p:nvPr/>
        </p:nvGrpSpPr>
        <p:grpSpPr>
          <a:xfrm>
            <a:off x="1342410" y="650129"/>
            <a:ext cx="384801" cy="1462257"/>
            <a:chOff x="1006700" y="2603975"/>
            <a:chExt cx="55450" cy="210700"/>
          </a:xfrm>
        </p:grpSpPr>
        <p:sp>
          <p:nvSpPr>
            <p:cNvPr id="285" name="Google Shape;285;p30"/>
            <p:cNvSpPr/>
            <p:nvPr/>
          </p:nvSpPr>
          <p:spPr>
            <a:xfrm>
              <a:off x="1006700" y="2629975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86" name="Google Shape;286;p30"/>
            <p:cNvSpPr/>
            <p:nvPr/>
          </p:nvSpPr>
          <p:spPr>
            <a:xfrm>
              <a:off x="1032700" y="2603975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87" name="Google Shape;287;p30"/>
            <p:cNvSpPr/>
            <p:nvPr/>
          </p:nvSpPr>
          <p:spPr>
            <a:xfrm>
              <a:off x="1006700" y="2707200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1"/>
                  </a:moveTo>
                  <a:lnTo>
                    <a:pt x="0" y="154"/>
                  </a:lnTo>
                  <a:lnTo>
                    <a:pt x="2218" y="154"/>
                  </a:lnTo>
                  <a:lnTo>
                    <a:pt x="221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88" name="Google Shape;288;p30"/>
            <p:cNvSpPr/>
            <p:nvPr/>
          </p:nvSpPr>
          <p:spPr>
            <a:xfrm>
              <a:off x="1032700" y="2681600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89" name="Google Shape;289;p30"/>
            <p:cNvSpPr/>
            <p:nvPr/>
          </p:nvSpPr>
          <p:spPr>
            <a:xfrm>
              <a:off x="1006700" y="2785225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90" name="Google Shape;290;p30"/>
            <p:cNvSpPr/>
            <p:nvPr/>
          </p:nvSpPr>
          <p:spPr>
            <a:xfrm>
              <a:off x="1032700" y="2759225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291" name="Google Shape;291;p30"/>
          <p:cNvGrpSpPr/>
          <p:nvPr/>
        </p:nvGrpSpPr>
        <p:grpSpPr>
          <a:xfrm rot="5400000">
            <a:off x="10359410" y="5209029"/>
            <a:ext cx="384801" cy="1462257"/>
            <a:chOff x="1006700" y="2603975"/>
            <a:chExt cx="55450" cy="210700"/>
          </a:xfrm>
        </p:grpSpPr>
        <p:sp>
          <p:nvSpPr>
            <p:cNvPr id="292" name="Google Shape;292;p30"/>
            <p:cNvSpPr/>
            <p:nvPr/>
          </p:nvSpPr>
          <p:spPr>
            <a:xfrm>
              <a:off x="1006700" y="2629975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93" name="Google Shape;293;p30"/>
            <p:cNvSpPr/>
            <p:nvPr/>
          </p:nvSpPr>
          <p:spPr>
            <a:xfrm>
              <a:off x="1032700" y="2603975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94" name="Google Shape;294;p30"/>
            <p:cNvSpPr/>
            <p:nvPr/>
          </p:nvSpPr>
          <p:spPr>
            <a:xfrm>
              <a:off x="1006700" y="2707200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1"/>
                  </a:moveTo>
                  <a:lnTo>
                    <a:pt x="0" y="154"/>
                  </a:lnTo>
                  <a:lnTo>
                    <a:pt x="2218" y="154"/>
                  </a:lnTo>
                  <a:lnTo>
                    <a:pt x="221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95" name="Google Shape;295;p30"/>
            <p:cNvSpPr/>
            <p:nvPr/>
          </p:nvSpPr>
          <p:spPr>
            <a:xfrm>
              <a:off x="1032700" y="2681600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96" name="Google Shape;296;p30"/>
            <p:cNvSpPr/>
            <p:nvPr/>
          </p:nvSpPr>
          <p:spPr>
            <a:xfrm>
              <a:off x="1006700" y="2785225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97" name="Google Shape;297;p30"/>
            <p:cNvSpPr/>
            <p:nvPr/>
          </p:nvSpPr>
          <p:spPr>
            <a:xfrm>
              <a:off x="1032700" y="2759225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298" name="Google Shape;298;p30"/>
          <p:cNvGrpSpPr/>
          <p:nvPr/>
        </p:nvGrpSpPr>
        <p:grpSpPr>
          <a:xfrm>
            <a:off x="734833" y="4839603"/>
            <a:ext cx="1571516" cy="1462255"/>
            <a:chOff x="827350" y="3629733"/>
            <a:chExt cx="1431600" cy="1332067"/>
          </a:xfrm>
        </p:grpSpPr>
        <p:sp>
          <p:nvSpPr>
            <p:cNvPr id="299" name="Google Shape;299;p30"/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00" name="Google Shape;300;p30"/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01" name="Google Shape;301;p30"/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302" name="Google Shape;302;p30"/>
          <p:cNvGrpSpPr/>
          <p:nvPr/>
        </p:nvGrpSpPr>
        <p:grpSpPr>
          <a:xfrm>
            <a:off x="430136" y="3870413"/>
            <a:ext cx="1041632" cy="969212"/>
            <a:chOff x="827350" y="3629733"/>
            <a:chExt cx="1431600" cy="1332067"/>
          </a:xfrm>
        </p:grpSpPr>
        <p:sp>
          <p:nvSpPr>
            <p:cNvPr id="303" name="Google Shape;303;p30"/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04" name="Google Shape;304;p30"/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05" name="Google Shape;305;p30"/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306" name="Google Shape;306;p30"/>
          <p:cNvGrpSpPr/>
          <p:nvPr/>
        </p:nvGrpSpPr>
        <p:grpSpPr>
          <a:xfrm>
            <a:off x="2421586" y="5859798"/>
            <a:ext cx="475100" cy="442069"/>
            <a:chOff x="827350" y="3629733"/>
            <a:chExt cx="1431600" cy="1332067"/>
          </a:xfrm>
        </p:grpSpPr>
        <p:sp>
          <p:nvSpPr>
            <p:cNvPr id="307" name="Google Shape;307;p30"/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08" name="Google Shape;308;p30"/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09" name="Google Shape;309;p30"/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310" name="Google Shape;310;p30"/>
          <p:cNvGrpSpPr/>
          <p:nvPr/>
        </p:nvGrpSpPr>
        <p:grpSpPr>
          <a:xfrm>
            <a:off x="9955002" y="292951"/>
            <a:ext cx="1193573" cy="1110589"/>
            <a:chOff x="827350" y="3629733"/>
            <a:chExt cx="1431600" cy="1332067"/>
          </a:xfrm>
        </p:grpSpPr>
        <p:sp>
          <p:nvSpPr>
            <p:cNvPr id="311" name="Google Shape;311;p30"/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12" name="Google Shape;312;p30"/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13" name="Google Shape;313;p30"/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314" name="Google Shape;314;p30"/>
          <p:cNvGrpSpPr/>
          <p:nvPr/>
        </p:nvGrpSpPr>
        <p:grpSpPr>
          <a:xfrm>
            <a:off x="10841711" y="1420954"/>
            <a:ext cx="798643" cy="743116"/>
            <a:chOff x="827350" y="3629733"/>
            <a:chExt cx="1431600" cy="1332067"/>
          </a:xfrm>
        </p:grpSpPr>
        <p:sp>
          <p:nvSpPr>
            <p:cNvPr id="315" name="Google Shape;315;p30"/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16" name="Google Shape;316;p30"/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17" name="Google Shape;317;p30"/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318" name="Google Shape;318;p30"/>
          <p:cNvGrpSpPr/>
          <p:nvPr/>
        </p:nvGrpSpPr>
        <p:grpSpPr>
          <a:xfrm>
            <a:off x="9201641" y="827560"/>
            <a:ext cx="619024" cy="575985"/>
            <a:chOff x="827350" y="3629733"/>
            <a:chExt cx="1431600" cy="1332067"/>
          </a:xfrm>
        </p:grpSpPr>
        <p:sp>
          <p:nvSpPr>
            <p:cNvPr id="319" name="Google Shape;319;p30"/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20" name="Google Shape;320;p30"/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21" name="Google Shape;321;p30"/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diagram of machine learning&#10;&#10;Description automatically generated">
            <a:extLst>
              <a:ext uri="{FF2B5EF4-FFF2-40B4-BE49-F238E27FC236}">
                <a16:creationId xmlns:a16="http://schemas.microsoft.com/office/drawing/2014/main" id="{A9639548-B17E-91C0-646B-1C4104D8751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60" b="-2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271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diagram of a machine learning&#10;&#10;Description automatically generated">
            <a:extLst>
              <a:ext uri="{FF2B5EF4-FFF2-40B4-BE49-F238E27FC236}">
                <a16:creationId xmlns:a16="http://schemas.microsoft.com/office/drawing/2014/main" id="{6ECA9AD8-CCB6-128F-593E-0B466DB981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4083" y="643467"/>
            <a:ext cx="6963833" cy="557106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B968AE-AD46-3C35-AB07-C89F48191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76321" y="6442565"/>
            <a:ext cx="77108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457200">
              <a:spcAft>
                <a:spcPts val="600"/>
              </a:spcAft>
            </a:pPr>
            <a:fld id="{34B7E4EF-A1BD-40F4-AB7B-04F084DD991D}" type="slidenum">
              <a:rPr lang="en-US">
                <a:solidFill>
                  <a:schemeClr val="tx1"/>
                </a:solidFill>
              </a:rPr>
              <a:pPr defTabSz="457200">
                <a:spcAft>
                  <a:spcPts val="600"/>
                </a:spcAft>
              </a:pPr>
              <a:t>3</a:t>
            </a:fld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821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D36E1-20C8-4BB8-4DCB-C72FF4FCC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Deep Learning 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FD7D6-CE06-8C97-8BAB-25D34EAB8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4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F51B93-F543-7093-B721-AA460EC0B006}"/>
              </a:ext>
            </a:extLst>
          </p:cNvPr>
          <p:cNvSpPr txBox="1"/>
          <p:nvPr/>
        </p:nvSpPr>
        <p:spPr>
          <a:xfrm>
            <a:off x="1141412" y="2097088"/>
            <a:ext cx="990599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is a subset of machine learning that focuses on using ARTIFICIAL NEURAL NETWORKS 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(ANN)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to model and solve complex patterns and representations in data.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4D410D-9BB6-0F2B-599C-6874CEA6136A}"/>
              </a:ext>
            </a:extLst>
          </p:cNvPr>
          <p:cNvSpPr txBox="1"/>
          <p:nvPr/>
        </p:nvSpPr>
        <p:spPr>
          <a:xfrm>
            <a:off x="1141412" y="3759348"/>
            <a:ext cx="990599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It involves training neural networks with multiple layers (hence the term "deep") to automatically learn hierarchical features from raw data.</a:t>
            </a:r>
          </a:p>
        </p:txBody>
      </p:sp>
    </p:spTree>
    <p:extLst>
      <p:ext uri="{BB962C8B-B14F-4D97-AF65-F5344CB8AC3E}">
        <p14:creationId xmlns:p14="http://schemas.microsoft.com/office/powerpoint/2010/main" val="41860281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63E6A-5F82-1ED2-ECF5-BEE900B34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6660" y="4539573"/>
            <a:ext cx="8957534" cy="118283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/>
              <a:t>Classical ML Vs. DL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585F5E-17B4-B5F9-4B59-BE185DC24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6911" y="6309360"/>
            <a:ext cx="77108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34B7E4EF-A1BD-40F4-AB7B-04F084DD991D}" type="slidenum">
              <a:rPr lang="en-US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pic>
        <p:nvPicPr>
          <p:cNvPr id="6" name="Picture 5" descr="A diagram of machine learning&#10;&#10;Description automatically generated">
            <a:extLst>
              <a:ext uri="{FF2B5EF4-FFF2-40B4-BE49-F238E27FC236}">
                <a16:creationId xmlns:a16="http://schemas.microsoft.com/office/drawing/2014/main" id="{0D91AD9B-2BBD-B283-4513-A5537FEC1A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418" y="951493"/>
            <a:ext cx="4979904" cy="2975493"/>
          </a:xfrm>
          <a:prstGeom prst="rect">
            <a:avLst/>
          </a:prstGeom>
        </p:spPr>
      </p:pic>
      <p:pic>
        <p:nvPicPr>
          <p:cNvPr id="8" name="Picture 7" descr="A diagram of a process&#10;&#10;Description automatically generated">
            <a:extLst>
              <a:ext uri="{FF2B5EF4-FFF2-40B4-BE49-F238E27FC236}">
                <a16:creationId xmlns:a16="http://schemas.microsoft.com/office/drawing/2014/main" id="{35BD1141-E510-4F97-B67B-901C34446F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8832" y="1586804"/>
            <a:ext cx="5051472" cy="1704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9527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, screenshot, font, diagram&#10;&#10;Description automatically generated">
            <a:extLst>
              <a:ext uri="{FF2B5EF4-FFF2-40B4-BE49-F238E27FC236}">
                <a16:creationId xmlns:a16="http://schemas.microsoft.com/office/drawing/2014/main" id="{F56FA83E-B1EE-D47C-B626-E1598BA66F2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72" b="3328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5AC42E-56AF-EBD9-4A57-950EF3ADF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defTabSz="457200">
              <a:spcAft>
                <a:spcPts val="600"/>
              </a:spcAft>
            </a:pPr>
            <a:fld id="{34B7E4EF-A1BD-40F4-AB7B-04F084DD991D}" type="slidenum">
              <a:rPr lang="en-US">
                <a:solidFill>
                  <a:srgbClr val="FFFFFF"/>
                </a:solidFill>
              </a:rPr>
              <a:pPr defTabSz="457200">
                <a:spcAft>
                  <a:spcPts val="600"/>
                </a:spcAft>
              </a:pPr>
              <a:t>6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77332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hart of neural networks&#10;&#10;Description automatically generated">
            <a:extLst>
              <a:ext uri="{FF2B5EF4-FFF2-40B4-BE49-F238E27FC236}">
                <a16:creationId xmlns:a16="http://schemas.microsoft.com/office/drawing/2014/main" id="{5E02F6AC-6EDA-A5DA-0DD3-9D6480768A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370" y="221980"/>
            <a:ext cx="9854260" cy="613282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0A618D-8132-1CD5-9AA5-6D58712BB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76321" y="6307818"/>
            <a:ext cx="77108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457200">
              <a:spcAft>
                <a:spcPts val="600"/>
              </a:spcAft>
            </a:pPr>
            <a:fld id="{34B7E4EF-A1BD-40F4-AB7B-04F084DD991D}" type="slidenum">
              <a:rPr lang="en-US">
                <a:solidFill>
                  <a:schemeClr val="bg1"/>
                </a:solidFill>
              </a:rPr>
              <a:pPr defTabSz="457200">
                <a:spcAft>
                  <a:spcPts val="600"/>
                </a:spcAft>
              </a:pPr>
              <a:t>7</a:t>
            </a:fld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953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2FDB1-1E8A-0260-A55B-C18A36F36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57397" y="1113282"/>
            <a:ext cx="3489569" cy="239668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>
                <a:solidFill>
                  <a:srgbClr val="FFFFFF"/>
                </a:solidFill>
              </a:rPr>
              <a:t>Fields of Deep Learning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269812-2BB2-6B0A-C816-6AB5C5E18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6911" y="6309360"/>
            <a:ext cx="77108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34B7E4EF-A1BD-40F4-AB7B-04F084DD991D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8</a:t>
            </a:fld>
            <a:endParaRPr lang="en-US">
              <a:solidFill>
                <a:srgbClr val="FFFFFF"/>
              </a:solidFill>
            </a:endParaRPr>
          </a:p>
        </p:txBody>
      </p:sp>
      <p:pic>
        <p:nvPicPr>
          <p:cNvPr id="6" name="Picture 5" descr="A diagram of a computer network&#10;&#10;Description automatically generated with medium confidence">
            <a:extLst>
              <a:ext uri="{FF2B5EF4-FFF2-40B4-BE49-F238E27FC236}">
                <a16:creationId xmlns:a16="http://schemas.microsoft.com/office/drawing/2014/main" id="{96C94B52-A0A0-85E4-B7BE-455AFD846E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39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2118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4509A-4351-AFF6-1DA8-06F72EBB6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960" y="222140"/>
            <a:ext cx="10131425" cy="1456267"/>
          </a:xfrm>
        </p:spPr>
        <p:txBody>
          <a:bodyPr>
            <a:normAutofit/>
          </a:bodyPr>
          <a:lstStyle/>
          <a:p>
            <a:r>
              <a:rPr lang="en-US" sz="4800" b="1" dirty="0"/>
              <a:t>Inspiration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55ECE0-E00A-B732-B9C9-5ABF71A2F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9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C0010BE-9BEF-2B87-1A1A-D473D973313C}"/>
              </a:ext>
            </a:extLst>
          </p:cNvPr>
          <p:cNvSpPr/>
          <p:nvPr/>
        </p:nvSpPr>
        <p:spPr>
          <a:xfrm>
            <a:off x="2206007" y="1824335"/>
            <a:ext cx="777680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Biological Neural Network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CD17600-89D7-7F63-EAA2-4FAAD0FF76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417" y="3039521"/>
            <a:ext cx="7615988" cy="3386223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912492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7FB46-6F73-C7CE-F20D-0679209C1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Inspiration (Cont.)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75971D-36F3-E88F-B8FC-DD0CD5344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10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456FBA-9F45-D666-EB3D-74E407CA4D25}"/>
              </a:ext>
            </a:extLst>
          </p:cNvPr>
          <p:cNvSpPr/>
          <p:nvPr/>
        </p:nvSpPr>
        <p:spPr>
          <a:xfrm>
            <a:off x="2377915" y="1824335"/>
            <a:ext cx="743299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Artificial Neural Network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AEB46D7-D21B-7FBB-CCC9-72287AB756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4185" y="3104090"/>
            <a:ext cx="6120453" cy="239755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294584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diagram of a brain&#10;&#10;Description automatically generated">
            <a:extLst>
              <a:ext uri="{FF2B5EF4-FFF2-40B4-BE49-F238E27FC236}">
                <a16:creationId xmlns:a16="http://schemas.microsoft.com/office/drawing/2014/main" id="{B1E59975-CDEB-0B88-BF22-4B6810380A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67" y="988992"/>
            <a:ext cx="10905066" cy="488001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D2D205-04C3-C3EC-7891-612A4233D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76321" y="6442565"/>
            <a:ext cx="77108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457200">
              <a:spcAft>
                <a:spcPts val="600"/>
              </a:spcAft>
            </a:pPr>
            <a:fld id="{34B7E4EF-A1BD-40F4-AB7B-04F084DD991D}" type="slidenum">
              <a:rPr lang="en-US">
                <a:solidFill>
                  <a:schemeClr val="tx1"/>
                </a:solidFill>
              </a:rPr>
              <a:pPr defTabSz="457200">
                <a:spcAft>
                  <a:spcPts val="600"/>
                </a:spcAft>
              </a:pPr>
              <a:t>11</a:t>
            </a:fld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05085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3C4E5-F2B7-A661-CCB5-105A41FA7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/>
              <a:t>The Beginning: ANN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7C1FB5-2381-D30B-912A-819FF4955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12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4C3288-9899-6CB8-840C-32970C0D70E7}"/>
              </a:ext>
            </a:extLst>
          </p:cNvPr>
          <p:cNvSpPr txBox="1"/>
          <p:nvPr/>
        </p:nvSpPr>
        <p:spPr>
          <a:xfrm>
            <a:off x="1141412" y="2097088"/>
            <a:ext cx="990599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Neural networks </a:t>
            </a: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are collections of thousands (or millions) of these simple processing units (neurons) that together perform useful computations.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2A7505-4175-DBA1-519E-600CCB3DDBD6}"/>
              </a:ext>
            </a:extLst>
          </p:cNvPr>
          <p:cNvSpPr txBox="1"/>
          <p:nvPr/>
        </p:nvSpPr>
        <p:spPr>
          <a:xfrm>
            <a:off x="1245107" y="3983831"/>
            <a:ext cx="990599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ANNs can be represented using oriented</a:t>
            </a:r>
            <a:r>
              <a:rPr lang="ar-SA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graphs</a:t>
            </a:r>
          </a:p>
        </p:txBody>
      </p:sp>
    </p:spTree>
    <p:extLst>
      <p:ext uri="{BB962C8B-B14F-4D97-AF65-F5344CB8AC3E}">
        <p14:creationId xmlns:p14="http://schemas.microsoft.com/office/powerpoint/2010/main" val="26264365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6411FF-B27A-27C1-C030-F02483815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28836" y="5814772"/>
            <a:ext cx="844236" cy="399761"/>
          </a:xfrm>
        </p:spPr>
        <p:txBody>
          <a:bodyPr/>
          <a:lstStyle/>
          <a:p>
            <a:pPr defTabSz="996696">
              <a:spcAft>
                <a:spcPts val="600"/>
              </a:spcAft>
            </a:pPr>
            <a:fld id="{34B7E4EF-A1BD-40F4-AB7B-04F084DD991D}" type="slidenum">
              <a:rPr lang="en-US" sz="114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pPr defTabSz="996696">
                <a:spcAft>
                  <a:spcPts val="600"/>
                </a:spcAft>
              </a:pPr>
              <a:t>13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881E27A-C286-FD51-FC6A-C3BA402F2A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2023" y="643467"/>
            <a:ext cx="7107953" cy="5552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5968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C8F01-FAD2-4C48-47BA-1F0FC4911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Beginning: ANN (Cont.)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DE1EA7-CB37-5905-090D-97AA8F1D0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14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C65D1E-7E6B-647C-3754-31AF4D059573}"/>
              </a:ext>
            </a:extLst>
          </p:cNvPr>
          <p:cNvSpPr txBox="1"/>
          <p:nvPr/>
        </p:nvSpPr>
        <p:spPr>
          <a:xfrm>
            <a:off x="1141412" y="2097088"/>
            <a:ext cx="990599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Neural network 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are parallel processing using highly nonlinear prediction functions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56D3B1-C699-3CE6-4DCF-C85811980D73}"/>
              </a:ext>
            </a:extLst>
          </p:cNvPr>
          <p:cNvSpPr txBox="1"/>
          <p:nvPr/>
        </p:nvSpPr>
        <p:spPr>
          <a:xfrm>
            <a:off x="1141411" y="3159184"/>
            <a:ext cx="990599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Neurons are nodes and they are 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activated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based on the 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weighted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sum of their inputs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CB175C7-7D90-6B24-C8A6-535E65BD80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5120" y="3862238"/>
            <a:ext cx="6924414" cy="2750492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904047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9D6BD-D5C7-ECBC-2EB6-62A87B1C2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3321" y="1082676"/>
            <a:ext cx="10375768" cy="430263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1500" b="1" dirty="0"/>
              <a:t>Architectures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B7CE4D-4FA6-FCC8-0C2D-8A2589A9C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457200">
              <a:spcAft>
                <a:spcPts val="600"/>
              </a:spcAft>
            </a:pPr>
            <a:fld id="{34B7E4EF-A1BD-40F4-AB7B-04F084DD991D}" type="slidenum">
              <a:rPr lang="en-US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pPr defTabSz="457200">
                <a:spcAft>
                  <a:spcPts val="600"/>
                </a:spcAft>
              </a:pPr>
              <a:t>15</a:t>
            </a:fld>
            <a:endParaRPr lang="en-US" kern="120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93395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9EDCF-77E6-37A9-77C6-E8CD83ABB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5112" y="1122363"/>
            <a:ext cx="4052887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 dirty="0"/>
              <a:t>Many Architectures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3D7A23-924E-9B86-29E5-F142A7DFD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34B7E4EF-A1BD-40F4-AB7B-04F084DD991D}" type="slidenum">
              <a:rPr lang="en-US" smtClean="0"/>
              <a:pPr>
                <a:spcAft>
                  <a:spcPts val="600"/>
                </a:spcAft>
              </a:pPr>
              <a:t>16</a:t>
            </a:fld>
            <a:endParaRPr lang="en-US"/>
          </a:p>
        </p:txBody>
      </p:sp>
      <p:pic>
        <p:nvPicPr>
          <p:cNvPr id="6" name="Picture 5" descr="A chart of colorful circles and dots&#10;&#10;Description automatically generated with medium confidence">
            <a:extLst>
              <a:ext uri="{FF2B5EF4-FFF2-40B4-BE49-F238E27FC236}">
                <a16:creationId xmlns:a16="http://schemas.microsoft.com/office/drawing/2014/main" id="{A442B636-5EC2-4A74-5023-EA5815C961B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51" r="-2" b="16623"/>
          <a:stretch/>
        </p:blipFill>
        <p:spPr>
          <a:xfrm>
            <a:off x="-5597" y="10"/>
            <a:ext cx="6101597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2535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7A83A-3308-343C-A904-0AFDD93BA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57397" y="1113282"/>
            <a:ext cx="3489569" cy="239668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>
                <a:solidFill>
                  <a:srgbClr val="FFFFFF"/>
                </a:solidFill>
              </a:rPr>
              <a:t>Transfer Learning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0EB073-7C9E-F9EE-8518-441FCBB8D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6911" y="6309360"/>
            <a:ext cx="77108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34B7E4EF-A1BD-40F4-AB7B-04F084DD991D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17</a:t>
            </a:fld>
            <a:endParaRPr lang="en-US">
              <a:solidFill>
                <a:srgbClr val="FFFFFF"/>
              </a:solidFill>
            </a:endParaRPr>
          </a:p>
        </p:txBody>
      </p:sp>
      <p:pic>
        <p:nvPicPr>
          <p:cNvPr id="6" name="Picture 5" descr="A diagram of a diagram&#10;&#10;Description automatically generated">
            <a:extLst>
              <a:ext uri="{FF2B5EF4-FFF2-40B4-BE49-F238E27FC236}">
                <a16:creationId xmlns:a16="http://schemas.microsoft.com/office/drawing/2014/main" id="{ADAA634C-7A1B-2244-58B0-9F6BB18D6E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49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6523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3F762-BF96-40C9-1CBF-CBCE8C617F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57397" y="1113282"/>
            <a:ext cx="3489569" cy="2396681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4100">
                <a:solidFill>
                  <a:srgbClr val="FFFFFF"/>
                </a:solidFill>
              </a:rPr>
              <a:t>Traditional Learning VS. Transfer Learning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8AB727-0337-074D-3EDF-BA8A07F9B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6911" y="6309360"/>
            <a:ext cx="77108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34B7E4EF-A1BD-40F4-AB7B-04F084DD991D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18</a:t>
            </a:fld>
            <a:endParaRPr lang="en-US">
              <a:solidFill>
                <a:srgbClr val="FFFFFF"/>
              </a:solidFill>
            </a:endParaRPr>
          </a:p>
        </p:txBody>
      </p:sp>
      <p:pic>
        <p:nvPicPr>
          <p:cNvPr id="6" name="Picture 5" descr="A diagram of a task&#10;&#10;Description automatically generated">
            <a:extLst>
              <a:ext uri="{FF2B5EF4-FFF2-40B4-BE49-F238E27FC236}">
                <a16:creationId xmlns:a16="http://schemas.microsoft.com/office/drawing/2014/main" id="{A30A4458-B795-917A-9299-0293F209C2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1" cy="6730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5292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15DA6-CA35-CAE7-795C-81D29461BB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8217" y="870987"/>
            <a:ext cx="7135566" cy="265697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800" b="1" dirty="0">
                <a:solidFill>
                  <a:srgbClr val="FFFFFF"/>
                </a:solidFill>
              </a:rPr>
              <a:t>Generative AI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6EC724-1917-6CEA-A1B1-8C5E7B0B9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6911" y="5884333"/>
            <a:ext cx="77108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457200">
              <a:spcAft>
                <a:spcPts val="600"/>
              </a:spcAft>
            </a:pPr>
            <a:fld id="{34B7E4EF-A1BD-40F4-AB7B-04F084DD991D}" type="slidenum">
              <a:rPr lang="en-US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pPr defTabSz="457200">
                <a:spcAft>
                  <a:spcPts val="600"/>
                </a:spcAft>
              </a:pPr>
              <a:t>19</a:t>
            </a:fld>
            <a:endParaRPr lang="en-US" kern="12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95241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3A679-3A27-FB10-535C-35B0BB05C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Generative AI 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DFE967-77C6-6BD4-D311-9A303EAD9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20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AA9F3B-449C-E1C7-E924-21E35076068C}"/>
              </a:ext>
            </a:extLst>
          </p:cNvPr>
          <p:cNvSpPr txBox="1"/>
          <p:nvPr/>
        </p:nvSpPr>
        <p:spPr>
          <a:xfrm>
            <a:off x="1141412" y="2097088"/>
            <a:ext cx="990599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Generative AI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short for 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Generative Artificial Intelligence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refers to a field of artificial intelligence that focuses on creating models and algorithms capable of generating new, original data that resembles a given input dataset.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91FE73-75E3-5549-0898-1FBF1689CED1}"/>
              </a:ext>
            </a:extLst>
          </p:cNvPr>
          <p:cNvSpPr txBox="1"/>
          <p:nvPr/>
        </p:nvSpPr>
        <p:spPr>
          <a:xfrm>
            <a:off x="1141411" y="3575658"/>
            <a:ext cx="990599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These models aim to capture and replicate patterns, styles, and characteristics present in the training data to produce new data samples that are similar in nature.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029FF4-6E3A-B26D-38EF-7900508B1166}"/>
              </a:ext>
            </a:extLst>
          </p:cNvPr>
          <p:cNvSpPr txBox="1"/>
          <p:nvPr/>
        </p:nvSpPr>
        <p:spPr>
          <a:xfrm>
            <a:off x="1141411" y="4887727"/>
            <a:ext cx="1005763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They were introduced by Ian Goodfellow and his colleagues in 2014. GANs consist of two neural networks, the generator, and the discriminator, which are trained simultaneously through adversarial training.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0325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diagram of multiple types of tools&#10;&#10;Description automatically generated">
            <a:extLst>
              <a:ext uri="{FF2B5EF4-FFF2-40B4-BE49-F238E27FC236}">
                <a16:creationId xmlns:a16="http://schemas.microsoft.com/office/drawing/2014/main" id="{C46338ED-3EC8-5069-F07D-12BE6098B9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B05839-69E8-40A3-D173-AA36C3AE2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76321" y="6442565"/>
            <a:ext cx="77108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457200">
              <a:spcAft>
                <a:spcPts val="600"/>
              </a:spcAft>
            </a:pPr>
            <a:fld id="{34B7E4EF-A1BD-40F4-AB7B-04F084DD991D}" type="slidenum">
              <a:rPr lang="en-US">
                <a:solidFill>
                  <a:schemeClr val="tx1"/>
                </a:solidFill>
              </a:rPr>
              <a:pPr defTabSz="457200">
                <a:spcAft>
                  <a:spcPts val="600"/>
                </a:spcAft>
              </a:pPr>
              <a:t>21</a:t>
            </a:fld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49690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 shot of a computer screen&#10;&#10;Description automatically generated">
            <a:extLst>
              <a:ext uri="{FF2B5EF4-FFF2-40B4-BE49-F238E27FC236}">
                <a16:creationId xmlns:a16="http://schemas.microsoft.com/office/drawing/2014/main" id="{D773D952-39AF-6338-5630-38BB1C9440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C4119B-609F-4451-E53F-13C53DAC3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76321" y="6442565"/>
            <a:ext cx="77108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457200">
              <a:spcAft>
                <a:spcPts val="600"/>
              </a:spcAft>
            </a:pPr>
            <a:fld id="{34B7E4EF-A1BD-40F4-AB7B-04F084DD991D}" type="slidenum">
              <a:rPr lang="en-US">
                <a:solidFill>
                  <a:schemeClr val="tx1"/>
                </a:solidFill>
              </a:rPr>
              <a:pPr defTabSz="457200">
                <a:spcAft>
                  <a:spcPts val="600"/>
                </a:spcAft>
              </a:pPr>
              <a:t>22</a:t>
            </a:fld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32547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A5C36-3D0F-FD82-BA51-2AEFB1E06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5112" y="1122363"/>
            <a:ext cx="4916488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/>
              <a:t>AI IS The Future</a:t>
            </a:r>
          </a:p>
        </p:txBody>
      </p:sp>
      <p:pic>
        <p:nvPicPr>
          <p:cNvPr id="198" name="Picture 5" descr="Angle view of circuit shaped like a brain">
            <a:extLst>
              <a:ext uri="{FF2B5EF4-FFF2-40B4-BE49-F238E27FC236}">
                <a16:creationId xmlns:a16="http://schemas.microsoft.com/office/drawing/2014/main" id="{CB1A7872-F6F3-7725-9D65-EB54E6A0F04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9044" r="18900" b="2"/>
          <a:stretch/>
        </p:blipFill>
        <p:spPr>
          <a:xfrm>
            <a:off x="-5597" y="10"/>
            <a:ext cx="6101597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3567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7EC64-DCC7-BA69-516B-11DF69532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1668" y="1215496"/>
            <a:ext cx="5367866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 dirty="0"/>
              <a:t>Questions</a:t>
            </a:r>
          </a:p>
        </p:txBody>
      </p:sp>
      <p:pic>
        <p:nvPicPr>
          <p:cNvPr id="69" name="Graphic 5" descr="Help">
            <a:extLst>
              <a:ext uri="{FF2B5EF4-FFF2-40B4-BE49-F238E27FC236}">
                <a16:creationId xmlns:a16="http://schemas.microsoft.com/office/drawing/2014/main" id="{F7C49DB2-71C7-42D8-790C-EFD11E09BB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503" y="1539186"/>
            <a:ext cx="3525628" cy="3525628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7831105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792BD-7658-2385-8108-0E3A9F1FF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0" y="2328334"/>
            <a:ext cx="6858000" cy="136789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80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91516664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1463</TotalTime>
  <Words>302</Words>
  <Application>Microsoft Office PowerPoint</Application>
  <PresentationFormat>Widescreen</PresentationFormat>
  <Paragraphs>50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Calibri Light</vt:lpstr>
      <vt:lpstr>Times New Roman</vt:lpstr>
      <vt:lpstr>Celestial</vt:lpstr>
      <vt:lpstr>Intro to Deep Learning</vt:lpstr>
      <vt:lpstr>PowerPoint Presentation</vt:lpstr>
      <vt:lpstr>PowerPoint Presentation</vt:lpstr>
      <vt:lpstr>What is Deep Learning ?</vt:lpstr>
      <vt:lpstr>Classical ML Vs. DL</vt:lpstr>
      <vt:lpstr>PowerPoint Presentation</vt:lpstr>
      <vt:lpstr>PowerPoint Presentation</vt:lpstr>
      <vt:lpstr>Fields of Deep Learning</vt:lpstr>
      <vt:lpstr>Inspiration</vt:lpstr>
      <vt:lpstr>Inspiration (Cont.)</vt:lpstr>
      <vt:lpstr>PowerPoint Presentation</vt:lpstr>
      <vt:lpstr>The Beginning: ANN</vt:lpstr>
      <vt:lpstr>PowerPoint Presentation</vt:lpstr>
      <vt:lpstr>The Beginning: ANN (Cont.)</vt:lpstr>
      <vt:lpstr>Architectures</vt:lpstr>
      <vt:lpstr>Many Architectures </vt:lpstr>
      <vt:lpstr>Transfer Learning</vt:lpstr>
      <vt:lpstr>Traditional Learning VS. Transfer Learning</vt:lpstr>
      <vt:lpstr>Generative AI</vt:lpstr>
      <vt:lpstr>What is Generative AI ?</vt:lpstr>
      <vt:lpstr>PowerPoint Presentation</vt:lpstr>
      <vt:lpstr>PowerPoint Presentation</vt:lpstr>
      <vt:lpstr>AI IS The Future</vt:lpstr>
      <vt:lpstr>Questions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Machine Learning &amp; Introduction to Deep Learning</dc:title>
  <dc:creator>يوسف طارق عبدالمعبود البارودى</dc:creator>
  <cp:lastModifiedBy>Muhammad Khaled Muhammad Muhammad Ali Idris</cp:lastModifiedBy>
  <cp:revision>9</cp:revision>
  <dcterms:created xsi:type="dcterms:W3CDTF">2023-08-25T23:20:15Z</dcterms:created>
  <dcterms:modified xsi:type="dcterms:W3CDTF">2023-12-26T23:24:46Z</dcterms:modified>
</cp:coreProperties>
</file>