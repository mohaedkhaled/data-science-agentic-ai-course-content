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3" r:id="rId1"/>
  </p:sldMasterIdLst>
  <p:notesMasterIdLst>
    <p:notesMasterId r:id="rId38"/>
  </p:notesMasterIdLst>
  <p:sldIdLst>
    <p:sldId id="403" r:id="rId2"/>
    <p:sldId id="404" r:id="rId3"/>
    <p:sldId id="406" r:id="rId4"/>
    <p:sldId id="353" r:id="rId5"/>
    <p:sldId id="328" r:id="rId6"/>
    <p:sldId id="411" r:id="rId7"/>
    <p:sldId id="412" r:id="rId8"/>
    <p:sldId id="413" r:id="rId9"/>
    <p:sldId id="415" r:id="rId10"/>
    <p:sldId id="414" r:id="rId11"/>
    <p:sldId id="417" r:id="rId12"/>
    <p:sldId id="418" r:id="rId13"/>
    <p:sldId id="420" r:id="rId14"/>
    <p:sldId id="421" r:id="rId15"/>
    <p:sldId id="425" r:id="rId16"/>
    <p:sldId id="422" r:id="rId17"/>
    <p:sldId id="423" r:id="rId18"/>
    <p:sldId id="424" r:id="rId19"/>
    <p:sldId id="419" r:id="rId20"/>
    <p:sldId id="432" r:id="rId21"/>
    <p:sldId id="426" r:id="rId22"/>
    <p:sldId id="427" r:id="rId23"/>
    <p:sldId id="433" r:id="rId24"/>
    <p:sldId id="434" r:id="rId25"/>
    <p:sldId id="435" r:id="rId26"/>
    <p:sldId id="438" r:id="rId27"/>
    <p:sldId id="439" r:id="rId28"/>
    <p:sldId id="428" r:id="rId29"/>
    <p:sldId id="430" r:id="rId30"/>
    <p:sldId id="436" r:id="rId31"/>
    <p:sldId id="437" r:id="rId32"/>
    <p:sldId id="429" r:id="rId33"/>
    <p:sldId id="409" r:id="rId34"/>
    <p:sldId id="410" r:id="rId35"/>
    <p:sldId id="372" r:id="rId36"/>
    <p:sldId id="373"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422049-DD27-4B48-B61B-9490F3BF786D}">
          <p14:sldIdLst>
            <p14:sldId id="403"/>
          </p14:sldIdLst>
        </p14:section>
        <p14:section name="Section 1" id="{24B8932D-09E9-4A76-B28D-76CC734B710F}">
          <p14:sldIdLst>
            <p14:sldId id="404"/>
            <p14:sldId id="406"/>
            <p14:sldId id="353"/>
            <p14:sldId id="328"/>
            <p14:sldId id="411"/>
            <p14:sldId id="412"/>
            <p14:sldId id="413"/>
            <p14:sldId id="415"/>
            <p14:sldId id="414"/>
            <p14:sldId id="417"/>
            <p14:sldId id="418"/>
            <p14:sldId id="420"/>
            <p14:sldId id="421"/>
            <p14:sldId id="425"/>
            <p14:sldId id="422"/>
            <p14:sldId id="423"/>
            <p14:sldId id="424"/>
            <p14:sldId id="419"/>
            <p14:sldId id="432"/>
            <p14:sldId id="426"/>
            <p14:sldId id="427"/>
            <p14:sldId id="433"/>
            <p14:sldId id="434"/>
            <p14:sldId id="435"/>
            <p14:sldId id="438"/>
            <p14:sldId id="439"/>
            <p14:sldId id="428"/>
            <p14:sldId id="430"/>
            <p14:sldId id="436"/>
            <p14:sldId id="437"/>
            <p14:sldId id="429"/>
            <p14:sldId id="409"/>
            <p14:sldId id="410"/>
            <p14:sldId id="372"/>
            <p14:sldId id="3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3D933C-5DFA-4300-A746-E2480BC9EADD}" type="datetimeFigureOut">
              <a:rPr lang="en-US" smtClean="0"/>
              <a:t>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9143-F1E5-47E5-8E2F-AB776D3CD027}" type="slidenum">
              <a:rPr lang="en-US" smtClean="0"/>
              <a:t>‹#›</a:t>
            </a:fld>
            <a:endParaRPr lang="en-US"/>
          </a:p>
        </p:txBody>
      </p:sp>
    </p:spTree>
    <p:extLst>
      <p:ext uri="{BB962C8B-B14F-4D97-AF65-F5344CB8AC3E}">
        <p14:creationId xmlns:p14="http://schemas.microsoft.com/office/powerpoint/2010/main" val="2025790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1caab1d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1caab1d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B0D102-67C5-472C-845B-B11A7180362D}" type="slidenum">
              <a:rPr lang="en-US" smtClean="0"/>
              <a:t>2</a:t>
            </a:fld>
            <a:endParaRPr lang="en-US"/>
          </a:p>
        </p:txBody>
      </p:sp>
    </p:spTree>
    <p:extLst>
      <p:ext uri="{BB962C8B-B14F-4D97-AF65-F5344CB8AC3E}">
        <p14:creationId xmlns:p14="http://schemas.microsoft.com/office/powerpoint/2010/main" val="3454694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B0D102-67C5-472C-845B-B11A7180362D}" type="slidenum">
              <a:rPr lang="en-US" smtClean="0"/>
              <a:t>3</a:t>
            </a:fld>
            <a:endParaRPr lang="en-US"/>
          </a:p>
        </p:txBody>
      </p:sp>
    </p:spTree>
    <p:extLst>
      <p:ext uri="{BB962C8B-B14F-4D97-AF65-F5344CB8AC3E}">
        <p14:creationId xmlns:p14="http://schemas.microsoft.com/office/powerpoint/2010/main" val="1179609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30500608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2412420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6952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CB3317-DAD0-47F7-890A-73946873BB7B}"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1164659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CB3317-DAD0-47F7-890A-73946873BB7B}" type="datetimeFigureOut">
              <a:rPr lang="en-US" smtClean="0"/>
              <a:t>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127477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CB3317-DAD0-47F7-890A-73946873BB7B}" type="datetimeFigureOut">
              <a:rPr lang="en-US" smtClean="0"/>
              <a:t>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1648897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6CB3317-DAD0-47F7-890A-73946873BB7B}" type="datetimeFigureOut">
              <a:rPr lang="en-US" smtClean="0"/>
              <a:t>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3779466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B3317-DAD0-47F7-890A-73946873BB7B}"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3385452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B3317-DAD0-47F7-890A-73946873BB7B}" type="datetimeFigureOut">
              <a:rPr lang="en-US" smtClean="0"/>
              <a:t>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3869148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B98CD3-27C6-4EAF-AE0F-D2D199A5B035}" type="datetime1">
              <a:rPr lang="en-US" smtClean="0"/>
              <a:t>1/7/2024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6152999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988424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40255721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B98CD3-27C6-4EAF-AE0F-D2D199A5B035}" type="datetime1">
              <a:rPr lang="en-US" smtClean="0"/>
              <a:t>1/7/2024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56066376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1939211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296939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1466693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3317-DAD0-47F7-890A-73946873BB7B}" type="datetimeFigureOut">
              <a:rPr lang="en-US" smtClean="0"/>
              <a:t>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693126-6F63-4D80-9C82-ADC9072A4A9E}" type="slidenum">
              <a:rPr lang="en-US" smtClean="0"/>
              <a:t>‹#›</a:t>
            </a:fld>
            <a:endParaRPr lang="en-US"/>
          </a:p>
        </p:txBody>
      </p:sp>
    </p:spTree>
    <p:extLst>
      <p:ext uri="{BB962C8B-B14F-4D97-AF65-F5344CB8AC3E}">
        <p14:creationId xmlns:p14="http://schemas.microsoft.com/office/powerpoint/2010/main" val="2723681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6CB3317-DAD0-47F7-890A-73946873BB7B}" type="datetimeFigureOut">
              <a:rPr lang="en-US" smtClean="0"/>
              <a:t>1/7/2024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4693126-6F63-4D80-9C82-ADC9072A4A9E}" type="slidenum">
              <a:rPr lang="en-US" smtClean="0"/>
              <a:t>‹#›</a:t>
            </a:fld>
            <a:endParaRPr lang="en-US"/>
          </a:p>
        </p:txBody>
      </p:sp>
    </p:spTree>
    <p:extLst>
      <p:ext uri="{BB962C8B-B14F-4D97-AF65-F5344CB8AC3E}">
        <p14:creationId xmlns:p14="http://schemas.microsoft.com/office/powerpoint/2010/main" val="3208649581"/>
      </p:ext>
    </p:extLst>
  </p:cSld>
  <p:clrMap bg1="dk1" tx1="lt1" bg2="dk2" tx2="lt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p:nvPr/>
        </p:nvSpPr>
        <p:spPr>
          <a:xfrm>
            <a:off x="2303000" y="1637533"/>
            <a:ext cx="7586000" cy="33024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82" name="Google Shape;282;p30"/>
          <p:cNvSpPr txBox="1">
            <a:spLocks noGrp="1"/>
          </p:cNvSpPr>
          <p:nvPr>
            <p:ph type="ctrTitle"/>
          </p:nvPr>
        </p:nvSpPr>
        <p:spPr>
          <a:xfrm>
            <a:off x="2167800" y="1688368"/>
            <a:ext cx="7856400" cy="3184548"/>
          </a:xfrm>
          <a:prstGeom prst="rect">
            <a:avLst/>
          </a:prstGeom>
        </p:spPr>
        <p:txBody>
          <a:bodyPr spcFirstLastPara="1" vert="horz" wrap="square" lIns="121900" tIns="121900" rIns="121900" bIns="121900" rtlCol="0" anchor="ctr" anchorCtr="0">
            <a:noAutofit/>
          </a:bodyPr>
          <a:lstStyle/>
          <a:p>
            <a:pPr algn="ctr">
              <a:spcBef>
                <a:spcPts val="0"/>
              </a:spcBef>
            </a:pPr>
            <a:r>
              <a:rPr lang="it-IT" sz="7200" b="1" dirty="0"/>
              <a:t>Intro to Computer Vision &amp; NLP</a:t>
            </a:r>
            <a:endParaRPr lang="en-US" b="1" dirty="0">
              <a:solidFill>
                <a:srgbClr val="CC0000"/>
              </a:solidFill>
            </a:endParaRPr>
          </a:p>
        </p:txBody>
      </p:sp>
      <p:sp>
        <p:nvSpPr>
          <p:cNvPr id="283" name="Google Shape;283;p30"/>
          <p:cNvSpPr txBox="1">
            <a:spLocks noGrp="1"/>
          </p:cNvSpPr>
          <p:nvPr>
            <p:ph type="subTitle" idx="1"/>
          </p:nvPr>
        </p:nvSpPr>
        <p:spPr>
          <a:xfrm>
            <a:off x="2335832" y="5361218"/>
            <a:ext cx="7856400" cy="631600"/>
          </a:xfrm>
          <a:prstGeom prst="rect">
            <a:avLst/>
          </a:prstGeom>
        </p:spPr>
        <p:txBody>
          <a:bodyPr spcFirstLastPara="1" vert="horz" wrap="square" lIns="121900" tIns="121900" rIns="121900" bIns="121900" rtlCol="0" anchor="ctr" anchorCtr="0">
            <a:noAutofit/>
          </a:bodyPr>
          <a:lstStyle/>
          <a:p>
            <a:pPr algn="ctr" rtl="1"/>
            <a:r>
              <a:rPr lang="en" sz="2000" b="1" dirty="0"/>
              <a:t>Eng- Mohamed Khaled Idris</a:t>
            </a:r>
          </a:p>
          <a:p>
            <a:pPr algn="ctr" rtl="1"/>
            <a:r>
              <a:rPr lang="en-US" sz="2000" b="1" dirty="0"/>
              <a:t>E</a:t>
            </a:r>
            <a:r>
              <a:rPr lang="en" sz="2000" b="1" dirty="0"/>
              <a:t>ng- mayar swilam</a:t>
            </a:r>
          </a:p>
        </p:txBody>
      </p:sp>
      <p:grpSp>
        <p:nvGrpSpPr>
          <p:cNvPr id="284" name="Google Shape;284;p30"/>
          <p:cNvGrpSpPr/>
          <p:nvPr/>
        </p:nvGrpSpPr>
        <p:grpSpPr>
          <a:xfrm>
            <a:off x="1342410" y="650129"/>
            <a:ext cx="384801" cy="1462257"/>
            <a:chOff x="1006700" y="2603975"/>
            <a:chExt cx="55450" cy="210700"/>
          </a:xfrm>
        </p:grpSpPr>
        <p:sp>
          <p:nvSpPr>
            <p:cNvPr id="285" name="Google Shape;285;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6" name="Google Shape;286;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7" name="Google Shape;287;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8" name="Google Shape;288;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89" name="Google Shape;289;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0" name="Google Shape;290;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291" name="Google Shape;291;p30"/>
          <p:cNvGrpSpPr/>
          <p:nvPr/>
        </p:nvGrpSpPr>
        <p:grpSpPr>
          <a:xfrm rot="5400000">
            <a:off x="10359410" y="5209029"/>
            <a:ext cx="384801" cy="1462257"/>
            <a:chOff x="1006700" y="2603975"/>
            <a:chExt cx="55450" cy="210700"/>
          </a:xfrm>
        </p:grpSpPr>
        <p:sp>
          <p:nvSpPr>
            <p:cNvPr id="292" name="Google Shape;292;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3" name="Google Shape;293;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4" name="Google Shape;294;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5" name="Google Shape;295;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6" name="Google Shape;296;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sp>
          <p:nvSpPr>
            <p:cNvPr id="297" name="Google Shape;297;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121900" tIns="121900" rIns="121900" bIns="121900" anchor="ctr" anchorCtr="0">
              <a:noAutofit/>
            </a:bodyPr>
            <a:lstStyle/>
            <a:p>
              <a:endParaRPr sz="2400"/>
            </a:p>
          </p:txBody>
        </p:sp>
      </p:grpSp>
      <p:grpSp>
        <p:nvGrpSpPr>
          <p:cNvPr id="298" name="Google Shape;298;p30"/>
          <p:cNvGrpSpPr/>
          <p:nvPr/>
        </p:nvGrpSpPr>
        <p:grpSpPr>
          <a:xfrm>
            <a:off x="734833" y="4839603"/>
            <a:ext cx="1571516" cy="1462255"/>
            <a:chOff x="827350" y="3629733"/>
            <a:chExt cx="1431600" cy="1332067"/>
          </a:xfrm>
        </p:grpSpPr>
        <p:sp>
          <p:nvSpPr>
            <p:cNvPr id="299" name="Google Shape;29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0" name="Google Shape;30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1" name="Google Shape;30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02" name="Google Shape;302;p30"/>
          <p:cNvGrpSpPr/>
          <p:nvPr/>
        </p:nvGrpSpPr>
        <p:grpSpPr>
          <a:xfrm>
            <a:off x="430136" y="3870413"/>
            <a:ext cx="1041632" cy="969212"/>
            <a:chOff x="827350" y="3629733"/>
            <a:chExt cx="1431600" cy="1332067"/>
          </a:xfrm>
        </p:grpSpPr>
        <p:sp>
          <p:nvSpPr>
            <p:cNvPr id="303" name="Google Shape;303;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4" name="Google Shape;304;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5" name="Google Shape;305;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06" name="Google Shape;306;p30"/>
          <p:cNvGrpSpPr/>
          <p:nvPr/>
        </p:nvGrpSpPr>
        <p:grpSpPr>
          <a:xfrm>
            <a:off x="2421586" y="5859798"/>
            <a:ext cx="475100" cy="442069"/>
            <a:chOff x="827350" y="3629733"/>
            <a:chExt cx="1431600" cy="1332067"/>
          </a:xfrm>
        </p:grpSpPr>
        <p:sp>
          <p:nvSpPr>
            <p:cNvPr id="307" name="Google Shape;307;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08" name="Google Shape;308;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09" name="Google Shape;309;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0" name="Google Shape;310;p30"/>
          <p:cNvGrpSpPr/>
          <p:nvPr/>
        </p:nvGrpSpPr>
        <p:grpSpPr>
          <a:xfrm>
            <a:off x="9955002" y="292951"/>
            <a:ext cx="1193573" cy="1110589"/>
            <a:chOff x="827350" y="3629733"/>
            <a:chExt cx="1431600" cy="1332067"/>
          </a:xfrm>
        </p:grpSpPr>
        <p:sp>
          <p:nvSpPr>
            <p:cNvPr id="311" name="Google Shape;311;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12" name="Google Shape;312;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13" name="Google Shape;313;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4" name="Google Shape;314;p30"/>
          <p:cNvGrpSpPr/>
          <p:nvPr/>
        </p:nvGrpSpPr>
        <p:grpSpPr>
          <a:xfrm>
            <a:off x="10841711" y="1420954"/>
            <a:ext cx="798643" cy="743116"/>
            <a:chOff x="827350" y="3629733"/>
            <a:chExt cx="1431600" cy="1332067"/>
          </a:xfrm>
        </p:grpSpPr>
        <p:sp>
          <p:nvSpPr>
            <p:cNvPr id="315" name="Google Shape;315;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16" name="Google Shape;316;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17" name="Google Shape;317;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grpSp>
        <p:nvGrpSpPr>
          <p:cNvPr id="318" name="Google Shape;318;p30"/>
          <p:cNvGrpSpPr/>
          <p:nvPr/>
        </p:nvGrpSpPr>
        <p:grpSpPr>
          <a:xfrm>
            <a:off x="9201641" y="827560"/>
            <a:ext cx="619024" cy="575985"/>
            <a:chOff x="827350" y="3629733"/>
            <a:chExt cx="1431600" cy="1332067"/>
          </a:xfrm>
        </p:grpSpPr>
        <p:sp>
          <p:nvSpPr>
            <p:cNvPr id="319" name="Google Shape;31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121900" tIns="121900" rIns="121900" bIns="121900" anchor="ctr" anchorCtr="0">
              <a:noAutofit/>
            </a:bodyPr>
            <a:lstStyle/>
            <a:p>
              <a:endParaRPr sz="2400"/>
            </a:p>
          </p:txBody>
        </p:sp>
        <p:sp>
          <p:nvSpPr>
            <p:cNvPr id="320" name="Google Shape;32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121900" tIns="121900" rIns="121900" bIns="121900" anchor="ctr" anchorCtr="0">
              <a:noAutofit/>
            </a:bodyPr>
            <a:lstStyle/>
            <a:p>
              <a:endParaRPr sz="2400"/>
            </a:p>
          </p:txBody>
        </p:sp>
        <p:sp>
          <p:nvSpPr>
            <p:cNvPr id="321" name="Google Shape;32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121900" tIns="121900" rIns="121900" bIns="121900" anchor="ctr" anchorCtr="0">
              <a:noAutofit/>
            </a:bodyPr>
            <a:lstStyle/>
            <a:p>
              <a:endParaRPr sz="24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process&#10;&#10;Description automatically generated">
            <a:extLst>
              <a:ext uri="{FF2B5EF4-FFF2-40B4-BE49-F238E27FC236}">
                <a16:creationId xmlns:a16="http://schemas.microsoft.com/office/drawing/2014/main" id="{798CC066-2971-907F-5885-ED1CAE8640D9}"/>
              </a:ext>
            </a:extLst>
          </p:cNvPr>
          <p:cNvPicPr>
            <a:picLocks noChangeAspect="1"/>
          </p:cNvPicPr>
          <p:nvPr/>
        </p:nvPicPr>
        <p:blipFill>
          <a:blip r:embed="rId3">
            <a:grayscl/>
          </a:blip>
          <a:stretch>
            <a:fillRect/>
          </a:stretch>
        </p:blipFill>
        <p:spPr>
          <a:xfrm>
            <a:off x="1" y="-30475"/>
            <a:ext cx="12192000" cy="6888476"/>
          </a:xfrm>
          <a:prstGeom prst="rect">
            <a:avLst/>
          </a:prstGeom>
        </p:spPr>
      </p:pic>
      <p:sp>
        <p:nvSpPr>
          <p:cNvPr id="4" name="Slide Number Placeholder 3">
            <a:extLst>
              <a:ext uri="{FF2B5EF4-FFF2-40B4-BE49-F238E27FC236}">
                <a16:creationId xmlns:a16="http://schemas.microsoft.com/office/drawing/2014/main" id="{D85880A8-640C-4590-0F9E-F40A0A898DF3}"/>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50301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5880A8-640C-4590-0F9E-F40A0A898DF3}"/>
              </a:ext>
            </a:extLst>
          </p:cNvPr>
          <p:cNvSpPr>
            <a:spLocks noGrp="1"/>
          </p:cNvSpPr>
          <p:nvPr>
            <p:ph type="sldNum" sz="quarter" idx="12"/>
          </p:nvPr>
        </p:nvSpPr>
        <p:spPr>
          <a:xfrm>
            <a:off x="9896911" y="6309360"/>
            <a:ext cx="771089" cy="365125"/>
          </a:xfrm>
        </p:spPr>
        <p:txBody>
          <a:bodyPr vert="horz" lIns="91440" tIns="45720" rIns="91440" bIns="45720" rtlCol="0" anchor="ctr">
            <a:normAutofit/>
          </a:bodyPr>
          <a:lstStyle/>
          <a:p>
            <a:pPr>
              <a:spcAft>
                <a:spcPts val="600"/>
              </a:spcAft>
            </a:pPr>
            <a:fld id="{34B7E4EF-A1BD-40F4-AB7B-04F084DD991D}" type="slidenum">
              <a:rPr lang="en-US">
                <a:solidFill>
                  <a:srgbClr val="FFFFFF"/>
                </a:solidFill>
              </a:rPr>
              <a:pPr>
                <a:spcAft>
                  <a:spcPts val="600"/>
                </a:spcAft>
              </a:pPr>
              <a:t>3</a:t>
            </a:fld>
            <a:endParaRPr lang="en-US">
              <a:solidFill>
                <a:srgbClr val="FFFFFF"/>
              </a:solidFill>
            </a:endParaRPr>
          </a:p>
        </p:txBody>
      </p:sp>
      <p:pic>
        <p:nvPicPr>
          <p:cNvPr id="3" name="Picture 2">
            <a:extLst>
              <a:ext uri="{FF2B5EF4-FFF2-40B4-BE49-F238E27FC236}">
                <a16:creationId xmlns:a16="http://schemas.microsoft.com/office/drawing/2014/main" id="{B3CE20D9-38DF-26CF-A83A-86785A91B3E7}"/>
              </a:ext>
            </a:extLst>
          </p:cNvPr>
          <p:cNvPicPr>
            <a:picLocks noChangeAspect="1"/>
          </p:cNvPicPr>
          <p:nvPr/>
        </p:nvPicPr>
        <p:blipFill rotWithShape="1">
          <a:blip r:embed="rId3"/>
          <a:srcRect b="-177"/>
          <a:stretch/>
        </p:blipFill>
        <p:spPr>
          <a:xfrm>
            <a:off x="0" y="0"/>
            <a:ext cx="12192000" cy="6870149"/>
          </a:xfrm>
          <a:prstGeom prst="rect">
            <a:avLst/>
          </a:prstGeom>
        </p:spPr>
      </p:pic>
    </p:spTree>
    <p:extLst>
      <p:ext uri="{BB962C8B-B14F-4D97-AF65-F5344CB8AC3E}">
        <p14:creationId xmlns:p14="http://schemas.microsoft.com/office/powerpoint/2010/main" val="147929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6" name="Picture 5" descr="A diagram of machine learning&#10;&#10;Description automatically generated">
            <a:extLst>
              <a:ext uri="{FF2B5EF4-FFF2-40B4-BE49-F238E27FC236}">
                <a16:creationId xmlns:a16="http://schemas.microsoft.com/office/drawing/2014/main" id="{A9639548-B17E-91C0-646B-1C4104D8751E}"/>
              </a:ext>
            </a:extLst>
          </p:cNvPr>
          <p:cNvPicPr>
            <a:picLocks noChangeAspect="1"/>
          </p:cNvPicPr>
          <p:nvPr/>
        </p:nvPicPr>
        <p:blipFill rotWithShape="1">
          <a:blip r:embed="rId3">
            <a:extLst>
              <a:ext uri="{28A0092B-C50C-407E-A947-70E740481C1C}">
                <a14:useLocalDpi xmlns:a14="http://schemas.microsoft.com/office/drawing/2010/main" val="0"/>
              </a:ext>
            </a:extLst>
          </a:blip>
          <a:srcRect r="860" b="-2"/>
          <a:stretch/>
        </p:blipFill>
        <p:spPr>
          <a:xfrm>
            <a:off x="20" y="10"/>
            <a:ext cx="12191980" cy="6857990"/>
          </a:xfrm>
          <a:prstGeom prst="rect">
            <a:avLst/>
          </a:prstGeom>
        </p:spPr>
      </p:pic>
    </p:spTree>
    <p:extLst>
      <p:ext uri="{BB962C8B-B14F-4D97-AF65-F5344CB8AC3E}">
        <p14:creationId xmlns:p14="http://schemas.microsoft.com/office/powerpoint/2010/main" val="940271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8" name="Picture 7" descr="A diagram of a machine learning&#10;&#10;Description automatically generated">
            <a:extLst>
              <a:ext uri="{FF2B5EF4-FFF2-40B4-BE49-F238E27FC236}">
                <a16:creationId xmlns:a16="http://schemas.microsoft.com/office/drawing/2014/main" id="{6ECA9AD8-CCB6-128F-593E-0B466DB98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4083" y="643467"/>
            <a:ext cx="6963833" cy="5571066"/>
          </a:xfrm>
          <a:prstGeom prst="rect">
            <a:avLst/>
          </a:prstGeom>
        </p:spPr>
      </p:pic>
      <p:sp>
        <p:nvSpPr>
          <p:cNvPr id="4" name="Slide Number Placeholder 3">
            <a:extLst>
              <a:ext uri="{FF2B5EF4-FFF2-40B4-BE49-F238E27FC236}">
                <a16:creationId xmlns:a16="http://schemas.microsoft.com/office/drawing/2014/main" id="{76B968AE-AD46-3C35-AB07-C89F48191612}"/>
              </a:ext>
            </a:extLst>
          </p:cNvPr>
          <p:cNvSpPr>
            <a:spLocks noGrp="1"/>
          </p:cNvSpPr>
          <p:nvPr>
            <p:ph type="sldNum" sz="quarter" idx="12"/>
          </p:nvPr>
        </p:nvSpPr>
        <p:spPr>
          <a:xfrm>
            <a:off x="10276321" y="6442565"/>
            <a:ext cx="771089" cy="365125"/>
          </a:xfrm>
        </p:spPr>
        <p:txBody>
          <a:bodyPr vert="horz" lIns="91440" tIns="45720" rIns="91440" bIns="45720" rtlCol="0" anchor="ctr">
            <a:normAutofit/>
          </a:bodyPr>
          <a:lstStyle/>
          <a:p>
            <a:pPr defTabSz="457200">
              <a:spcAft>
                <a:spcPts val="600"/>
              </a:spcAft>
            </a:pPr>
            <a:fld id="{34B7E4EF-A1BD-40F4-AB7B-04F084DD991D}" type="slidenum">
              <a:rPr lang="en-US">
                <a:solidFill>
                  <a:schemeClr val="tx1"/>
                </a:solidFill>
              </a:rPr>
              <a:pPr defTabSz="457200">
                <a:spcAft>
                  <a:spcPts val="600"/>
                </a:spcAft>
              </a:pPr>
              <a:t>5</a:t>
            </a:fld>
            <a:endParaRPr lang="en-US">
              <a:solidFill>
                <a:schemeClr val="tx1"/>
              </a:solidFill>
            </a:endParaRPr>
          </a:p>
        </p:txBody>
      </p:sp>
    </p:spTree>
    <p:extLst>
      <p:ext uri="{BB962C8B-B14F-4D97-AF65-F5344CB8AC3E}">
        <p14:creationId xmlns:p14="http://schemas.microsoft.com/office/powerpoint/2010/main" val="362821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D36E1-20C8-4BB8-4DCB-C72FF4FCCD02}"/>
              </a:ext>
            </a:extLst>
          </p:cNvPr>
          <p:cNvSpPr>
            <a:spLocks noGrp="1"/>
          </p:cNvSpPr>
          <p:nvPr>
            <p:ph type="title"/>
          </p:nvPr>
        </p:nvSpPr>
        <p:spPr/>
        <p:txBody>
          <a:bodyPr/>
          <a:lstStyle/>
          <a:p>
            <a:r>
              <a:rPr lang="en-US" sz="3600" dirty="0"/>
              <a:t>Data science and its History</a:t>
            </a:r>
            <a:endParaRPr lang="en-US" dirty="0"/>
          </a:p>
        </p:txBody>
      </p:sp>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6</a:t>
            </a:fld>
            <a:endParaRPr lang="en-US"/>
          </a:p>
        </p:txBody>
      </p:sp>
      <p:sp>
        <p:nvSpPr>
          <p:cNvPr id="6" name="TextBox 5">
            <a:extLst>
              <a:ext uri="{FF2B5EF4-FFF2-40B4-BE49-F238E27FC236}">
                <a16:creationId xmlns:a16="http://schemas.microsoft.com/office/drawing/2014/main" id="{04F51B93-F543-7093-B721-AA460EC0B006}"/>
              </a:ext>
            </a:extLst>
          </p:cNvPr>
          <p:cNvSpPr txBox="1"/>
          <p:nvPr/>
        </p:nvSpPr>
        <p:spPr>
          <a:xfrm>
            <a:off x="798514" y="1923288"/>
            <a:ext cx="5639993" cy="4154984"/>
          </a:xfrm>
          <a:prstGeom prst="rect">
            <a:avLst/>
          </a:prstGeom>
          <a:noFill/>
        </p:spPr>
        <p:txBody>
          <a:bodyPr wrap="square">
            <a:spAutoFit/>
          </a:bodyPr>
          <a:lstStyle/>
          <a:p>
            <a:pPr marL="285750" indent="-285750">
              <a:buFont typeface="Arial" panose="020B0604020202020204" pitchFamily="34" charset="0"/>
              <a:buChar char="•"/>
            </a:pPr>
            <a:r>
              <a:rPr lang="en-US" sz="2400" b="0" i="0" dirty="0">
                <a:solidFill>
                  <a:srgbClr val="D1D5DB"/>
                </a:solidFill>
                <a:effectLst/>
                <a:latin typeface="Söhne"/>
              </a:rPr>
              <a:t>The term "Data Science" originated in the early 1960s to address the challenges of interpreting and understanding the increasing volumes of data being generated. Initially focused on supporting various fields with statistical methods, Data Science has evolved over the years to incorporate computer science, artificial intelligence, machine learning, and the Internet of Things. Statistics remains a fundamental aspect of Data Science.</a:t>
            </a:r>
          </a:p>
        </p:txBody>
      </p:sp>
      <p:pic>
        <p:nvPicPr>
          <p:cNvPr id="3" name="Picture 2" descr="What is Data Science?: Beginner's Guide">
            <a:extLst>
              <a:ext uri="{FF2B5EF4-FFF2-40B4-BE49-F238E27FC236}">
                <a16:creationId xmlns:a16="http://schemas.microsoft.com/office/drawing/2014/main" id="{46F2A780-754E-EC07-DA07-28A2D0FBD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8507" y="2065867"/>
            <a:ext cx="5460885" cy="4449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794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D36E1-20C8-4BB8-4DCB-C72FF4FCCD02}"/>
              </a:ext>
            </a:extLst>
          </p:cNvPr>
          <p:cNvSpPr>
            <a:spLocks noGrp="1"/>
          </p:cNvSpPr>
          <p:nvPr>
            <p:ph type="title"/>
          </p:nvPr>
        </p:nvSpPr>
        <p:spPr/>
        <p:txBody>
          <a:bodyPr/>
          <a:lstStyle/>
          <a:p>
            <a:r>
              <a:rPr lang="en-US" sz="3600" dirty="0"/>
              <a:t>Data science and its History</a:t>
            </a:r>
            <a:endParaRPr lang="en-US" dirty="0"/>
          </a:p>
        </p:txBody>
      </p:sp>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7</a:t>
            </a:fld>
            <a:endParaRPr lang="en-US"/>
          </a:p>
        </p:txBody>
      </p:sp>
      <p:sp>
        <p:nvSpPr>
          <p:cNvPr id="6" name="TextBox 5">
            <a:extLst>
              <a:ext uri="{FF2B5EF4-FFF2-40B4-BE49-F238E27FC236}">
                <a16:creationId xmlns:a16="http://schemas.microsoft.com/office/drawing/2014/main" id="{04F51B93-F543-7093-B721-AA460EC0B006}"/>
              </a:ext>
            </a:extLst>
          </p:cNvPr>
          <p:cNvSpPr txBox="1"/>
          <p:nvPr/>
        </p:nvSpPr>
        <p:spPr>
          <a:xfrm>
            <a:off x="807941" y="1923288"/>
            <a:ext cx="10494797" cy="4247317"/>
          </a:xfrm>
          <a:prstGeom prst="rect">
            <a:avLst/>
          </a:prstGeom>
          <a:noFill/>
        </p:spPr>
        <p:txBody>
          <a:bodyPr wrap="square">
            <a:spAutoFit/>
          </a:bodyPr>
          <a:lstStyle/>
          <a:p>
            <a:pPr algn="l">
              <a:buFont typeface="+mj-lt"/>
              <a:buAutoNum type="arabicPeriod"/>
            </a:pPr>
            <a:r>
              <a:rPr lang="en-US" b="1" i="0" dirty="0">
                <a:solidFill>
                  <a:srgbClr val="D1D5DB"/>
                </a:solidFill>
                <a:effectLst/>
                <a:latin typeface="Söhne"/>
              </a:rPr>
              <a:t>Early Years (1960s-1980s):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foundations of data science can be traced back to statistics and computer science. Statisticians have long been involved in analyzing data to draw conclusions and make predictions.</a:t>
            </a:r>
          </a:p>
          <a:p>
            <a:pPr marL="742950" lvl="1" indent="-285750" algn="l">
              <a:buFont typeface="+mj-lt"/>
              <a:buAutoNum type="arabicPeriod"/>
            </a:pPr>
            <a:r>
              <a:rPr lang="en-US" b="0" i="0" dirty="0">
                <a:solidFill>
                  <a:srgbClr val="D1D5DB"/>
                </a:solidFill>
                <a:effectLst/>
                <a:latin typeface="Söhne"/>
              </a:rPr>
              <a:t>During the 1960s and 1970s, the advent of computers and the growth of databases led to the development of techniques for managing and processing large datasets.</a:t>
            </a:r>
          </a:p>
          <a:p>
            <a:pPr algn="l">
              <a:buFont typeface="+mj-lt"/>
              <a:buAutoNum type="arabicPeriod"/>
            </a:pPr>
            <a:r>
              <a:rPr lang="en-US" b="1" i="0" dirty="0">
                <a:solidFill>
                  <a:srgbClr val="D1D5DB"/>
                </a:solidFill>
                <a:effectLst/>
                <a:latin typeface="Söhne"/>
              </a:rPr>
              <a:t>The Rise of Big Data (1990s-2000s):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term "data science" began to gain prominence in the late 1990s. However, it wasn't until the early 2000s that the concept started to crystallize.</a:t>
            </a:r>
          </a:p>
          <a:p>
            <a:pPr marL="742950" lvl="1" indent="-285750" algn="l">
              <a:buFont typeface="+mj-lt"/>
              <a:buAutoNum type="arabicPeriod"/>
            </a:pPr>
            <a:r>
              <a:rPr lang="en-US" b="0" i="0" dirty="0">
                <a:solidFill>
                  <a:srgbClr val="D1D5DB"/>
                </a:solidFill>
                <a:effectLst/>
                <a:latin typeface="Söhne"/>
              </a:rPr>
              <a:t>With the explosion of the internet, e-commerce, and social media, vast amounts of data became available, giving rise to the era of big data. Companies and researchers started grappling with the challenges of handling and extracting value from massive datasets.</a:t>
            </a:r>
          </a:p>
          <a:p>
            <a:pPr algn="l">
              <a:buFont typeface="+mj-lt"/>
              <a:buAutoNum type="arabicPeriod"/>
            </a:pPr>
            <a:r>
              <a:rPr lang="en-US" b="1" i="0" dirty="0">
                <a:solidFill>
                  <a:srgbClr val="D1D5DB"/>
                </a:solidFill>
                <a:effectLst/>
                <a:latin typeface="Söhne"/>
              </a:rPr>
              <a:t>Technological Advancements: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Parallel processing, distributed computing, and advancements in storage technologies played a crucial role in enabling the processing of large-scale datasets. Technologies like Hadoop emerged to handle distributed data processing</a:t>
            </a:r>
          </a:p>
        </p:txBody>
      </p:sp>
    </p:spTree>
    <p:extLst>
      <p:ext uri="{BB962C8B-B14F-4D97-AF65-F5344CB8AC3E}">
        <p14:creationId xmlns:p14="http://schemas.microsoft.com/office/powerpoint/2010/main" val="2653543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D36E1-20C8-4BB8-4DCB-C72FF4FCCD02}"/>
              </a:ext>
            </a:extLst>
          </p:cNvPr>
          <p:cNvSpPr>
            <a:spLocks noGrp="1"/>
          </p:cNvSpPr>
          <p:nvPr>
            <p:ph type="title"/>
          </p:nvPr>
        </p:nvSpPr>
        <p:spPr/>
        <p:txBody>
          <a:bodyPr/>
          <a:lstStyle/>
          <a:p>
            <a:r>
              <a:rPr lang="en-US" sz="3600" dirty="0"/>
              <a:t>Data science and its History</a:t>
            </a:r>
            <a:endParaRPr lang="en-US" dirty="0"/>
          </a:p>
        </p:txBody>
      </p:sp>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8</a:t>
            </a:fld>
            <a:endParaRPr lang="en-US"/>
          </a:p>
        </p:txBody>
      </p:sp>
      <p:sp>
        <p:nvSpPr>
          <p:cNvPr id="6" name="TextBox 5">
            <a:extLst>
              <a:ext uri="{FF2B5EF4-FFF2-40B4-BE49-F238E27FC236}">
                <a16:creationId xmlns:a16="http://schemas.microsoft.com/office/drawing/2014/main" id="{04F51B93-F543-7093-B721-AA460EC0B006}"/>
              </a:ext>
            </a:extLst>
          </p:cNvPr>
          <p:cNvSpPr txBox="1"/>
          <p:nvPr/>
        </p:nvSpPr>
        <p:spPr>
          <a:xfrm>
            <a:off x="760807" y="1876154"/>
            <a:ext cx="10928430" cy="4524315"/>
          </a:xfrm>
          <a:prstGeom prst="rect">
            <a:avLst/>
          </a:prstGeom>
          <a:noFill/>
        </p:spPr>
        <p:txBody>
          <a:bodyPr wrap="square">
            <a:spAutoFit/>
          </a:bodyPr>
          <a:lstStyle/>
          <a:p>
            <a:pPr algn="l"/>
            <a:r>
              <a:rPr lang="en-US" b="1" i="0" dirty="0">
                <a:solidFill>
                  <a:srgbClr val="D1D5DB"/>
                </a:solidFill>
                <a:effectLst/>
                <a:latin typeface="Söhne"/>
              </a:rPr>
              <a:t>5.Emergence of Data Science as a Discipline (2010s):</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As the need for expertise in handling big data grew, organizations began to recognize the importance of professionals who could not only manage data but also analyze it to extract actionable insights.</a:t>
            </a:r>
          </a:p>
          <a:p>
            <a:pPr marL="742950" lvl="1" indent="-285750" algn="l">
              <a:buFont typeface="+mj-lt"/>
              <a:buAutoNum type="arabicPeriod"/>
            </a:pPr>
            <a:r>
              <a:rPr lang="en-US" b="0" i="0" dirty="0">
                <a:solidFill>
                  <a:srgbClr val="D1D5DB"/>
                </a:solidFill>
                <a:effectLst/>
                <a:latin typeface="Söhne"/>
              </a:rPr>
              <a:t>Data science became an interdisciplinary field, borrowing concepts from statistics, mathematics, computer science, and domain expertise. The ability to derive insights from complex datasets became a valuable skill.</a:t>
            </a:r>
          </a:p>
          <a:p>
            <a:pPr algn="l"/>
            <a:r>
              <a:rPr lang="en-US" b="1" i="0" dirty="0">
                <a:solidFill>
                  <a:srgbClr val="D1D5DB"/>
                </a:solidFill>
                <a:effectLst/>
                <a:latin typeface="Söhne"/>
              </a:rPr>
              <a:t>6. Machine Learning and Artificial Intelligence (AI):</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The integration of machine learning and AI techniques into data science further expanded its capabilities. Predictive modelling, classification, clustering, and other ML techniques became essential tools for data scientists.</a:t>
            </a:r>
          </a:p>
          <a:p>
            <a:pPr algn="l"/>
            <a:r>
              <a:rPr lang="en-US" b="1" i="0" dirty="0">
                <a:solidFill>
                  <a:srgbClr val="D1D5DB"/>
                </a:solidFill>
                <a:effectLst/>
                <a:latin typeface="Söhne"/>
              </a:rPr>
              <a:t>7. Data Science in Industry:</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Organizations across various sectors, including finance, healthcare, marketing, and more, started employing data scientists to gain a competitive advantage, improve decision-making, and optimize processes.</a:t>
            </a:r>
          </a:p>
          <a:p>
            <a:pPr algn="l"/>
            <a:r>
              <a:rPr lang="en-US" b="1" i="0" dirty="0">
                <a:solidFill>
                  <a:srgbClr val="D1D5DB"/>
                </a:solidFill>
                <a:effectLst/>
                <a:latin typeface="Söhne"/>
              </a:rPr>
              <a:t>8. Ongoing Evolution (2020s and Beyond):</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Data science continues to evolve with advancements in technology, including the growth of cloud computing, the adoption of advanced analytics tools, and the integration of artificial intelligence into various applications. </a:t>
            </a:r>
          </a:p>
        </p:txBody>
      </p:sp>
    </p:spTree>
    <p:extLst>
      <p:ext uri="{BB962C8B-B14F-4D97-AF65-F5344CB8AC3E}">
        <p14:creationId xmlns:p14="http://schemas.microsoft.com/office/powerpoint/2010/main" val="2328056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9</a:t>
            </a:fld>
            <a:endParaRPr lang="en-US"/>
          </a:p>
        </p:txBody>
      </p:sp>
      <p:pic>
        <p:nvPicPr>
          <p:cNvPr id="2050" name="Picture 2" descr="Fields of Artificial Intelligence - SwissCognitive – The Global AI Hub">
            <a:extLst>
              <a:ext uri="{FF2B5EF4-FFF2-40B4-BE49-F238E27FC236}">
                <a16:creationId xmlns:a16="http://schemas.microsoft.com/office/drawing/2014/main" id="{EAA3E80C-EBE2-13F6-7E1A-3954B1EB09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784"/>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828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10</a:t>
            </a:fld>
            <a:endParaRPr lang="en-US"/>
          </a:p>
        </p:txBody>
      </p:sp>
      <p:sp>
        <p:nvSpPr>
          <p:cNvPr id="9" name="TextBox 8">
            <a:extLst>
              <a:ext uri="{FF2B5EF4-FFF2-40B4-BE49-F238E27FC236}">
                <a16:creationId xmlns:a16="http://schemas.microsoft.com/office/drawing/2014/main" id="{8FD2E85D-D4FA-E877-16DA-04CF84B46267}"/>
              </a:ext>
            </a:extLst>
          </p:cNvPr>
          <p:cNvSpPr txBox="1"/>
          <p:nvPr/>
        </p:nvSpPr>
        <p:spPr>
          <a:xfrm>
            <a:off x="1001598" y="590800"/>
            <a:ext cx="6094428" cy="830997"/>
          </a:xfrm>
          <a:prstGeom prst="rect">
            <a:avLst/>
          </a:prstGeom>
          <a:noFill/>
        </p:spPr>
        <p:txBody>
          <a:bodyPr wrap="square">
            <a:spAutoFit/>
          </a:bodyPr>
          <a:lstStyle/>
          <a:p>
            <a:r>
              <a:rPr lang="it-IT" sz="4800" b="1" dirty="0"/>
              <a:t>Computer Vision &amp; NLP</a:t>
            </a:r>
            <a:endParaRPr lang="en-US" sz="4800" dirty="0"/>
          </a:p>
        </p:txBody>
      </p:sp>
      <p:pic>
        <p:nvPicPr>
          <p:cNvPr id="4098" name="Picture 2" descr="Everything You Ever Wanted To Know About Computer Vision. | by Ilija  Mihajlovic | Towards Data Science">
            <a:extLst>
              <a:ext uri="{FF2B5EF4-FFF2-40B4-BE49-F238E27FC236}">
                <a16:creationId xmlns:a16="http://schemas.microsoft.com/office/drawing/2014/main" id="{33E72619-AF8F-DF7E-FF20-5C0C1CE40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357" y="2152993"/>
            <a:ext cx="5048238" cy="344652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Natural Language Processing (NLP) in AI - Technology Point">
            <a:extLst>
              <a:ext uri="{FF2B5EF4-FFF2-40B4-BE49-F238E27FC236}">
                <a16:creationId xmlns:a16="http://schemas.microsoft.com/office/drawing/2014/main" id="{363D99DE-5C18-343F-FBD6-9037470E5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6279" y="2152992"/>
            <a:ext cx="4997363" cy="3446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155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11</a:t>
            </a:fld>
            <a:endParaRPr lang="en-US"/>
          </a:p>
        </p:txBody>
      </p:sp>
      <p:sp>
        <p:nvSpPr>
          <p:cNvPr id="9" name="TextBox 8">
            <a:extLst>
              <a:ext uri="{FF2B5EF4-FFF2-40B4-BE49-F238E27FC236}">
                <a16:creationId xmlns:a16="http://schemas.microsoft.com/office/drawing/2014/main" id="{8FD2E85D-D4FA-E877-16DA-04CF84B46267}"/>
              </a:ext>
            </a:extLst>
          </p:cNvPr>
          <p:cNvSpPr txBox="1"/>
          <p:nvPr/>
        </p:nvSpPr>
        <p:spPr>
          <a:xfrm>
            <a:off x="1001598" y="590800"/>
            <a:ext cx="6094428" cy="830997"/>
          </a:xfrm>
          <a:prstGeom prst="rect">
            <a:avLst/>
          </a:prstGeom>
          <a:noFill/>
        </p:spPr>
        <p:txBody>
          <a:bodyPr wrap="square">
            <a:spAutoFit/>
          </a:bodyPr>
          <a:lstStyle/>
          <a:p>
            <a:r>
              <a:rPr lang="it-IT" sz="4800" b="1" dirty="0"/>
              <a:t>Computer Vision </a:t>
            </a:r>
            <a:endParaRPr lang="en-US" sz="4800" dirty="0"/>
          </a:p>
        </p:txBody>
      </p:sp>
      <p:sp>
        <p:nvSpPr>
          <p:cNvPr id="3" name="TextBox 2">
            <a:extLst>
              <a:ext uri="{FF2B5EF4-FFF2-40B4-BE49-F238E27FC236}">
                <a16:creationId xmlns:a16="http://schemas.microsoft.com/office/drawing/2014/main" id="{C905B60D-8A95-3048-7F5F-8C28BDCF8D63}"/>
              </a:ext>
            </a:extLst>
          </p:cNvPr>
          <p:cNvSpPr txBox="1"/>
          <p:nvPr/>
        </p:nvSpPr>
        <p:spPr>
          <a:xfrm>
            <a:off x="1001597" y="1759439"/>
            <a:ext cx="10122031" cy="3416320"/>
          </a:xfrm>
          <a:prstGeom prst="rect">
            <a:avLst/>
          </a:prstGeom>
          <a:noFill/>
        </p:spPr>
        <p:txBody>
          <a:bodyPr wrap="square">
            <a:spAutoFit/>
          </a:bodyPr>
          <a:lstStyle/>
          <a:p>
            <a:br>
              <a:rPr lang="en-US" sz="2400" dirty="0"/>
            </a:br>
            <a:r>
              <a:rPr lang="en-US" sz="2400" b="0" i="0" dirty="0">
                <a:solidFill>
                  <a:srgbClr val="D1D5DB"/>
                </a:solidFill>
                <a:effectLst/>
                <a:latin typeface="Söhne"/>
              </a:rPr>
              <a:t>Computer vision is a multidisciplinary field that enables computers to interpret and understand visual information from the world, similar to how humans perceive and interpret visual data. It involves the development of algorithms, models, and systems that allow machines to analyze and make decisions based on images or videos. </a:t>
            </a:r>
          </a:p>
          <a:p>
            <a:endParaRPr lang="en-US" sz="2400" dirty="0">
              <a:solidFill>
                <a:srgbClr val="D1D5DB"/>
              </a:solidFill>
              <a:latin typeface="Söhne"/>
            </a:endParaRPr>
          </a:p>
          <a:p>
            <a:r>
              <a:rPr lang="en-US" sz="2400" b="0" i="0" dirty="0">
                <a:solidFill>
                  <a:srgbClr val="D1D5DB"/>
                </a:solidFill>
                <a:effectLst/>
                <a:latin typeface="Söhne"/>
              </a:rPr>
              <a:t>Computer vision applications are diverse and can be found in various industries, including healthcare, automotive, agriculture, security, and entertainment.</a:t>
            </a:r>
            <a:endParaRPr lang="en-US" sz="2400" dirty="0"/>
          </a:p>
        </p:txBody>
      </p:sp>
    </p:spTree>
    <p:extLst>
      <p:ext uri="{BB962C8B-B14F-4D97-AF65-F5344CB8AC3E}">
        <p14:creationId xmlns:p14="http://schemas.microsoft.com/office/powerpoint/2010/main" val="26517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12</a:t>
            </a:fld>
            <a:endParaRPr lang="en-US"/>
          </a:p>
        </p:txBody>
      </p:sp>
      <p:pic>
        <p:nvPicPr>
          <p:cNvPr id="5126" name="Picture 6" descr="What is Computer Vision? Know Computer Vision Skills, Career Path,  Eligibility &amp; Courses | Shiksha Online">
            <a:extLst>
              <a:ext uri="{FF2B5EF4-FFF2-40B4-BE49-F238E27FC236}">
                <a16:creationId xmlns:a16="http://schemas.microsoft.com/office/drawing/2014/main" id="{49AC7AA4-D31D-AC57-2E48-5A344B6C6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61" y="0"/>
            <a:ext cx="1230512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7930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13</a:t>
            </a:fld>
            <a:endParaRPr lang="en-US"/>
          </a:p>
        </p:txBody>
      </p:sp>
      <p:pic>
        <p:nvPicPr>
          <p:cNvPr id="6146" name="Picture 2" descr="Eyes in the Machine: Computer Vision Core Concepts and Applications -  DatabaseTown">
            <a:extLst>
              <a:ext uri="{FF2B5EF4-FFF2-40B4-BE49-F238E27FC236}">
                <a16:creationId xmlns:a16="http://schemas.microsoft.com/office/drawing/2014/main" id="{1ACEE3D7-81C1-0E8B-ED0B-9BA49D6AE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95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14</a:t>
            </a:fld>
            <a:endParaRPr lang="en-US"/>
          </a:p>
        </p:txBody>
      </p:sp>
      <p:pic>
        <p:nvPicPr>
          <p:cNvPr id="8194" name="Picture 2" descr="What is Computer Vision Libraries and use cases of Computer Vision Libraries?  - DevOpsSchool.com">
            <a:extLst>
              <a:ext uri="{FF2B5EF4-FFF2-40B4-BE49-F238E27FC236}">
                <a16:creationId xmlns:a16="http://schemas.microsoft.com/office/drawing/2014/main" id="{07919C8D-691A-E9B0-9A11-C865D20CD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954" y="1498862"/>
            <a:ext cx="9275213" cy="466234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D91ABA8-9ED1-1E84-3FBE-3A877DD5E766}"/>
              </a:ext>
            </a:extLst>
          </p:cNvPr>
          <p:cNvSpPr txBox="1"/>
          <p:nvPr/>
        </p:nvSpPr>
        <p:spPr>
          <a:xfrm>
            <a:off x="1001598" y="590800"/>
            <a:ext cx="6094428" cy="830997"/>
          </a:xfrm>
          <a:prstGeom prst="rect">
            <a:avLst/>
          </a:prstGeom>
          <a:noFill/>
        </p:spPr>
        <p:txBody>
          <a:bodyPr wrap="square">
            <a:spAutoFit/>
          </a:bodyPr>
          <a:lstStyle/>
          <a:p>
            <a:r>
              <a:rPr lang="it-IT" sz="4800" b="1" dirty="0"/>
              <a:t>Computer Vision </a:t>
            </a:r>
            <a:endParaRPr lang="en-US" sz="4800" dirty="0"/>
          </a:p>
        </p:txBody>
      </p:sp>
    </p:spTree>
    <p:extLst>
      <p:ext uri="{BB962C8B-B14F-4D97-AF65-F5344CB8AC3E}">
        <p14:creationId xmlns:p14="http://schemas.microsoft.com/office/powerpoint/2010/main" val="1011265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Top 16 computer vision libraries [Updated 2023] | SuperAnnotate">
            <a:extLst>
              <a:ext uri="{FF2B5EF4-FFF2-40B4-BE49-F238E27FC236}">
                <a16:creationId xmlns:a16="http://schemas.microsoft.com/office/drawing/2014/main" id="{D4639340-A69A-7097-FA50-F2EC54910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64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16</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61B864D-E131-CA67-20CA-DB57AD88E13C}"/>
              </a:ext>
            </a:extLst>
          </p:cNvPr>
          <p:cNvSpPr txBox="1"/>
          <p:nvPr/>
        </p:nvSpPr>
        <p:spPr>
          <a:xfrm>
            <a:off x="1001598" y="590800"/>
            <a:ext cx="8566608" cy="830997"/>
          </a:xfrm>
          <a:prstGeom prst="rect">
            <a:avLst/>
          </a:prstGeom>
          <a:noFill/>
        </p:spPr>
        <p:txBody>
          <a:bodyPr wrap="square">
            <a:spAutoFit/>
          </a:bodyPr>
          <a:lstStyle/>
          <a:p>
            <a:r>
              <a:rPr lang="it-IT" sz="4800" b="1" dirty="0"/>
              <a:t>Computer Vision </a:t>
            </a:r>
            <a:r>
              <a:rPr lang="en-US" sz="4800" b="1" dirty="0"/>
              <a:t>Libraries </a:t>
            </a:r>
            <a:endParaRPr lang="en-US" sz="4800" dirty="0"/>
          </a:p>
        </p:txBody>
      </p:sp>
      <p:sp>
        <p:nvSpPr>
          <p:cNvPr id="8" name="TextBox 7">
            <a:extLst>
              <a:ext uri="{FF2B5EF4-FFF2-40B4-BE49-F238E27FC236}">
                <a16:creationId xmlns:a16="http://schemas.microsoft.com/office/drawing/2014/main" id="{998237BE-0E2F-A33E-2D9D-C5D93562FDBC}"/>
              </a:ext>
            </a:extLst>
          </p:cNvPr>
          <p:cNvSpPr txBox="1"/>
          <p:nvPr/>
        </p:nvSpPr>
        <p:spPr>
          <a:xfrm>
            <a:off x="1001598" y="1796868"/>
            <a:ext cx="9971201" cy="4339650"/>
          </a:xfrm>
          <a:prstGeom prst="rect">
            <a:avLst/>
          </a:prstGeom>
          <a:noFill/>
        </p:spPr>
        <p:txBody>
          <a:bodyPr wrap="square">
            <a:spAutoFit/>
          </a:bodyPr>
          <a:lstStyle/>
          <a:p>
            <a:pPr algn="l">
              <a:buFont typeface="+mj-lt"/>
              <a:buAutoNum type="arabicPeriod"/>
            </a:pPr>
            <a:r>
              <a:rPr lang="en-US" b="1" i="0" dirty="0">
                <a:solidFill>
                  <a:srgbClr val="D1D5DB"/>
                </a:solidFill>
                <a:effectLst/>
                <a:latin typeface="Söhne"/>
              </a:rPr>
              <a:t>OpenCV (Open Source Computer Vision Library):</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OpenCV is a widely-used open-source </a:t>
            </a:r>
            <a:r>
              <a:rPr lang="en-US" sz="2000" b="0" i="0" dirty="0">
                <a:solidFill>
                  <a:srgbClr val="FF0000"/>
                </a:solidFill>
                <a:effectLst/>
                <a:latin typeface="Söhne"/>
              </a:rPr>
              <a:t>computer vision library </a:t>
            </a:r>
            <a:r>
              <a:rPr lang="en-US" b="0" i="0" dirty="0">
                <a:solidFill>
                  <a:srgbClr val="D1D5DB"/>
                </a:solidFill>
                <a:effectLst/>
                <a:latin typeface="Söhne"/>
              </a:rPr>
              <a:t>that provides a vast collection of tools and algorithms for image and video processing, feature extraction, object detection, machine learning, and more. It supports multiple programming languages, including Python, C++, and Java.</a:t>
            </a:r>
          </a:p>
          <a:p>
            <a:pPr algn="l">
              <a:buFont typeface="+mj-lt"/>
              <a:buAutoNum type="arabicPeriod"/>
            </a:pPr>
            <a:r>
              <a:rPr lang="en-US" b="1" i="0" dirty="0">
                <a:solidFill>
                  <a:srgbClr val="D1D5DB"/>
                </a:solidFill>
                <a:effectLst/>
                <a:latin typeface="Söhne"/>
              </a:rPr>
              <a:t>TensorFlow:</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Developed by Google, TensorFlow is an open-source machine learning library that includes modules for </a:t>
            </a:r>
            <a:r>
              <a:rPr lang="en-US" sz="2000" b="0" i="0" dirty="0">
                <a:solidFill>
                  <a:srgbClr val="FF0000"/>
                </a:solidFill>
                <a:effectLst/>
                <a:latin typeface="Söhne"/>
              </a:rPr>
              <a:t>deep learning and neural networks</a:t>
            </a:r>
            <a:r>
              <a:rPr lang="en-US" b="0" i="0" dirty="0">
                <a:solidFill>
                  <a:srgbClr val="D1D5DB"/>
                </a:solidFill>
                <a:effectLst/>
                <a:latin typeface="Söhne"/>
              </a:rPr>
              <a:t>. TensorFlow provides a high-level API called TensorFlow </a:t>
            </a:r>
            <a:r>
              <a:rPr lang="en-US" b="0" i="0" dirty="0" err="1">
                <a:solidFill>
                  <a:srgbClr val="D1D5DB"/>
                </a:solidFill>
                <a:effectLst/>
                <a:latin typeface="Söhne"/>
              </a:rPr>
              <a:t>Keras</a:t>
            </a:r>
            <a:r>
              <a:rPr lang="en-US" b="0" i="0" dirty="0">
                <a:solidFill>
                  <a:srgbClr val="D1D5DB"/>
                </a:solidFill>
                <a:effectLst/>
                <a:latin typeface="Söhne"/>
              </a:rPr>
              <a:t> for building and training neural networks, making it suitable for computer vision tasks.</a:t>
            </a:r>
          </a:p>
          <a:p>
            <a:pPr algn="l">
              <a:buFont typeface="+mj-lt"/>
              <a:buAutoNum type="arabicPeriod"/>
            </a:pPr>
            <a:r>
              <a:rPr lang="en-US" b="1" i="0" dirty="0" err="1">
                <a:solidFill>
                  <a:srgbClr val="D1D5DB"/>
                </a:solidFill>
                <a:effectLst/>
                <a:latin typeface="Söhne"/>
              </a:rPr>
              <a:t>PyTorch</a:t>
            </a:r>
            <a:r>
              <a:rPr lang="en-US" b="1" i="0" dirty="0">
                <a:solidFill>
                  <a:srgbClr val="D1D5DB"/>
                </a:solidFill>
                <a:effectLst/>
                <a:latin typeface="Söhne"/>
              </a:rPr>
              <a:t>:</a:t>
            </a:r>
            <a:endParaRPr lang="en-US" b="0" i="0" dirty="0">
              <a:solidFill>
                <a:srgbClr val="D1D5DB"/>
              </a:solidFill>
              <a:effectLst/>
              <a:latin typeface="Söhne"/>
            </a:endParaRPr>
          </a:p>
          <a:p>
            <a:pPr marL="742950" lvl="1" indent="-285750" algn="l">
              <a:buFont typeface="+mj-lt"/>
              <a:buAutoNum type="arabicPeriod"/>
            </a:pPr>
            <a:r>
              <a:rPr lang="en-US" b="0" i="0" dirty="0" err="1">
                <a:solidFill>
                  <a:srgbClr val="D1D5DB"/>
                </a:solidFill>
                <a:effectLst/>
                <a:latin typeface="Söhne"/>
              </a:rPr>
              <a:t>PyTorch</a:t>
            </a:r>
            <a:r>
              <a:rPr lang="en-US" b="0" i="0" dirty="0">
                <a:solidFill>
                  <a:srgbClr val="D1D5DB"/>
                </a:solidFill>
                <a:effectLst/>
                <a:latin typeface="Söhne"/>
              </a:rPr>
              <a:t> is an open-source </a:t>
            </a:r>
            <a:r>
              <a:rPr lang="en-US" b="0" i="0" dirty="0">
                <a:solidFill>
                  <a:srgbClr val="FF0000"/>
                </a:solidFill>
                <a:effectLst/>
                <a:latin typeface="Söhne"/>
              </a:rPr>
              <a:t>deep learning library </a:t>
            </a:r>
            <a:r>
              <a:rPr lang="en-US" b="0" i="0" dirty="0">
                <a:solidFill>
                  <a:srgbClr val="D1D5DB"/>
                </a:solidFill>
                <a:effectLst/>
                <a:latin typeface="Söhne"/>
              </a:rPr>
              <a:t>developed by Facebook. It has gained popularity for its dynamic computational graph and ease of use. </a:t>
            </a:r>
            <a:r>
              <a:rPr lang="en-US" b="0" i="0" dirty="0" err="1">
                <a:solidFill>
                  <a:srgbClr val="D1D5DB"/>
                </a:solidFill>
                <a:effectLst/>
                <a:latin typeface="Söhne"/>
              </a:rPr>
              <a:t>PyTorch</a:t>
            </a:r>
            <a:r>
              <a:rPr lang="en-US" b="0" i="0" dirty="0">
                <a:solidFill>
                  <a:srgbClr val="D1D5DB"/>
                </a:solidFill>
                <a:effectLst/>
                <a:latin typeface="Söhne"/>
              </a:rPr>
              <a:t> is commonly used for research in computer vision and natural language processing. It also provides the </a:t>
            </a:r>
            <a:r>
              <a:rPr lang="en-US" b="0" i="0" dirty="0" err="1">
                <a:solidFill>
                  <a:srgbClr val="D1D5DB"/>
                </a:solidFill>
                <a:effectLst/>
                <a:latin typeface="Söhne"/>
              </a:rPr>
              <a:t>torchvision</a:t>
            </a:r>
            <a:r>
              <a:rPr lang="en-US" b="0" i="0" dirty="0">
                <a:solidFill>
                  <a:srgbClr val="D1D5DB"/>
                </a:solidFill>
                <a:effectLst/>
                <a:latin typeface="Söhne"/>
              </a:rPr>
              <a:t> module for computer vision-specific functionalities.</a:t>
            </a:r>
          </a:p>
        </p:txBody>
      </p:sp>
    </p:spTree>
    <p:extLst>
      <p:ext uri="{BB962C8B-B14F-4D97-AF65-F5344CB8AC3E}">
        <p14:creationId xmlns:p14="http://schemas.microsoft.com/office/powerpoint/2010/main" val="1497251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17</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61B864D-E131-CA67-20CA-DB57AD88E13C}"/>
              </a:ext>
            </a:extLst>
          </p:cNvPr>
          <p:cNvSpPr txBox="1"/>
          <p:nvPr/>
        </p:nvSpPr>
        <p:spPr>
          <a:xfrm>
            <a:off x="1001598" y="590800"/>
            <a:ext cx="8566608" cy="830997"/>
          </a:xfrm>
          <a:prstGeom prst="rect">
            <a:avLst/>
          </a:prstGeom>
          <a:noFill/>
        </p:spPr>
        <p:txBody>
          <a:bodyPr wrap="square">
            <a:spAutoFit/>
          </a:bodyPr>
          <a:lstStyle/>
          <a:p>
            <a:r>
              <a:rPr lang="it-IT" sz="4800" b="1" dirty="0"/>
              <a:t>Computer Vision </a:t>
            </a:r>
            <a:r>
              <a:rPr lang="en-US" sz="4800" b="1" dirty="0"/>
              <a:t>Libraries </a:t>
            </a:r>
            <a:endParaRPr lang="en-US" sz="4800" dirty="0"/>
          </a:p>
        </p:txBody>
      </p:sp>
      <p:sp>
        <p:nvSpPr>
          <p:cNvPr id="8" name="TextBox 7">
            <a:extLst>
              <a:ext uri="{FF2B5EF4-FFF2-40B4-BE49-F238E27FC236}">
                <a16:creationId xmlns:a16="http://schemas.microsoft.com/office/drawing/2014/main" id="{998237BE-0E2F-A33E-2D9D-C5D93562FDBC}"/>
              </a:ext>
            </a:extLst>
          </p:cNvPr>
          <p:cNvSpPr txBox="1"/>
          <p:nvPr/>
        </p:nvSpPr>
        <p:spPr>
          <a:xfrm>
            <a:off x="1001598" y="1796868"/>
            <a:ext cx="9971201" cy="3693319"/>
          </a:xfrm>
          <a:prstGeom prst="rect">
            <a:avLst/>
          </a:prstGeom>
          <a:noFill/>
        </p:spPr>
        <p:txBody>
          <a:bodyPr wrap="square">
            <a:spAutoFit/>
          </a:bodyPr>
          <a:lstStyle/>
          <a:p>
            <a:pPr algn="l">
              <a:buFont typeface="+mj-lt"/>
              <a:buAutoNum type="arabicPeriod"/>
            </a:pPr>
            <a:r>
              <a:rPr lang="en-US" b="1" i="0" dirty="0" err="1">
                <a:solidFill>
                  <a:srgbClr val="D1D5DB"/>
                </a:solidFill>
                <a:effectLst/>
                <a:latin typeface="Söhne"/>
              </a:rPr>
              <a:t>Keras</a:t>
            </a:r>
            <a:r>
              <a:rPr lang="en-US" b="1" i="0" dirty="0">
                <a:solidFill>
                  <a:srgbClr val="D1D5DB"/>
                </a:solidFill>
                <a:effectLst/>
                <a:latin typeface="Söhne"/>
              </a:rPr>
              <a:t>:</a:t>
            </a:r>
            <a:endParaRPr lang="en-US" b="0" i="0" dirty="0">
              <a:solidFill>
                <a:srgbClr val="D1D5DB"/>
              </a:solidFill>
              <a:effectLst/>
              <a:latin typeface="Söhne"/>
            </a:endParaRPr>
          </a:p>
          <a:p>
            <a:pPr marL="742950" lvl="1" indent="-285750" algn="l">
              <a:buFont typeface="+mj-lt"/>
              <a:buAutoNum type="arabicPeriod"/>
            </a:pPr>
            <a:r>
              <a:rPr lang="en-US" b="0" i="0" dirty="0" err="1">
                <a:solidFill>
                  <a:srgbClr val="D1D5DB"/>
                </a:solidFill>
                <a:effectLst/>
                <a:latin typeface="Söhne"/>
              </a:rPr>
              <a:t>Keras</a:t>
            </a:r>
            <a:r>
              <a:rPr lang="en-US" b="0" i="0" dirty="0">
                <a:solidFill>
                  <a:srgbClr val="D1D5DB"/>
                </a:solidFill>
                <a:effectLst/>
                <a:latin typeface="Söhne"/>
              </a:rPr>
              <a:t> is a </a:t>
            </a:r>
            <a:r>
              <a:rPr lang="en-US" b="0" i="0" dirty="0">
                <a:solidFill>
                  <a:srgbClr val="FF0000"/>
                </a:solidFill>
                <a:effectLst/>
                <a:latin typeface="Söhne"/>
              </a:rPr>
              <a:t>high-level neural networks API</a:t>
            </a:r>
            <a:r>
              <a:rPr lang="en-US" b="0" i="0" dirty="0">
                <a:solidFill>
                  <a:srgbClr val="D1D5DB"/>
                </a:solidFill>
                <a:effectLst/>
                <a:latin typeface="Söhne"/>
              </a:rPr>
              <a:t> written in Python and capable of running on </a:t>
            </a:r>
            <a:r>
              <a:rPr lang="en-US" b="0" i="0" dirty="0">
                <a:solidFill>
                  <a:srgbClr val="FF0000"/>
                </a:solidFill>
                <a:effectLst/>
                <a:latin typeface="Söhne"/>
              </a:rPr>
              <a:t>top of TensorFlow, Theano, or Microsoft Cognitive Toolkit (CNTK). </a:t>
            </a:r>
            <a:r>
              <a:rPr lang="en-US" b="0" i="0" dirty="0">
                <a:solidFill>
                  <a:srgbClr val="D1D5DB"/>
                </a:solidFill>
                <a:effectLst/>
                <a:latin typeface="Söhne"/>
              </a:rPr>
              <a:t>While it's often used for general deep learning tasks, it also includes modules for image classification, object detection, and other computer vision applications.</a:t>
            </a:r>
          </a:p>
          <a:p>
            <a:pPr algn="l">
              <a:buFont typeface="+mj-lt"/>
              <a:buAutoNum type="arabicPeriod"/>
            </a:pPr>
            <a:r>
              <a:rPr lang="en-US" b="1" i="0" dirty="0">
                <a:solidFill>
                  <a:srgbClr val="D1D5DB"/>
                </a:solidFill>
                <a:effectLst/>
                <a:latin typeface="Söhne"/>
              </a:rPr>
              <a:t>Scikit-Image:</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Scikit-Image is a </a:t>
            </a:r>
            <a:r>
              <a:rPr lang="en-US" b="0" i="0" dirty="0">
                <a:solidFill>
                  <a:srgbClr val="FF0000"/>
                </a:solidFill>
                <a:effectLst/>
                <a:latin typeface="Söhne"/>
              </a:rPr>
              <a:t>collection of algorithms for image processing in Python</a:t>
            </a:r>
            <a:r>
              <a:rPr lang="en-US" b="0" i="0" dirty="0">
                <a:solidFill>
                  <a:srgbClr val="D1D5DB"/>
                </a:solidFill>
                <a:effectLst/>
                <a:latin typeface="Söhne"/>
              </a:rPr>
              <a:t>. It builds on the capabilities of NumPy and provides tools for tasks such as filtering, morphology, segmentation, and feature extraction.</a:t>
            </a:r>
          </a:p>
          <a:p>
            <a:pPr algn="l">
              <a:buFont typeface="+mj-lt"/>
              <a:buAutoNum type="arabicPeriod"/>
            </a:pPr>
            <a:r>
              <a:rPr lang="en-US" b="1" i="0" dirty="0" err="1">
                <a:solidFill>
                  <a:srgbClr val="D1D5DB"/>
                </a:solidFill>
                <a:effectLst/>
                <a:latin typeface="Söhne"/>
              </a:rPr>
              <a:t>Dlib</a:t>
            </a:r>
            <a:r>
              <a:rPr lang="en-US" b="1" i="0" dirty="0">
                <a:solidFill>
                  <a:srgbClr val="D1D5DB"/>
                </a:solidFill>
                <a:effectLst/>
                <a:latin typeface="Söhne"/>
              </a:rPr>
              <a:t>:</a:t>
            </a:r>
            <a:endParaRPr lang="en-US" b="0" i="0" dirty="0">
              <a:solidFill>
                <a:srgbClr val="D1D5DB"/>
              </a:solidFill>
              <a:effectLst/>
              <a:latin typeface="Söhne"/>
            </a:endParaRPr>
          </a:p>
          <a:p>
            <a:pPr marL="742950" lvl="1" indent="-285750" algn="l">
              <a:buFont typeface="+mj-lt"/>
              <a:buAutoNum type="arabicPeriod"/>
            </a:pPr>
            <a:r>
              <a:rPr lang="en-US" b="0" i="0" dirty="0" err="1">
                <a:solidFill>
                  <a:srgbClr val="D1D5DB"/>
                </a:solidFill>
                <a:effectLst/>
                <a:latin typeface="Söhne"/>
              </a:rPr>
              <a:t>Dlib</a:t>
            </a:r>
            <a:r>
              <a:rPr lang="en-US" b="0" i="0" dirty="0">
                <a:solidFill>
                  <a:srgbClr val="D1D5DB"/>
                </a:solidFill>
                <a:effectLst/>
                <a:latin typeface="Söhne"/>
              </a:rPr>
              <a:t> is </a:t>
            </a:r>
            <a:r>
              <a:rPr lang="en-US" b="0" i="0" dirty="0">
                <a:solidFill>
                  <a:srgbClr val="FF0000"/>
                </a:solidFill>
                <a:effectLst/>
                <a:latin typeface="Söhne"/>
              </a:rPr>
              <a:t>a C++ toolkit for machine learning and computer vision</a:t>
            </a:r>
            <a:r>
              <a:rPr lang="en-US" b="0" i="0" dirty="0">
                <a:solidFill>
                  <a:srgbClr val="D1D5DB"/>
                </a:solidFill>
                <a:effectLst/>
                <a:latin typeface="Söhne"/>
              </a:rPr>
              <a:t>. It includes a variety of algorithms for image processing, facial recognition, object detection, and more. </a:t>
            </a:r>
            <a:r>
              <a:rPr lang="en-US" b="0" i="0" dirty="0" err="1">
                <a:solidFill>
                  <a:srgbClr val="D1D5DB"/>
                </a:solidFill>
                <a:effectLst/>
                <a:latin typeface="Söhne"/>
              </a:rPr>
              <a:t>Dlib</a:t>
            </a:r>
            <a:r>
              <a:rPr lang="en-US" b="0" i="0" dirty="0">
                <a:solidFill>
                  <a:srgbClr val="D1D5DB"/>
                </a:solidFill>
                <a:effectLst/>
                <a:latin typeface="Söhne"/>
              </a:rPr>
              <a:t> is known for its efficiency and performance.</a:t>
            </a:r>
          </a:p>
        </p:txBody>
      </p:sp>
    </p:spTree>
    <p:extLst>
      <p:ext uri="{BB962C8B-B14F-4D97-AF65-F5344CB8AC3E}">
        <p14:creationId xmlns:p14="http://schemas.microsoft.com/office/powerpoint/2010/main" val="208683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18</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61B864D-E131-CA67-20CA-DB57AD88E13C}"/>
              </a:ext>
            </a:extLst>
          </p:cNvPr>
          <p:cNvSpPr txBox="1"/>
          <p:nvPr/>
        </p:nvSpPr>
        <p:spPr>
          <a:xfrm>
            <a:off x="1001598" y="590800"/>
            <a:ext cx="8566608" cy="830997"/>
          </a:xfrm>
          <a:prstGeom prst="rect">
            <a:avLst/>
          </a:prstGeom>
          <a:noFill/>
        </p:spPr>
        <p:txBody>
          <a:bodyPr wrap="square">
            <a:spAutoFit/>
          </a:bodyPr>
          <a:lstStyle/>
          <a:p>
            <a:r>
              <a:rPr lang="it-IT" sz="4800" b="1" dirty="0"/>
              <a:t>Computer Vision </a:t>
            </a:r>
            <a:r>
              <a:rPr lang="en-US" sz="4800" b="1" dirty="0"/>
              <a:t>Libraries </a:t>
            </a:r>
            <a:endParaRPr lang="en-US" sz="4800" dirty="0"/>
          </a:p>
        </p:txBody>
      </p:sp>
      <p:sp>
        <p:nvSpPr>
          <p:cNvPr id="8" name="TextBox 7">
            <a:extLst>
              <a:ext uri="{FF2B5EF4-FFF2-40B4-BE49-F238E27FC236}">
                <a16:creationId xmlns:a16="http://schemas.microsoft.com/office/drawing/2014/main" id="{998237BE-0E2F-A33E-2D9D-C5D93562FDBC}"/>
              </a:ext>
            </a:extLst>
          </p:cNvPr>
          <p:cNvSpPr txBox="1"/>
          <p:nvPr/>
        </p:nvSpPr>
        <p:spPr>
          <a:xfrm>
            <a:off x="1001598" y="1796868"/>
            <a:ext cx="9971201" cy="4524315"/>
          </a:xfrm>
          <a:prstGeom prst="rect">
            <a:avLst/>
          </a:prstGeom>
          <a:noFill/>
        </p:spPr>
        <p:txBody>
          <a:bodyPr wrap="square">
            <a:spAutoFit/>
          </a:bodyPr>
          <a:lstStyle/>
          <a:p>
            <a:pPr algn="l">
              <a:buFont typeface="+mj-lt"/>
              <a:buAutoNum type="arabicPeriod"/>
            </a:pPr>
            <a:r>
              <a:rPr lang="en-US" b="1" i="0" dirty="0" err="1">
                <a:solidFill>
                  <a:srgbClr val="D1D5DB"/>
                </a:solidFill>
                <a:effectLst/>
                <a:latin typeface="Söhne"/>
              </a:rPr>
              <a:t>MXNet</a:t>
            </a:r>
            <a:r>
              <a:rPr lang="en-US" b="1" i="0" dirty="0">
                <a:solidFill>
                  <a:srgbClr val="D1D5DB"/>
                </a:solidFill>
                <a:effectLst/>
                <a:latin typeface="Söhne"/>
              </a:rPr>
              <a:t>:</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Apache </a:t>
            </a:r>
            <a:r>
              <a:rPr lang="en-US" b="0" i="0" dirty="0" err="1">
                <a:solidFill>
                  <a:srgbClr val="D1D5DB"/>
                </a:solidFill>
                <a:effectLst/>
                <a:latin typeface="Söhne"/>
              </a:rPr>
              <a:t>MXNet</a:t>
            </a:r>
            <a:r>
              <a:rPr lang="en-US" b="0" i="0" dirty="0">
                <a:solidFill>
                  <a:srgbClr val="D1D5DB"/>
                </a:solidFill>
                <a:effectLst/>
                <a:latin typeface="Söhne"/>
              </a:rPr>
              <a:t> is an </a:t>
            </a:r>
            <a:r>
              <a:rPr lang="en-US" b="0" i="0" dirty="0">
                <a:solidFill>
                  <a:srgbClr val="FF0000"/>
                </a:solidFill>
                <a:effectLst/>
                <a:latin typeface="Söhne"/>
              </a:rPr>
              <a:t>open-source deep learning framework </a:t>
            </a:r>
            <a:r>
              <a:rPr lang="en-US" b="0" i="0" dirty="0">
                <a:solidFill>
                  <a:srgbClr val="D1D5DB"/>
                </a:solidFill>
                <a:effectLst/>
                <a:latin typeface="Söhne"/>
              </a:rPr>
              <a:t>designed for efficiency and scalability. It supports both symbolic and imperative programming and includes </a:t>
            </a:r>
            <a:r>
              <a:rPr lang="en-US" b="0" i="0" dirty="0" err="1">
                <a:solidFill>
                  <a:srgbClr val="D1D5DB"/>
                </a:solidFill>
                <a:effectLst/>
                <a:latin typeface="Söhne"/>
              </a:rPr>
              <a:t>GluonCV</a:t>
            </a:r>
            <a:r>
              <a:rPr lang="en-US" b="0" i="0" dirty="0">
                <a:solidFill>
                  <a:srgbClr val="D1D5DB"/>
                </a:solidFill>
                <a:effectLst/>
                <a:latin typeface="Söhne"/>
              </a:rPr>
              <a:t>, a toolkit for computer vision tasks built on top of </a:t>
            </a:r>
            <a:r>
              <a:rPr lang="en-US" b="0" i="0" dirty="0" err="1">
                <a:solidFill>
                  <a:srgbClr val="D1D5DB"/>
                </a:solidFill>
                <a:effectLst/>
                <a:latin typeface="Söhne"/>
              </a:rPr>
              <a:t>MXNet</a:t>
            </a:r>
            <a:r>
              <a:rPr lang="en-US" b="0" i="0" dirty="0">
                <a:solidFill>
                  <a:srgbClr val="D1D5DB"/>
                </a:solidFill>
                <a:effectLst/>
                <a:latin typeface="Söhne"/>
              </a:rPr>
              <a:t>.</a:t>
            </a:r>
          </a:p>
          <a:p>
            <a:pPr algn="l">
              <a:buFont typeface="+mj-lt"/>
              <a:buAutoNum type="arabicPeriod"/>
            </a:pPr>
            <a:r>
              <a:rPr lang="en-US" b="1" i="0" dirty="0">
                <a:solidFill>
                  <a:srgbClr val="D1D5DB"/>
                </a:solidFill>
                <a:effectLst/>
                <a:latin typeface="Söhne"/>
              </a:rPr>
              <a:t>Caffe:</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Caffe is a </a:t>
            </a:r>
            <a:r>
              <a:rPr lang="en-US" b="0" i="0" dirty="0">
                <a:solidFill>
                  <a:srgbClr val="FF0000"/>
                </a:solidFill>
                <a:effectLst/>
                <a:latin typeface="Söhne"/>
              </a:rPr>
              <a:t>deep learning framework</a:t>
            </a:r>
            <a:r>
              <a:rPr lang="en-US" b="0" i="0" dirty="0">
                <a:solidFill>
                  <a:srgbClr val="D1D5DB"/>
                </a:solidFill>
                <a:effectLst/>
                <a:latin typeface="Söhne"/>
              </a:rPr>
              <a:t> developed by the Berkeley Vision and Learning Center. It is popular for its speed and efficiency in convolutional neural networks. While it's not as flexible as some other frameworks, it excels in image classification tasks.</a:t>
            </a:r>
          </a:p>
          <a:p>
            <a:pPr algn="l">
              <a:buFont typeface="+mj-lt"/>
              <a:buAutoNum type="arabicPeriod"/>
            </a:pPr>
            <a:r>
              <a:rPr lang="en-US" b="1" i="0" dirty="0" err="1">
                <a:solidFill>
                  <a:srgbClr val="D1D5DB"/>
                </a:solidFill>
                <a:effectLst/>
                <a:latin typeface="Söhne"/>
              </a:rPr>
              <a:t>Fastai</a:t>
            </a:r>
            <a:r>
              <a:rPr lang="en-US" b="1" i="0" dirty="0">
                <a:solidFill>
                  <a:srgbClr val="D1D5DB"/>
                </a:solidFill>
                <a:effectLst/>
                <a:latin typeface="Söhne"/>
              </a:rPr>
              <a:t>:</a:t>
            </a:r>
            <a:endParaRPr lang="en-US" b="0" i="0" dirty="0">
              <a:solidFill>
                <a:srgbClr val="D1D5DB"/>
              </a:solidFill>
              <a:effectLst/>
              <a:latin typeface="Söhne"/>
            </a:endParaRPr>
          </a:p>
          <a:p>
            <a:pPr marL="742950" lvl="1" indent="-285750" algn="l">
              <a:buFont typeface="+mj-lt"/>
              <a:buAutoNum type="arabicPeriod"/>
            </a:pPr>
            <a:r>
              <a:rPr lang="en-US" b="0" i="0" dirty="0" err="1">
                <a:solidFill>
                  <a:srgbClr val="D1D5DB"/>
                </a:solidFill>
                <a:effectLst/>
                <a:latin typeface="Söhne"/>
              </a:rPr>
              <a:t>Fastai</a:t>
            </a:r>
            <a:r>
              <a:rPr lang="en-US" b="0" i="0" dirty="0">
                <a:solidFill>
                  <a:srgbClr val="D1D5DB"/>
                </a:solidFill>
                <a:effectLst/>
                <a:latin typeface="Söhne"/>
              </a:rPr>
              <a:t> is </a:t>
            </a:r>
            <a:r>
              <a:rPr lang="en-US" b="0" i="0" dirty="0">
                <a:solidFill>
                  <a:srgbClr val="FF0000"/>
                </a:solidFill>
                <a:effectLst/>
                <a:latin typeface="Söhne"/>
              </a:rPr>
              <a:t>a high-level deep learning library built on top of </a:t>
            </a:r>
            <a:r>
              <a:rPr lang="en-US" b="0" i="0" dirty="0" err="1">
                <a:solidFill>
                  <a:srgbClr val="FF0000"/>
                </a:solidFill>
                <a:effectLst/>
                <a:latin typeface="Söhne"/>
              </a:rPr>
              <a:t>PyTorch</a:t>
            </a:r>
            <a:r>
              <a:rPr lang="en-US" b="0" i="0" dirty="0">
                <a:solidFill>
                  <a:srgbClr val="D1D5DB"/>
                </a:solidFill>
                <a:effectLst/>
                <a:latin typeface="Söhne"/>
              </a:rPr>
              <a:t>. It aims to make deep learning more accessible through high-level abstractions and simplifications. </a:t>
            </a:r>
            <a:r>
              <a:rPr lang="en-US" b="0" i="0" dirty="0" err="1">
                <a:solidFill>
                  <a:srgbClr val="D1D5DB"/>
                </a:solidFill>
                <a:effectLst/>
                <a:latin typeface="Söhne"/>
              </a:rPr>
              <a:t>Fastai</a:t>
            </a:r>
            <a:r>
              <a:rPr lang="en-US" b="0" i="0" dirty="0">
                <a:solidFill>
                  <a:srgbClr val="D1D5DB"/>
                </a:solidFill>
                <a:effectLst/>
                <a:latin typeface="Söhne"/>
              </a:rPr>
              <a:t> includes modules for computer vision, natural language processing, and tabular data.</a:t>
            </a:r>
          </a:p>
          <a:p>
            <a:pPr algn="l">
              <a:buFont typeface="+mj-lt"/>
              <a:buAutoNum type="arabicPeriod"/>
            </a:pPr>
            <a:r>
              <a:rPr lang="en-US" b="1" i="0" dirty="0">
                <a:solidFill>
                  <a:srgbClr val="D1D5DB"/>
                </a:solidFill>
                <a:effectLst/>
                <a:latin typeface="Söhne"/>
              </a:rPr>
              <a:t>MATLAB Computer Vision Toolbox:</a:t>
            </a:r>
            <a:endParaRPr lang="en-US" b="0" i="0" dirty="0">
              <a:solidFill>
                <a:srgbClr val="D1D5DB"/>
              </a:solidFill>
              <a:effectLst/>
              <a:latin typeface="Söhne"/>
            </a:endParaRPr>
          </a:p>
          <a:p>
            <a:pPr marL="742950" lvl="1" indent="-285750" algn="l">
              <a:buFont typeface="+mj-lt"/>
              <a:buAutoNum type="arabicPeriod"/>
            </a:pPr>
            <a:r>
              <a:rPr lang="en-US" b="0" i="0" dirty="0">
                <a:solidFill>
                  <a:srgbClr val="D1D5DB"/>
                </a:solidFill>
                <a:effectLst/>
                <a:latin typeface="Söhne"/>
              </a:rPr>
              <a:t>MATLAB provides a Computer Vision Toolbox that offers a comprehensive set of functions for image and video processing, computer vision, and machine learning. It is widely used in academic and research environments.</a:t>
            </a:r>
          </a:p>
        </p:txBody>
      </p:sp>
    </p:spTree>
    <p:extLst>
      <p:ext uri="{BB962C8B-B14F-4D97-AF65-F5344CB8AC3E}">
        <p14:creationId xmlns:p14="http://schemas.microsoft.com/office/powerpoint/2010/main" val="3823772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19</a:t>
            </a:fld>
            <a:endParaRPr lang="en-US"/>
          </a:p>
        </p:txBody>
      </p:sp>
      <p:pic>
        <p:nvPicPr>
          <p:cNvPr id="5122" name="Picture 2" descr="All You Need to Know about Computer Vision and How It Works">
            <a:extLst>
              <a:ext uri="{FF2B5EF4-FFF2-40B4-BE49-F238E27FC236}">
                <a16:creationId xmlns:a16="http://schemas.microsoft.com/office/drawing/2014/main" id="{28E84C9A-80B4-0F65-F2DF-F45A808D0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689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20</a:t>
            </a:fld>
            <a:endParaRPr lang="en-US"/>
          </a:p>
        </p:txBody>
      </p:sp>
      <p:pic>
        <p:nvPicPr>
          <p:cNvPr id="5124" name="Picture 4" descr="NLP Tutorials Part -I from Basics to Advance - Analytics Vidhya">
            <a:extLst>
              <a:ext uri="{FF2B5EF4-FFF2-40B4-BE49-F238E27FC236}">
                <a16:creationId xmlns:a16="http://schemas.microsoft.com/office/drawing/2014/main" id="{5F24BCF4-53B1-16A6-9AA6-F61A21110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7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591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21</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61B864D-E131-CA67-20CA-DB57AD88E13C}"/>
              </a:ext>
            </a:extLst>
          </p:cNvPr>
          <p:cNvSpPr txBox="1"/>
          <p:nvPr/>
        </p:nvSpPr>
        <p:spPr>
          <a:xfrm>
            <a:off x="1001598" y="590800"/>
            <a:ext cx="9264462" cy="830997"/>
          </a:xfrm>
          <a:prstGeom prst="rect">
            <a:avLst/>
          </a:prstGeom>
          <a:noFill/>
        </p:spPr>
        <p:txBody>
          <a:bodyPr wrap="square">
            <a:spAutoFit/>
          </a:bodyPr>
          <a:lstStyle/>
          <a:p>
            <a:r>
              <a:rPr lang="en-US" sz="4800" b="0" i="0" dirty="0">
                <a:solidFill>
                  <a:srgbClr val="E8EAED"/>
                </a:solidFill>
                <a:effectLst/>
                <a:latin typeface="Google Sans"/>
              </a:rPr>
              <a:t>Natural language processing (NLP)</a:t>
            </a:r>
            <a:endParaRPr lang="en-US" sz="4800" dirty="0"/>
          </a:p>
        </p:txBody>
      </p:sp>
      <p:pic>
        <p:nvPicPr>
          <p:cNvPr id="1028" name="Picture 4" descr="Exploring NLP: How It Works and Real-world Sentiment Analysis Projects | by  Thanseefuddeen pp | Medium">
            <a:extLst>
              <a:ext uri="{FF2B5EF4-FFF2-40B4-BE49-F238E27FC236}">
                <a16:creationId xmlns:a16="http://schemas.microsoft.com/office/drawing/2014/main" id="{099785BA-7DA6-B07C-6948-E7A20D5BB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598" y="1508026"/>
            <a:ext cx="8613742" cy="5302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308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22</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1190527" y="2228250"/>
            <a:ext cx="9810946" cy="2677656"/>
          </a:xfrm>
          <a:prstGeom prst="rect">
            <a:avLst/>
          </a:prstGeom>
          <a:noFill/>
        </p:spPr>
        <p:txBody>
          <a:bodyPr wrap="square">
            <a:spAutoFit/>
          </a:bodyPr>
          <a:lstStyle/>
          <a:p>
            <a:r>
              <a:rPr lang="en-US" sz="2400" b="1" i="0" dirty="0">
                <a:solidFill>
                  <a:srgbClr val="D1D5DB"/>
                </a:solidFill>
                <a:effectLst/>
                <a:latin typeface="Söhne"/>
              </a:rPr>
              <a:t>Natural Language Processing (NLP) is a subfield of artificial intelligence (AI) that focuses on the interaction between computers and human language. The goal of NLP is to enable computers to understand, interpret, and generate human language in a way that is both meaningful and contextually relevant. It involves the development of algorithms and models that allow computers to perform tasks such as text and speech recognition, language translation, sentiment analysis, and more.</a:t>
            </a:r>
            <a:endParaRPr lang="en-US" sz="2400" b="1" dirty="0"/>
          </a:p>
        </p:txBody>
      </p:sp>
      <p:sp>
        <p:nvSpPr>
          <p:cNvPr id="7" name="TextBox 6">
            <a:extLst>
              <a:ext uri="{FF2B5EF4-FFF2-40B4-BE49-F238E27FC236}">
                <a16:creationId xmlns:a16="http://schemas.microsoft.com/office/drawing/2014/main" id="{2D4891C2-DC5A-66C7-A70C-91C7A36ADD7B}"/>
              </a:ext>
            </a:extLst>
          </p:cNvPr>
          <p:cNvSpPr txBox="1"/>
          <p:nvPr/>
        </p:nvSpPr>
        <p:spPr>
          <a:xfrm>
            <a:off x="1001598" y="590800"/>
            <a:ext cx="9264462" cy="830997"/>
          </a:xfrm>
          <a:prstGeom prst="rect">
            <a:avLst/>
          </a:prstGeom>
          <a:noFill/>
        </p:spPr>
        <p:txBody>
          <a:bodyPr wrap="square">
            <a:spAutoFit/>
          </a:bodyPr>
          <a:lstStyle/>
          <a:p>
            <a:r>
              <a:rPr lang="en-US" sz="4800" b="0" i="0" dirty="0">
                <a:solidFill>
                  <a:srgbClr val="E8EAED"/>
                </a:solidFill>
                <a:effectLst/>
                <a:latin typeface="Google Sans"/>
              </a:rPr>
              <a:t>Natural language processing (NLP)</a:t>
            </a:r>
            <a:endParaRPr lang="en-US" sz="4800" dirty="0"/>
          </a:p>
        </p:txBody>
      </p:sp>
    </p:spTree>
    <p:extLst>
      <p:ext uri="{BB962C8B-B14F-4D97-AF65-F5344CB8AC3E}">
        <p14:creationId xmlns:p14="http://schemas.microsoft.com/office/powerpoint/2010/main" val="1557414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23</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813454" y="1533465"/>
            <a:ext cx="10281894" cy="4708981"/>
          </a:xfrm>
          <a:prstGeom prst="rect">
            <a:avLst/>
          </a:prstGeom>
          <a:noFill/>
        </p:spPr>
        <p:txBody>
          <a:bodyPr wrap="square">
            <a:spAutoFit/>
          </a:bodyPr>
          <a:lstStyle/>
          <a:p>
            <a:pPr algn="l">
              <a:buFont typeface="+mj-lt"/>
              <a:buAutoNum type="arabicPeriod"/>
            </a:pPr>
            <a:r>
              <a:rPr lang="en-US" sz="2000" b="1" i="0" dirty="0">
                <a:solidFill>
                  <a:srgbClr val="D1D5DB"/>
                </a:solidFill>
                <a:effectLst/>
                <a:latin typeface="Söhne"/>
              </a:rPr>
              <a:t>Tokenization:</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Basic tokenization involves breaking down a text into individual words or tokens.</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Splitting the sentence "The quick brown fox jumps over the lazy dog" into individual words: ["The", "quick", "brown", "fox", "jumps", "over", "the", "lazy", "dog"].</a:t>
            </a:r>
          </a:p>
          <a:p>
            <a:pPr algn="l">
              <a:buFont typeface="+mj-lt"/>
              <a:buAutoNum type="arabicPeriod"/>
            </a:pPr>
            <a:r>
              <a:rPr lang="en-US" sz="2000" b="1" i="0" dirty="0">
                <a:solidFill>
                  <a:srgbClr val="D1D5DB"/>
                </a:solidFill>
                <a:effectLst/>
                <a:latin typeface="Söhne"/>
              </a:rPr>
              <a:t>Part-of-Speech Tagging (POS):</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Assigning grammatical parts of speech (e.g., noun, verb, adjective) to each word in a sentence.</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Tagging the sentence "The cat is sleeping" with parts of speech: [("The", "Determiner"), ("cat", "Noun"), ("is", "Verb"), ("sleeping", "Verb")].</a:t>
            </a:r>
          </a:p>
          <a:p>
            <a:pPr algn="l">
              <a:buFont typeface="+mj-lt"/>
              <a:buAutoNum type="arabicPeriod"/>
            </a:pPr>
            <a:r>
              <a:rPr lang="en-US" sz="2000" b="1" i="0" dirty="0">
                <a:solidFill>
                  <a:srgbClr val="D1D5DB"/>
                </a:solidFill>
                <a:effectLst/>
                <a:latin typeface="Söhne"/>
              </a:rPr>
              <a:t>Named Entity Recognition (NER):</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Identifying and classifying entities (e.g., names of people, organizations, locations) in a text.</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Extracting entities from the sentence "Apple Inc. is headquartered in Cupertino, California": [("Apple Inc.", "Organization"), ("Cupertino, California", "Location")].</a:t>
            </a:r>
          </a:p>
        </p:txBody>
      </p:sp>
      <p:sp>
        <p:nvSpPr>
          <p:cNvPr id="2" name="TextBox 1">
            <a:extLst>
              <a:ext uri="{FF2B5EF4-FFF2-40B4-BE49-F238E27FC236}">
                <a16:creationId xmlns:a16="http://schemas.microsoft.com/office/drawing/2014/main" id="{99E3D6DE-69DD-B71E-2DF1-03F1D2DCAAF4}"/>
              </a:ext>
            </a:extLst>
          </p:cNvPr>
          <p:cNvSpPr txBox="1"/>
          <p:nvPr/>
        </p:nvSpPr>
        <p:spPr>
          <a:xfrm>
            <a:off x="1001597" y="590800"/>
            <a:ext cx="10517958" cy="830997"/>
          </a:xfrm>
          <a:prstGeom prst="rect">
            <a:avLst/>
          </a:prstGeom>
          <a:noFill/>
        </p:spPr>
        <p:txBody>
          <a:bodyPr wrap="square">
            <a:spAutoFit/>
          </a:bodyPr>
          <a:lstStyle/>
          <a:p>
            <a:r>
              <a:rPr lang="en-US" sz="4800" b="0" i="0" dirty="0">
                <a:solidFill>
                  <a:srgbClr val="E8EAED"/>
                </a:solidFill>
                <a:effectLst/>
                <a:latin typeface="Google Sans"/>
              </a:rPr>
              <a:t>Natural language processing Algorithms</a:t>
            </a:r>
            <a:endParaRPr lang="en-US" sz="4800" dirty="0"/>
          </a:p>
        </p:txBody>
      </p:sp>
    </p:spTree>
    <p:extLst>
      <p:ext uri="{BB962C8B-B14F-4D97-AF65-F5344CB8AC3E}">
        <p14:creationId xmlns:p14="http://schemas.microsoft.com/office/powerpoint/2010/main" val="2098892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24</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888868" y="1907248"/>
            <a:ext cx="10894637" cy="3477875"/>
          </a:xfrm>
          <a:prstGeom prst="rect">
            <a:avLst/>
          </a:prstGeom>
          <a:noFill/>
        </p:spPr>
        <p:txBody>
          <a:bodyPr wrap="square">
            <a:spAutoFit/>
          </a:bodyPr>
          <a:lstStyle/>
          <a:p>
            <a:pPr algn="l">
              <a:buFont typeface="+mj-lt"/>
              <a:buAutoNum type="arabicPeriod"/>
            </a:pPr>
            <a:r>
              <a:rPr lang="en-US" sz="2000" b="1" i="0" dirty="0">
                <a:solidFill>
                  <a:srgbClr val="D1D5DB"/>
                </a:solidFill>
                <a:effectLst/>
                <a:latin typeface="Söhne"/>
              </a:rPr>
              <a:t>Text Classification:</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Assigning predefined categories or labels to a document or text.</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Classifying emails as spam or non-spam based on their content.</a:t>
            </a:r>
          </a:p>
          <a:p>
            <a:pPr algn="l">
              <a:buFont typeface="+mj-lt"/>
              <a:buAutoNum type="arabicPeriod"/>
            </a:pPr>
            <a:r>
              <a:rPr lang="en-US" sz="2000" b="1" i="0" dirty="0">
                <a:solidFill>
                  <a:srgbClr val="D1D5DB"/>
                </a:solidFill>
                <a:effectLst/>
                <a:latin typeface="Söhne"/>
              </a:rPr>
              <a:t>Word Embeddings:</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Learning vector representations (embeddings) for words in a way that captures semantic relationships.</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Word2Vec, </a:t>
            </a:r>
            <a:r>
              <a:rPr lang="en-US" sz="2000" b="0" i="0" dirty="0" err="1">
                <a:solidFill>
                  <a:srgbClr val="D1D5DB"/>
                </a:solidFill>
                <a:effectLst/>
                <a:latin typeface="Söhne"/>
              </a:rPr>
              <a:t>GloVe</a:t>
            </a:r>
            <a:r>
              <a:rPr lang="en-US" sz="2000" b="0" i="0" dirty="0">
                <a:solidFill>
                  <a:srgbClr val="D1D5DB"/>
                </a:solidFill>
                <a:effectLst/>
                <a:latin typeface="Söhne"/>
              </a:rPr>
              <a:t>, and </a:t>
            </a:r>
            <a:r>
              <a:rPr lang="en-US" sz="2000" b="0" i="0" dirty="0" err="1">
                <a:solidFill>
                  <a:srgbClr val="D1D5DB"/>
                </a:solidFill>
                <a:effectLst/>
                <a:latin typeface="Söhne"/>
              </a:rPr>
              <a:t>FastText</a:t>
            </a:r>
            <a:r>
              <a:rPr lang="en-US" sz="2000" b="0" i="0" dirty="0">
                <a:solidFill>
                  <a:srgbClr val="D1D5DB"/>
                </a:solidFill>
                <a:effectLst/>
                <a:latin typeface="Söhne"/>
              </a:rPr>
              <a:t> are popular word embedding algorithms.</a:t>
            </a:r>
          </a:p>
          <a:p>
            <a:pPr algn="l">
              <a:buFont typeface="+mj-lt"/>
              <a:buAutoNum type="arabicPeriod"/>
            </a:pPr>
            <a:r>
              <a:rPr lang="en-US" sz="2000" b="1" i="0" dirty="0">
                <a:solidFill>
                  <a:srgbClr val="D1D5DB"/>
                </a:solidFill>
                <a:effectLst/>
                <a:latin typeface="Söhne"/>
              </a:rPr>
              <a:t>Sequence-to-Sequence Models:</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Transforming input sequences into output sequences, often used in machine translation and summarization.</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Recurrent Neural Networks (RNNs) and Transformer models like GPT and BERT.</a:t>
            </a:r>
          </a:p>
        </p:txBody>
      </p:sp>
      <p:sp>
        <p:nvSpPr>
          <p:cNvPr id="2" name="TextBox 1">
            <a:extLst>
              <a:ext uri="{FF2B5EF4-FFF2-40B4-BE49-F238E27FC236}">
                <a16:creationId xmlns:a16="http://schemas.microsoft.com/office/drawing/2014/main" id="{26820375-BB1D-9C08-4896-BF600CB69864}"/>
              </a:ext>
            </a:extLst>
          </p:cNvPr>
          <p:cNvSpPr txBox="1"/>
          <p:nvPr/>
        </p:nvSpPr>
        <p:spPr>
          <a:xfrm>
            <a:off x="1001597" y="590800"/>
            <a:ext cx="10517958" cy="830997"/>
          </a:xfrm>
          <a:prstGeom prst="rect">
            <a:avLst/>
          </a:prstGeom>
          <a:noFill/>
        </p:spPr>
        <p:txBody>
          <a:bodyPr wrap="square">
            <a:spAutoFit/>
          </a:bodyPr>
          <a:lstStyle/>
          <a:p>
            <a:r>
              <a:rPr lang="en-US" sz="4800" b="0" i="0" dirty="0">
                <a:solidFill>
                  <a:srgbClr val="E8EAED"/>
                </a:solidFill>
                <a:effectLst/>
                <a:latin typeface="Google Sans"/>
              </a:rPr>
              <a:t>Natural language processing Algorithms</a:t>
            </a:r>
            <a:endParaRPr lang="en-US" sz="4800" dirty="0"/>
          </a:p>
        </p:txBody>
      </p:sp>
    </p:spTree>
    <p:extLst>
      <p:ext uri="{BB962C8B-B14F-4D97-AF65-F5344CB8AC3E}">
        <p14:creationId xmlns:p14="http://schemas.microsoft.com/office/powerpoint/2010/main" val="2951521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25</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870015" y="1872353"/>
            <a:ext cx="10998331" cy="3477875"/>
          </a:xfrm>
          <a:prstGeom prst="rect">
            <a:avLst/>
          </a:prstGeom>
          <a:noFill/>
        </p:spPr>
        <p:txBody>
          <a:bodyPr wrap="square">
            <a:spAutoFit/>
          </a:bodyPr>
          <a:lstStyle/>
          <a:p>
            <a:pPr algn="l">
              <a:buFont typeface="+mj-lt"/>
              <a:buAutoNum type="arabicPeriod"/>
            </a:pPr>
            <a:r>
              <a:rPr lang="en-US" sz="2000" b="1" i="0" dirty="0">
                <a:solidFill>
                  <a:srgbClr val="D1D5DB"/>
                </a:solidFill>
                <a:effectLst/>
                <a:latin typeface="Söhne"/>
              </a:rPr>
              <a:t>Sentiment Analysis:</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Determining the sentiment or emotion expressed in a piece of text.</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Classifying product reviews as positive, negative, or neutral.</a:t>
            </a:r>
          </a:p>
          <a:p>
            <a:pPr algn="l">
              <a:buFont typeface="+mj-lt"/>
              <a:buAutoNum type="arabicPeriod"/>
            </a:pPr>
            <a:r>
              <a:rPr lang="en-US" sz="2000" b="1" i="0" dirty="0">
                <a:solidFill>
                  <a:srgbClr val="D1D5DB"/>
                </a:solidFill>
                <a:effectLst/>
                <a:latin typeface="Söhne"/>
              </a:rPr>
              <a:t>Dependency Parsing:</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Analyzing the grammatical structure of sentences to determine the relationships between words.</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Representing the syntactic structure of a sentence using a dependency tree.</a:t>
            </a:r>
          </a:p>
          <a:p>
            <a:pPr algn="l">
              <a:buFont typeface="+mj-lt"/>
              <a:buAutoNum type="arabicPeriod"/>
            </a:pPr>
            <a:r>
              <a:rPr lang="en-US" sz="2000" b="1" i="0" dirty="0">
                <a:solidFill>
                  <a:srgbClr val="D1D5DB"/>
                </a:solidFill>
                <a:effectLst/>
                <a:latin typeface="Söhne"/>
              </a:rPr>
              <a:t>Machine Translation:</a:t>
            </a:r>
            <a:endParaRPr lang="en-US" sz="2000" b="0" i="0" dirty="0">
              <a:solidFill>
                <a:srgbClr val="D1D5DB"/>
              </a:solidFill>
              <a:effectLst/>
              <a:latin typeface="Söhne"/>
            </a:endParaRPr>
          </a:p>
          <a:p>
            <a:pPr marL="742950" lvl="1" indent="-285750" algn="l">
              <a:buFont typeface="+mj-lt"/>
              <a:buAutoNum type="arabicPeriod"/>
            </a:pPr>
            <a:r>
              <a:rPr lang="en-US" sz="2000" b="1" i="0" dirty="0">
                <a:solidFill>
                  <a:srgbClr val="D1D5DB"/>
                </a:solidFill>
                <a:effectLst/>
                <a:latin typeface="Söhne"/>
              </a:rPr>
              <a:t>Algorithm:</a:t>
            </a:r>
            <a:r>
              <a:rPr lang="en-US" sz="2000" b="0" i="0" dirty="0">
                <a:solidFill>
                  <a:srgbClr val="D1D5DB"/>
                </a:solidFill>
                <a:effectLst/>
                <a:latin typeface="Söhne"/>
              </a:rPr>
              <a:t> Automatically translating text from one language to another.</a:t>
            </a:r>
          </a:p>
          <a:p>
            <a:pPr marL="742950" lvl="1" indent="-285750" algn="l">
              <a:buFont typeface="+mj-lt"/>
              <a:buAutoNum type="arabicPeriod"/>
            </a:pPr>
            <a:r>
              <a:rPr lang="en-US" sz="2000" b="1" i="0" dirty="0">
                <a:solidFill>
                  <a:srgbClr val="D1D5DB"/>
                </a:solidFill>
                <a:effectLst/>
                <a:latin typeface="Söhne"/>
              </a:rPr>
              <a:t>Example:</a:t>
            </a:r>
            <a:r>
              <a:rPr lang="en-US" sz="2000" b="0" i="0" dirty="0">
                <a:solidFill>
                  <a:srgbClr val="D1D5DB"/>
                </a:solidFill>
                <a:effectLst/>
                <a:latin typeface="Söhne"/>
              </a:rPr>
              <a:t> Using statistical models or neural machine translation models like Transformer architectures.</a:t>
            </a:r>
          </a:p>
        </p:txBody>
      </p:sp>
      <p:sp>
        <p:nvSpPr>
          <p:cNvPr id="2" name="TextBox 1">
            <a:extLst>
              <a:ext uri="{FF2B5EF4-FFF2-40B4-BE49-F238E27FC236}">
                <a16:creationId xmlns:a16="http://schemas.microsoft.com/office/drawing/2014/main" id="{55B067EB-F4CE-3B51-B976-B806E4A2F8B7}"/>
              </a:ext>
            </a:extLst>
          </p:cNvPr>
          <p:cNvSpPr txBox="1"/>
          <p:nvPr/>
        </p:nvSpPr>
        <p:spPr>
          <a:xfrm>
            <a:off x="870015" y="768259"/>
            <a:ext cx="10517958" cy="830997"/>
          </a:xfrm>
          <a:prstGeom prst="rect">
            <a:avLst/>
          </a:prstGeom>
          <a:noFill/>
        </p:spPr>
        <p:txBody>
          <a:bodyPr wrap="square">
            <a:spAutoFit/>
          </a:bodyPr>
          <a:lstStyle/>
          <a:p>
            <a:r>
              <a:rPr lang="en-US" sz="4800" b="0" i="0" dirty="0">
                <a:solidFill>
                  <a:srgbClr val="E8EAED"/>
                </a:solidFill>
                <a:effectLst/>
                <a:latin typeface="Google Sans"/>
              </a:rPr>
              <a:t>Natural language processing Algorithms</a:t>
            </a:r>
            <a:endParaRPr lang="en-US" sz="4800" dirty="0"/>
          </a:p>
        </p:txBody>
      </p:sp>
    </p:spTree>
    <p:extLst>
      <p:ext uri="{BB962C8B-B14F-4D97-AF65-F5344CB8AC3E}">
        <p14:creationId xmlns:p14="http://schemas.microsoft.com/office/powerpoint/2010/main" val="1779431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26</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870015" y="1872353"/>
            <a:ext cx="10998331" cy="3785652"/>
          </a:xfrm>
          <a:prstGeom prst="rect">
            <a:avLst/>
          </a:prstGeom>
          <a:noFill/>
        </p:spPr>
        <p:txBody>
          <a:bodyPr wrap="square">
            <a:spAutoFit/>
          </a:bodyPr>
          <a:lstStyle/>
          <a:p>
            <a:pPr algn="l"/>
            <a:r>
              <a:rPr lang="en-US" sz="2000" b="0" i="0" dirty="0">
                <a:effectLst/>
                <a:latin typeface="Söhne"/>
              </a:rPr>
              <a:t>Step 1: Data Preparation</a:t>
            </a:r>
          </a:p>
          <a:p>
            <a:pPr algn="l"/>
            <a:r>
              <a:rPr lang="en-US" sz="2000" b="0" i="0" dirty="0">
                <a:solidFill>
                  <a:srgbClr val="D1D5DB"/>
                </a:solidFill>
                <a:effectLst/>
                <a:latin typeface="Söhne"/>
              </a:rPr>
              <a:t>Let's consider a small dataset of English and French sentence pairs:</a:t>
            </a:r>
          </a:p>
          <a:p>
            <a:pPr algn="l">
              <a:buFont typeface="Arial" panose="020B0604020202020204" pitchFamily="34" charset="0"/>
              <a:buChar char="•"/>
            </a:pPr>
            <a:r>
              <a:rPr lang="en-US" sz="2000" b="0" i="0" dirty="0">
                <a:solidFill>
                  <a:srgbClr val="D1D5DB"/>
                </a:solidFill>
                <a:effectLst/>
                <a:latin typeface="Söhne"/>
              </a:rPr>
              <a:t>English: "I love natural language processing."</a:t>
            </a:r>
          </a:p>
          <a:p>
            <a:pPr algn="l">
              <a:buFont typeface="Arial" panose="020B0604020202020204" pitchFamily="34" charset="0"/>
              <a:buChar char="•"/>
            </a:pPr>
            <a:r>
              <a:rPr lang="en-US" sz="2000" b="0" i="0" dirty="0">
                <a:solidFill>
                  <a:srgbClr val="D1D5DB"/>
                </a:solidFill>
                <a:effectLst/>
                <a:latin typeface="Söhne"/>
              </a:rPr>
              <a:t>French: "</a:t>
            </a:r>
            <a:r>
              <a:rPr lang="en-US" sz="2000" b="0" i="0" dirty="0" err="1">
                <a:solidFill>
                  <a:srgbClr val="D1D5DB"/>
                </a:solidFill>
                <a:effectLst/>
                <a:latin typeface="Söhne"/>
              </a:rPr>
              <a:t>J'adore</a:t>
            </a:r>
            <a:r>
              <a:rPr lang="en-US" sz="2000" b="0" i="0" dirty="0">
                <a:solidFill>
                  <a:srgbClr val="D1D5DB"/>
                </a:solidFill>
                <a:effectLst/>
                <a:latin typeface="Söhne"/>
              </a:rPr>
              <a:t> le </a:t>
            </a:r>
            <a:r>
              <a:rPr lang="en-US" sz="2000" b="0" i="0" dirty="0" err="1">
                <a:solidFill>
                  <a:srgbClr val="D1D5DB"/>
                </a:solidFill>
                <a:effectLst/>
                <a:latin typeface="Söhne"/>
              </a:rPr>
              <a:t>traitement</a:t>
            </a:r>
            <a:r>
              <a:rPr lang="en-US" sz="2000" b="0" i="0" dirty="0">
                <a:solidFill>
                  <a:srgbClr val="D1D5DB"/>
                </a:solidFill>
                <a:effectLst/>
                <a:latin typeface="Söhne"/>
              </a:rPr>
              <a:t> du </a:t>
            </a:r>
            <a:r>
              <a:rPr lang="en-US" sz="2000" b="0" i="0" dirty="0" err="1">
                <a:solidFill>
                  <a:srgbClr val="D1D5DB"/>
                </a:solidFill>
                <a:effectLst/>
                <a:latin typeface="Söhne"/>
              </a:rPr>
              <a:t>langage</a:t>
            </a:r>
            <a:r>
              <a:rPr lang="en-US" sz="2000" b="0" i="0" dirty="0">
                <a:solidFill>
                  <a:srgbClr val="D1D5DB"/>
                </a:solidFill>
                <a:effectLst/>
                <a:latin typeface="Söhne"/>
              </a:rPr>
              <a:t> naturel."</a:t>
            </a:r>
          </a:p>
          <a:p>
            <a:pPr algn="l"/>
            <a:r>
              <a:rPr lang="en-US" sz="2000" b="0" i="0" dirty="0">
                <a:effectLst/>
                <a:latin typeface="Söhne"/>
              </a:rPr>
              <a:t>Step 2: Tokenization</a:t>
            </a:r>
          </a:p>
          <a:p>
            <a:pPr algn="l"/>
            <a:r>
              <a:rPr lang="en-US" sz="2000" b="0" i="0" dirty="0">
                <a:solidFill>
                  <a:srgbClr val="D1D5DB"/>
                </a:solidFill>
                <a:effectLst/>
                <a:latin typeface="Söhne"/>
              </a:rPr>
              <a:t>Tokenize the input (English) and output (French) sentences into individual words:</a:t>
            </a:r>
          </a:p>
          <a:p>
            <a:pPr algn="l">
              <a:buFont typeface="Arial" panose="020B0604020202020204" pitchFamily="34" charset="0"/>
              <a:buChar char="•"/>
            </a:pPr>
            <a:r>
              <a:rPr lang="en-US" sz="2000" b="0" i="0" dirty="0">
                <a:solidFill>
                  <a:srgbClr val="D1D5DB"/>
                </a:solidFill>
                <a:effectLst/>
                <a:latin typeface="Söhne"/>
              </a:rPr>
              <a:t>English: ["I", "love", "natural", "language", "processing"]</a:t>
            </a:r>
          </a:p>
          <a:p>
            <a:pPr algn="l">
              <a:buFont typeface="Arial" panose="020B0604020202020204" pitchFamily="34" charset="0"/>
              <a:buChar char="•"/>
            </a:pPr>
            <a:r>
              <a:rPr lang="en-US" sz="2000" b="0" i="0" dirty="0">
                <a:solidFill>
                  <a:srgbClr val="D1D5DB"/>
                </a:solidFill>
                <a:effectLst/>
                <a:latin typeface="Söhne"/>
              </a:rPr>
              <a:t>French: ["</a:t>
            </a:r>
            <a:r>
              <a:rPr lang="en-US" sz="2000" b="0" i="0" dirty="0" err="1">
                <a:solidFill>
                  <a:srgbClr val="D1D5DB"/>
                </a:solidFill>
                <a:effectLst/>
                <a:latin typeface="Söhne"/>
              </a:rPr>
              <a:t>J'adore</a:t>
            </a:r>
            <a:r>
              <a:rPr lang="en-US" sz="2000" b="0" i="0" dirty="0">
                <a:solidFill>
                  <a:srgbClr val="D1D5DB"/>
                </a:solidFill>
                <a:effectLst/>
                <a:latin typeface="Söhne"/>
              </a:rPr>
              <a:t>", "le", "</a:t>
            </a:r>
            <a:r>
              <a:rPr lang="en-US" sz="2000" b="0" i="0" dirty="0" err="1">
                <a:solidFill>
                  <a:srgbClr val="D1D5DB"/>
                </a:solidFill>
                <a:effectLst/>
                <a:latin typeface="Söhne"/>
              </a:rPr>
              <a:t>traitement</a:t>
            </a:r>
            <a:r>
              <a:rPr lang="en-US" sz="2000" b="0" i="0" dirty="0">
                <a:solidFill>
                  <a:srgbClr val="D1D5DB"/>
                </a:solidFill>
                <a:effectLst/>
                <a:latin typeface="Söhne"/>
              </a:rPr>
              <a:t>", "du", "</a:t>
            </a:r>
            <a:r>
              <a:rPr lang="en-US" sz="2000" b="0" i="0" dirty="0" err="1">
                <a:solidFill>
                  <a:srgbClr val="D1D5DB"/>
                </a:solidFill>
                <a:effectLst/>
                <a:latin typeface="Söhne"/>
              </a:rPr>
              <a:t>langage</a:t>
            </a:r>
            <a:r>
              <a:rPr lang="en-US" sz="2000" b="0" i="0" dirty="0">
                <a:solidFill>
                  <a:srgbClr val="D1D5DB"/>
                </a:solidFill>
                <a:effectLst/>
                <a:latin typeface="Söhne"/>
              </a:rPr>
              <a:t>", "naturel"]</a:t>
            </a:r>
          </a:p>
          <a:p>
            <a:pPr algn="l"/>
            <a:r>
              <a:rPr lang="en-US" sz="2000" b="0" i="0" dirty="0">
                <a:effectLst/>
                <a:latin typeface="Söhne"/>
              </a:rPr>
              <a:t>Step 3: Vocabulary</a:t>
            </a:r>
          </a:p>
          <a:p>
            <a:pPr algn="l"/>
            <a:r>
              <a:rPr lang="en-US" sz="2000" b="0" i="0" dirty="0">
                <a:solidFill>
                  <a:srgbClr val="D1D5DB"/>
                </a:solidFill>
                <a:effectLst/>
                <a:latin typeface="Söhne"/>
              </a:rPr>
              <a:t>Create separate vocabularies for English and French:</a:t>
            </a:r>
          </a:p>
          <a:p>
            <a:pPr algn="l">
              <a:buFont typeface="Arial" panose="020B0604020202020204" pitchFamily="34" charset="0"/>
              <a:buChar char="•"/>
            </a:pPr>
            <a:r>
              <a:rPr lang="en-US" sz="2000" b="0" i="0" dirty="0">
                <a:solidFill>
                  <a:srgbClr val="D1D5DB"/>
                </a:solidFill>
                <a:effectLst/>
                <a:latin typeface="Söhne"/>
              </a:rPr>
              <a:t>English Vocabulary: ["I", "love", "natural", "language", "processing"]</a:t>
            </a:r>
          </a:p>
          <a:p>
            <a:pPr algn="l">
              <a:buFont typeface="Arial" panose="020B0604020202020204" pitchFamily="34" charset="0"/>
              <a:buChar char="•"/>
            </a:pPr>
            <a:r>
              <a:rPr lang="en-US" sz="2000" b="0" i="0" dirty="0">
                <a:solidFill>
                  <a:srgbClr val="D1D5DB"/>
                </a:solidFill>
                <a:effectLst/>
                <a:latin typeface="Söhne"/>
              </a:rPr>
              <a:t>French Vocabulary: ["</a:t>
            </a:r>
            <a:r>
              <a:rPr lang="en-US" sz="2000" b="0" i="0" dirty="0" err="1">
                <a:solidFill>
                  <a:srgbClr val="D1D5DB"/>
                </a:solidFill>
                <a:effectLst/>
                <a:latin typeface="Söhne"/>
              </a:rPr>
              <a:t>J'adore</a:t>
            </a:r>
            <a:r>
              <a:rPr lang="en-US" sz="2000" b="0" i="0" dirty="0">
                <a:solidFill>
                  <a:srgbClr val="D1D5DB"/>
                </a:solidFill>
                <a:effectLst/>
                <a:latin typeface="Söhne"/>
              </a:rPr>
              <a:t>", "le", "</a:t>
            </a:r>
            <a:r>
              <a:rPr lang="en-US" sz="2000" b="0" i="0" dirty="0" err="1">
                <a:solidFill>
                  <a:srgbClr val="D1D5DB"/>
                </a:solidFill>
                <a:effectLst/>
                <a:latin typeface="Söhne"/>
              </a:rPr>
              <a:t>traitement</a:t>
            </a:r>
            <a:r>
              <a:rPr lang="en-US" sz="2000" b="0" i="0" dirty="0">
                <a:solidFill>
                  <a:srgbClr val="D1D5DB"/>
                </a:solidFill>
                <a:effectLst/>
                <a:latin typeface="Söhne"/>
              </a:rPr>
              <a:t>", "du", "</a:t>
            </a:r>
            <a:r>
              <a:rPr lang="en-US" sz="2000" b="0" i="0" dirty="0" err="1">
                <a:solidFill>
                  <a:srgbClr val="D1D5DB"/>
                </a:solidFill>
                <a:effectLst/>
                <a:latin typeface="Söhne"/>
              </a:rPr>
              <a:t>langage</a:t>
            </a:r>
            <a:r>
              <a:rPr lang="en-US" sz="2000" b="0" i="0" dirty="0">
                <a:solidFill>
                  <a:srgbClr val="D1D5DB"/>
                </a:solidFill>
                <a:effectLst/>
                <a:latin typeface="Söhne"/>
              </a:rPr>
              <a:t>", "naturel"]</a:t>
            </a:r>
          </a:p>
        </p:txBody>
      </p:sp>
      <p:sp>
        <p:nvSpPr>
          <p:cNvPr id="2" name="TextBox 1">
            <a:extLst>
              <a:ext uri="{FF2B5EF4-FFF2-40B4-BE49-F238E27FC236}">
                <a16:creationId xmlns:a16="http://schemas.microsoft.com/office/drawing/2014/main" id="{55B067EB-F4CE-3B51-B976-B806E4A2F8B7}"/>
              </a:ext>
            </a:extLst>
          </p:cNvPr>
          <p:cNvSpPr txBox="1"/>
          <p:nvPr/>
        </p:nvSpPr>
        <p:spPr>
          <a:xfrm>
            <a:off x="870015" y="768259"/>
            <a:ext cx="10517958" cy="830997"/>
          </a:xfrm>
          <a:prstGeom prst="rect">
            <a:avLst/>
          </a:prstGeom>
          <a:noFill/>
        </p:spPr>
        <p:txBody>
          <a:bodyPr wrap="square">
            <a:spAutoFit/>
          </a:bodyPr>
          <a:lstStyle/>
          <a:p>
            <a:pPr algn="l"/>
            <a:r>
              <a:rPr lang="en-US" sz="4800" b="1" i="0" dirty="0">
                <a:effectLst/>
                <a:latin typeface="Söhne"/>
              </a:rPr>
              <a:t>Example: English to French Translation</a:t>
            </a:r>
          </a:p>
        </p:txBody>
      </p:sp>
    </p:spTree>
    <p:extLst>
      <p:ext uri="{BB962C8B-B14F-4D97-AF65-F5344CB8AC3E}">
        <p14:creationId xmlns:p14="http://schemas.microsoft.com/office/powerpoint/2010/main" val="20268706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27</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97474235-8DD4-49A0-0677-7773447C35AD}"/>
              </a:ext>
            </a:extLst>
          </p:cNvPr>
          <p:cNvSpPr txBox="1"/>
          <p:nvPr/>
        </p:nvSpPr>
        <p:spPr>
          <a:xfrm>
            <a:off x="870015" y="1872353"/>
            <a:ext cx="10998331" cy="4093428"/>
          </a:xfrm>
          <a:prstGeom prst="rect">
            <a:avLst/>
          </a:prstGeom>
          <a:noFill/>
        </p:spPr>
        <p:txBody>
          <a:bodyPr wrap="square">
            <a:spAutoFit/>
          </a:bodyPr>
          <a:lstStyle/>
          <a:p>
            <a:pPr algn="l"/>
            <a:r>
              <a:rPr lang="en-US" sz="2000" b="0" i="0" dirty="0">
                <a:effectLst/>
                <a:latin typeface="Söhne"/>
              </a:rPr>
              <a:t>Step 4: Assigning Indices</a:t>
            </a:r>
          </a:p>
          <a:p>
            <a:pPr algn="l"/>
            <a:r>
              <a:rPr lang="en-US" sz="2000" b="0" i="0" dirty="0">
                <a:solidFill>
                  <a:srgbClr val="D1D5DB"/>
                </a:solidFill>
                <a:effectLst/>
                <a:latin typeface="Söhne"/>
              </a:rPr>
              <a:t>Assign indices to each word in the vocabularies:</a:t>
            </a:r>
          </a:p>
          <a:p>
            <a:pPr algn="l">
              <a:buFont typeface="Arial" panose="020B0604020202020204" pitchFamily="34" charset="0"/>
              <a:buChar char="•"/>
            </a:pPr>
            <a:r>
              <a:rPr lang="en-US" sz="2000" b="0" i="0" dirty="0">
                <a:solidFill>
                  <a:srgbClr val="D1D5DB"/>
                </a:solidFill>
                <a:effectLst/>
                <a:latin typeface="Söhne"/>
              </a:rPr>
              <a:t>English Indices: [0, 1, 2, 3, 4]</a:t>
            </a:r>
          </a:p>
          <a:p>
            <a:pPr algn="l">
              <a:buFont typeface="Arial" panose="020B0604020202020204" pitchFamily="34" charset="0"/>
              <a:buChar char="•"/>
            </a:pPr>
            <a:r>
              <a:rPr lang="en-US" sz="2000" b="0" i="0" dirty="0">
                <a:solidFill>
                  <a:srgbClr val="D1D5DB"/>
                </a:solidFill>
                <a:effectLst/>
                <a:latin typeface="Söhne"/>
              </a:rPr>
              <a:t>French Indices: [5, 6, 7, 8, 9, 10]</a:t>
            </a:r>
          </a:p>
          <a:p>
            <a:pPr algn="l"/>
            <a:r>
              <a:rPr lang="en-US" sz="2000" b="0" i="0" dirty="0">
                <a:effectLst/>
                <a:latin typeface="Söhne"/>
              </a:rPr>
              <a:t>Step 5: RNN Model</a:t>
            </a:r>
          </a:p>
          <a:p>
            <a:pPr algn="l"/>
            <a:r>
              <a:rPr lang="en-US" sz="2000" b="0" i="0" dirty="0">
                <a:solidFill>
                  <a:srgbClr val="D1D5DB"/>
                </a:solidFill>
                <a:effectLst/>
                <a:latin typeface="Söhne"/>
              </a:rPr>
              <a:t>Train an RNN model to learn the mapping between English and French sequences. The RNN processes one word at a time, maintaining a hidden state that captures the context of the input sequence.</a:t>
            </a:r>
          </a:p>
          <a:p>
            <a:pPr algn="l"/>
            <a:r>
              <a:rPr lang="en-US" sz="2000" b="0" i="0" dirty="0">
                <a:effectLst/>
                <a:latin typeface="Söhne"/>
              </a:rPr>
              <a:t>Step 6: Translation</a:t>
            </a:r>
          </a:p>
          <a:p>
            <a:pPr algn="l"/>
            <a:r>
              <a:rPr lang="en-US" sz="2000" b="0" i="0" dirty="0">
                <a:solidFill>
                  <a:srgbClr val="D1D5DB"/>
                </a:solidFill>
                <a:effectLst/>
                <a:latin typeface="Söhne"/>
              </a:rPr>
              <a:t>Now, given a new English sentence, the trained RNN can generate a sequence of French words as output.</a:t>
            </a:r>
          </a:p>
          <a:p>
            <a:pPr algn="l">
              <a:buFont typeface="Arial" panose="020B0604020202020204" pitchFamily="34" charset="0"/>
              <a:buChar char="•"/>
            </a:pPr>
            <a:r>
              <a:rPr lang="en-US" sz="2000" b="0" i="0" dirty="0">
                <a:solidFill>
                  <a:srgbClr val="D1D5DB"/>
                </a:solidFill>
                <a:effectLst/>
                <a:latin typeface="Söhne"/>
              </a:rPr>
              <a:t>Input (English): "I enjoy deep learning."</a:t>
            </a:r>
          </a:p>
          <a:p>
            <a:pPr algn="l">
              <a:buFont typeface="Arial" panose="020B0604020202020204" pitchFamily="34" charset="0"/>
              <a:buChar char="•"/>
            </a:pPr>
            <a:r>
              <a:rPr lang="en-US" sz="2000" b="0" i="0" dirty="0">
                <a:solidFill>
                  <a:srgbClr val="D1D5DB"/>
                </a:solidFill>
                <a:effectLst/>
                <a:latin typeface="Söhne"/>
              </a:rPr>
              <a:t>Output (French): "</a:t>
            </a:r>
            <a:r>
              <a:rPr lang="en-US" sz="2000" b="0" i="0" dirty="0" err="1">
                <a:solidFill>
                  <a:srgbClr val="D1D5DB"/>
                </a:solidFill>
                <a:effectLst/>
                <a:latin typeface="Söhne"/>
              </a:rPr>
              <a:t>J'apprécie</a:t>
            </a:r>
            <a:r>
              <a:rPr lang="en-US" sz="2000" b="0" i="0" dirty="0">
                <a:solidFill>
                  <a:srgbClr val="D1D5DB"/>
                </a:solidFill>
                <a:effectLst/>
                <a:latin typeface="Söhne"/>
              </a:rPr>
              <a:t> </a:t>
            </a:r>
            <a:r>
              <a:rPr lang="en-US" sz="2000" b="0" i="0" dirty="0" err="1">
                <a:solidFill>
                  <a:srgbClr val="D1D5DB"/>
                </a:solidFill>
                <a:effectLst/>
                <a:latin typeface="Söhne"/>
              </a:rPr>
              <a:t>l'apprentissage</a:t>
            </a:r>
            <a:r>
              <a:rPr lang="en-US" sz="2000" b="0" i="0" dirty="0">
                <a:solidFill>
                  <a:srgbClr val="D1D5DB"/>
                </a:solidFill>
                <a:effectLst/>
                <a:latin typeface="Söhne"/>
              </a:rPr>
              <a:t> </a:t>
            </a:r>
            <a:r>
              <a:rPr lang="en-US" sz="2000" b="0" i="0" dirty="0" err="1">
                <a:solidFill>
                  <a:srgbClr val="D1D5DB"/>
                </a:solidFill>
                <a:effectLst/>
                <a:latin typeface="Söhne"/>
              </a:rPr>
              <a:t>profond</a:t>
            </a:r>
            <a:r>
              <a:rPr lang="en-US" sz="2000" b="0" i="0" dirty="0">
                <a:solidFill>
                  <a:srgbClr val="D1D5DB"/>
                </a:solidFill>
                <a:effectLst/>
                <a:latin typeface="Söhne"/>
              </a:rPr>
              <a:t>."</a:t>
            </a:r>
          </a:p>
          <a:p>
            <a:pPr algn="l"/>
            <a:r>
              <a:rPr lang="en-US" sz="2000" b="0" i="0" dirty="0">
                <a:solidFill>
                  <a:srgbClr val="D1D5DB"/>
                </a:solidFill>
                <a:effectLst/>
                <a:latin typeface="Söhne"/>
              </a:rPr>
              <a:t>In this example, the RNN has learned the patterns and relationships between English and French words during training and is able to generate reasonable translations for new input sequences.</a:t>
            </a:r>
          </a:p>
        </p:txBody>
      </p:sp>
      <p:sp>
        <p:nvSpPr>
          <p:cNvPr id="2" name="TextBox 1">
            <a:extLst>
              <a:ext uri="{FF2B5EF4-FFF2-40B4-BE49-F238E27FC236}">
                <a16:creationId xmlns:a16="http://schemas.microsoft.com/office/drawing/2014/main" id="{55B067EB-F4CE-3B51-B976-B806E4A2F8B7}"/>
              </a:ext>
            </a:extLst>
          </p:cNvPr>
          <p:cNvSpPr txBox="1"/>
          <p:nvPr/>
        </p:nvSpPr>
        <p:spPr>
          <a:xfrm>
            <a:off x="870015" y="768259"/>
            <a:ext cx="10517958" cy="830997"/>
          </a:xfrm>
          <a:prstGeom prst="rect">
            <a:avLst/>
          </a:prstGeom>
          <a:noFill/>
        </p:spPr>
        <p:txBody>
          <a:bodyPr wrap="square">
            <a:spAutoFit/>
          </a:bodyPr>
          <a:lstStyle/>
          <a:p>
            <a:pPr algn="l"/>
            <a:r>
              <a:rPr lang="en-US" sz="4800" b="1" i="0" dirty="0">
                <a:effectLst/>
                <a:latin typeface="Söhne"/>
              </a:rPr>
              <a:t>Example: English to French Translation</a:t>
            </a:r>
          </a:p>
        </p:txBody>
      </p:sp>
    </p:spTree>
    <p:extLst>
      <p:ext uri="{BB962C8B-B14F-4D97-AF65-F5344CB8AC3E}">
        <p14:creationId xmlns:p14="http://schemas.microsoft.com/office/powerpoint/2010/main" val="1017520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28</a:t>
            </a:fld>
            <a:endParaRPr lang="en-US"/>
          </a:p>
        </p:txBody>
      </p:sp>
      <p:pic>
        <p:nvPicPr>
          <p:cNvPr id="2052" name="Picture 4" descr="What is NLP and how It is Implemented in Our Lives - Amazinum">
            <a:extLst>
              <a:ext uri="{FF2B5EF4-FFF2-40B4-BE49-F238E27FC236}">
                <a16:creationId xmlns:a16="http://schemas.microsoft.com/office/drawing/2014/main" id="{09867BB9-C773-CE38-8617-3030F6EC5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26" y="122548"/>
            <a:ext cx="9662474" cy="6574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146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29</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6" name="Picture 4" descr="Natural Language Processing: Data Analysis Like Never Before">
            <a:extLst>
              <a:ext uri="{FF2B5EF4-FFF2-40B4-BE49-F238E27FC236}">
                <a16:creationId xmlns:a16="http://schemas.microsoft.com/office/drawing/2014/main" id="{47930486-FA75-F8AA-1CFC-FDD7A49DA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003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30</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146" name="Picture 2" descr="TensorFlow Natural Language Processing (NLP) Project (6-min read) – Ben  Polzin – Engineer | Data Scientist | Machine Learning | Passionate,  Data-Driven, and Future-Focused">
            <a:extLst>
              <a:ext uri="{FF2B5EF4-FFF2-40B4-BE49-F238E27FC236}">
                <a16:creationId xmlns:a16="http://schemas.microsoft.com/office/drawing/2014/main" id="{6F76E564-E4E4-3355-AF5B-EEFEE2784E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7" y="0"/>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3114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31</a:t>
            </a:fld>
            <a:endParaRPr lang="en-US"/>
          </a:p>
        </p:txBody>
      </p:sp>
      <p:sp>
        <p:nvSpPr>
          <p:cNvPr id="5" name="Rectangle 7">
            <a:extLst>
              <a:ext uri="{FF2B5EF4-FFF2-40B4-BE49-F238E27FC236}">
                <a16:creationId xmlns:a16="http://schemas.microsoft.com/office/drawing/2014/main" id="{62277AE5-B6CB-DAAF-474F-A645DAE30391}"/>
              </a:ext>
            </a:extLst>
          </p:cNvPr>
          <p:cNvSpPr>
            <a:spLocks noChangeArrowheads="1"/>
          </p:cNvSpPr>
          <p:nvPr/>
        </p:nvSpPr>
        <p:spPr bwMode="auto">
          <a:xfrm>
            <a:off x="0" y="0"/>
            <a:ext cx="12192000" cy="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computer vision libraries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170" name="Picture 2" descr="NLP Pipeline: Building an NLP Pipeline, Step-by-Step | by Suneel Patel |  Medium">
            <a:extLst>
              <a:ext uri="{FF2B5EF4-FFF2-40B4-BE49-F238E27FC236}">
                <a16:creationId xmlns:a16="http://schemas.microsoft.com/office/drawing/2014/main" id="{765D2C42-66CA-9C09-0D45-651420D0EB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685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CFD7D6-CE06-8C97-8BAB-25D34EAB8CAC}"/>
              </a:ext>
            </a:extLst>
          </p:cNvPr>
          <p:cNvSpPr>
            <a:spLocks noGrp="1"/>
          </p:cNvSpPr>
          <p:nvPr>
            <p:ph type="sldNum" sz="quarter" idx="12"/>
          </p:nvPr>
        </p:nvSpPr>
        <p:spPr/>
        <p:txBody>
          <a:bodyPr/>
          <a:lstStyle/>
          <a:p>
            <a:fld id="{34B7E4EF-A1BD-40F4-AB7B-04F084DD991D}" type="slidenum">
              <a:rPr lang="en-US" smtClean="0"/>
              <a:t>32</a:t>
            </a:fld>
            <a:endParaRPr lang="en-US"/>
          </a:p>
        </p:txBody>
      </p:sp>
      <p:pic>
        <p:nvPicPr>
          <p:cNvPr id="2050" name="Picture 2" descr="Applications of Natural Language Processing | Data Science Dojo">
            <a:extLst>
              <a:ext uri="{FF2B5EF4-FFF2-40B4-BE49-F238E27FC236}">
                <a16:creationId xmlns:a16="http://schemas.microsoft.com/office/drawing/2014/main" id="{66CAAF76-208A-3542-1755-1044513FA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17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EEFD2E0-F85B-B3AE-DB88-6A9639AC5F78}"/>
              </a:ext>
            </a:extLst>
          </p:cNvPr>
          <p:cNvSpPr>
            <a:spLocks noGrp="1"/>
          </p:cNvSpPr>
          <p:nvPr>
            <p:ph idx="1"/>
          </p:nvPr>
        </p:nvSpPr>
        <p:spPr/>
        <p:txBody>
          <a:bodyPr/>
          <a:lstStyle/>
          <a:p>
            <a:endParaRPr lang="en-US"/>
          </a:p>
        </p:txBody>
      </p:sp>
      <p:pic>
        <p:nvPicPr>
          <p:cNvPr id="7170" name="Picture 2" descr="Overview: State-of-the-Art Machine Learning Algorithms per Discipline &amp; per  Task | by Hucker Marius | Towards Data Science">
            <a:extLst>
              <a:ext uri="{FF2B5EF4-FFF2-40B4-BE49-F238E27FC236}">
                <a16:creationId xmlns:a16="http://schemas.microsoft.com/office/drawing/2014/main" id="{5AA79213-01DE-C911-A644-57915D59C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241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979D02-AEFB-E563-BFA7-E8CFB7A41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540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EC64-DCC7-BA69-516B-11DF695328AB}"/>
              </a:ext>
            </a:extLst>
          </p:cNvPr>
          <p:cNvSpPr>
            <a:spLocks noGrp="1"/>
          </p:cNvSpPr>
          <p:nvPr>
            <p:ph type="title"/>
          </p:nvPr>
        </p:nvSpPr>
        <p:spPr>
          <a:xfrm>
            <a:off x="5291668" y="1215496"/>
            <a:ext cx="5367866" cy="2387600"/>
          </a:xfrm>
        </p:spPr>
        <p:txBody>
          <a:bodyPr vert="horz" lIns="91440" tIns="45720" rIns="91440" bIns="45720" rtlCol="0" anchor="b">
            <a:normAutofit/>
          </a:bodyPr>
          <a:lstStyle/>
          <a:p>
            <a:r>
              <a:rPr lang="en-US" sz="4400" dirty="0"/>
              <a:t>Questions</a:t>
            </a:r>
          </a:p>
        </p:txBody>
      </p:sp>
      <p:pic>
        <p:nvPicPr>
          <p:cNvPr id="69" name="Graphic 5" descr="Help">
            <a:extLst>
              <a:ext uri="{FF2B5EF4-FFF2-40B4-BE49-F238E27FC236}">
                <a16:creationId xmlns:a16="http://schemas.microsoft.com/office/drawing/2014/main" id="{F7C49DB2-71C7-42D8-790C-EFD11E09BB4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503" y="1539186"/>
            <a:ext cx="3525628" cy="352562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783110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792BD-7658-2385-8108-0E3A9F1FF2B0}"/>
              </a:ext>
            </a:extLst>
          </p:cNvPr>
          <p:cNvSpPr>
            <a:spLocks noGrp="1"/>
          </p:cNvSpPr>
          <p:nvPr>
            <p:ph type="title"/>
          </p:nvPr>
        </p:nvSpPr>
        <p:spPr>
          <a:xfrm>
            <a:off x="2667000" y="2328334"/>
            <a:ext cx="6858000" cy="1367896"/>
          </a:xfrm>
        </p:spPr>
        <p:txBody>
          <a:bodyPr vert="horz" lIns="91440" tIns="45720" rIns="91440" bIns="45720" rtlCol="0" anchor="b">
            <a:normAutofit/>
          </a:bodyPr>
          <a:lstStyle/>
          <a:p>
            <a:pPr algn="ctr"/>
            <a:r>
              <a:rPr lang="en-US" sz="8000" b="1" dirty="0"/>
              <a:t>Thank you</a:t>
            </a:r>
          </a:p>
        </p:txBody>
      </p:sp>
    </p:spTree>
    <p:extLst>
      <p:ext uri="{BB962C8B-B14F-4D97-AF65-F5344CB8AC3E}">
        <p14:creationId xmlns:p14="http://schemas.microsoft.com/office/powerpoint/2010/main" val="19151666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1729</TotalTime>
  <Words>1944</Words>
  <Application>Microsoft Office PowerPoint</Application>
  <PresentationFormat>Widescreen</PresentationFormat>
  <Paragraphs>170</Paragraphs>
  <Slides>36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Google Sans</vt:lpstr>
      <vt:lpstr>Söhne</vt:lpstr>
      <vt:lpstr>Celestial</vt:lpstr>
      <vt:lpstr>Intro to Computer Vision &amp; NLP</vt:lpstr>
      <vt:lpstr>PowerPoint Presentation</vt:lpstr>
      <vt:lpstr>PowerPoint Presentation</vt:lpstr>
      <vt:lpstr>PowerPoint Presentation</vt:lpstr>
      <vt:lpstr>PowerPoint Presentation</vt:lpstr>
      <vt:lpstr>Data science and its History</vt:lpstr>
      <vt:lpstr>Data science and its History</vt:lpstr>
      <vt:lpstr>Data science and its History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Machine Learning &amp; Introduction to Deep Learning</dc:title>
  <dc:creator>يوسف طارق عبدالمعبود البارودى</dc:creator>
  <cp:lastModifiedBy>Muhammad Khaled Muhammad Muhammad Ali Idris</cp:lastModifiedBy>
  <cp:revision>12</cp:revision>
  <dcterms:created xsi:type="dcterms:W3CDTF">2023-08-25T23:20:15Z</dcterms:created>
  <dcterms:modified xsi:type="dcterms:W3CDTF">2024-01-07T18:32:58Z</dcterms:modified>
</cp:coreProperties>
</file>