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61"/>
  </p:notesMasterIdLst>
  <p:sldIdLst>
    <p:sldId id="256" r:id="rId2"/>
    <p:sldId id="257" r:id="rId3"/>
    <p:sldId id="267" r:id="rId4"/>
    <p:sldId id="296" r:id="rId5"/>
    <p:sldId id="295" r:id="rId6"/>
    <p:sldId id="294" r:id="rId7"/>
    <p:sldId id="293" r:id="rId8"/>
    <p:sldId id="292" r:id="rId9"/>
    <p:sldId id="291" r:id="rId10"/>
    <p:sldId id="290" r:id="rId11"/>
    <p:sldId id="289" r:id="rId12"/>
    <p:sldId id="288" r:id="rId13"/>
    <p:sldId id="287" r:id="rId14"/>
    <p:sldId id="286" r:id="rId15"/>
    <p:sldId id="285" r:id="rId16"/>
    <p:sldId id="284" r:id="rId17"/>
    <p:sldId id="297" r:id="rId18"/>
    <p:sldId id="282" r:id="rId19"/>
    <p:sldId id="283" r:id="rId20"/>
    <p:sldId id="306" r:id="rId21"/>
    <p:sldId id="305" r:id="rId22"/>
    <p:sldId id="304" r:id="rId23"/>
    <p:sldId id="303" r:id="rId24"/>
    <p:sldId id="307" r:id="rId25"/>
    <p:sldId id="309" r:id="rId26"/>
    <p:sldId id="308" r:id="rId27"/>
    <p:sldId id="302" r:id="rId28"/>
    <p:sldId id="301" r:id="rId29"/>
    <p:sldId id="300" r:id="rId30"/>
    <p:sldId id="316" r:id="rId31"/>
    <p:sldId id="299" r:id="rId32"/>
    <p:sldId id="315" r:id="rId33"/>
    <p:sldId id="314" r:id="rId34"/>
    <p:sldId id="313" r:id="rId35"/>
    <p:sldId id="312" r:id="rId36"/>
    <p:sldId id="311" r:id="rId37"/>
    <p:sldId id="310" r:id="rId38"/>
    <p:sldId id="323" r:id="rId39"/>
    <p:sldId id="322" r:id="rId40"/>
    <p:sldId id="321" r:id="rId41"/>
    <p:sldId id="320" r:id="rId42"/>
    <p:sldId id="319" r:id="rId43"/>
    <p:sldId id="318" r:id="rId44"/>
    <p:sldId id="317" r:id="rId45"/>
    <p:sldId id="332" r:id="rId46"/>
    <p:sldId id="298" r:id="rId47"/>
    <p:sldId id="331" r:id="rId48"/>
    <p:sldId id="330" r:id="rId49"/>
    <p:sldId id="329" r:id="rId50"/>
    <p:sldId id="328" r:id="rId51"/>
    <p:sldId id="327" r:id="rId52"/>
    <p:sldId id="326" r:id="rId53"/>
    <p:sldId id="324" r:id="rId54"/>
    <p:sldId id="341" r:id="rId55"/>
    <p:sldId id="340" r:id="rId56"/>
    <p:sldId id="339" r:id="rId57"/>
    <p:sldId id="338" r:id="rId58"/>
    <p:sldId id="281" r:id="rId59"/>
    <p:sldId id="265" r:id="rId60"/>
  </p:sldIdLst>
  <p:sldSz cx="9144000" cy="5143500" type="screen16x9"/>
  <p:notesSz cx="6858000" cy="9144000"/>
  <p:embeddedFontLst>
    <p:embeddedFont>
      <p:font typeface="Audiowide" panose="020B0604020202020204" charset="0"/>
      <p:regular r:id="rId62"/>
    </p:embeddedFont>
    <p:embeddedFont>
      <p:font typeface="Karla" pitchFamily="2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945C18-DC50-4A0C-B772-0B5F9BE0D4EE}">
  <a:tblStyle styleId="{9F945C18-DC50-4A0C-B772-0B5F9BE0D4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161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1caab1d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21caab1d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868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8474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8822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1970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359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2560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243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7303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798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7758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721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40502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68562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8018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2753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8229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103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54285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8398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31699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3654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87734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35863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487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2579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45046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8101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104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50823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56886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0032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7770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3649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72983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3548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1417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04907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14501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80138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4233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0800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495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52962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8447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73149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91777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09319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3088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9664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881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830496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94626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22671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732707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18036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1ed1af4641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1ed1af4641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25850" y="1317528"/>
            <a:ext cx="5892300" cy="235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25850" y="3778500"/>
            <a:ext cx="5892300" cy="4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1050" y="-447675"/>
            <a:ext cx="5892301" cy="36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261050" y="1962150"/>
            <a:ext cx="5892301" cy="36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1684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825300" y="-371475"/>
            <a:ext cx="4857272" cy="30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5048253" y="2398274"/>
            <a:ext cx="5095572" cy="31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0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 rot="300">
            <a:off x="720000" y="3295650"/>
            <a:ext cx="3433500" cy="120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 amt="75000"/>
          </a:blip>
          <a:srcRect l="23664" t="13299"/>
          <a:stretch/>
        </p:blipFill>
        <p:spPr>
          <a:xfrm>
            <a:off x="9525" y="-156200"/>
            <a:ext cx="4171950" cy="29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 amt="75000"/>
          </a:blip>
          <a:srcRect l="21334" t="3883"/>
          <a:stretch/>
        </p:blipFill>
        <p:spPr>
          <a:xfrm rot="-10799995">
            <a:off x="5739700" y="2603702"/>
            <a:ext cx="3747200" cy="28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 amt="75000"/>
          </a:blip>
          <a:srcRect l="20356"/>
          <a:stretch/>
        </p:blipFill>
        <p:spPr>
          <a:xfrm rot="5400000">
            <a:off x="4631025" y="510125"/>
            <a:ext cx="5524500" cy="4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 amt="75000"/>
          </a:blip>
          <a:srcRect l="16645" t="537"/>
          <a:stretch/>
        </p:blipFill>
        <p:spPr>
          <a:xfrm rot="-5399997">
            <a:off x="-1058539" y="294014"/>
            <a:ext cx="5654502" cy="417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37000">
              <a:schemeClr val="dk1"/>
            </a:gs>
            <a:gs pos="63000">
              <a:schemeClr val="dk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2475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udiowide"/>
              <a:buNone/>
              <a:defRPr sz="2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2475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71" r:id="rId5"/>
    <p:sldLayoutId id="2147483672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1727250" y="1228150"/>
            <a:ext cx="5689500" cy="2476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0"/>
          <p:cNvSpPr txBox="1">
            <a:spLocks noGrp="1"/>
          </p:cNvSpPr>
          <p:nvPr>
            <p:ph type="ctrTitle"/>
          </p:nvPr>
        </p:nvSpPr>
        <p:spPr>
          <a:xfrm>
            <a:off x="1625850" y="1317528"/>
            <a:ext cx="5892300" cy="235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Data </a:t>
            </a:r>
            <a:br>
              <a:rPr lang="en-US" sz="5400" dirty="0"/>
            </a:br>
            <a:r>
              <a:rPr lang="en-US" sz="4800" dirty="0"/>
              <a:t>Analysis &amp; Preprocessing</a:t>
            </a:r>
            <a:endParaRPr sz="4400" dirty="0">
              <a:solidFill>
                <a:srgbClr val="CC0000"/>
              </a:solidFill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1"/>
          </p:nvPr>
        </p:nvSpPr>
        <p:spPr>
          <a:xfrm>
            <a:off x="1413419" y="3921148"/>
            <a:ext cx="5892300" cy="4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Eng- Mohamed Khaled Idris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Eng- Mayar Swilam</a:t>
            </a:r>
            <a:endParaRPr dirty="0"/>
          </a:p>
        </p:txBody>
      </p:sp>
      <p:grpSp>
        <p:nvGrpSpPr>
          <p:cNvPr id="284" name="Google Shape;284;p30"/>
          <p:cNvGrpSpPr/>
          <p:nvPr/>
        </p:nvGrpSpPr>
        <p:grpSpPr>
          <a:xfrm>
            <a:off x="1006807" y="487596"/>
            <a:ext cx="288601" cy="1096693"/>
            <a:chOff x="1006700" y="2603975"/>
            <a:chExt cx="55450" cy="210700"/>
          </a:xfrm>
        </p:grpSpPr>
        <p:sp>
          <p:nvSpPr>
            <p:cNvPr id="285" name="Google Shape;285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" name="Google Shape;291;p30"/>
          <p:cNvGrpSpPr/>
          <p:nvPr/>
        </p:nvGrpSpPr>
        <p:grpSpPr>
          <a:xfrm rot="5400000">
            <a:off x="7769557" y="3906771"/>
            <a:ext cx="288601" cy="1096693"/>
            <a:chOff x="1006700" y="2603975"/>
            <a:chExt cx="55450" cy="210700"/>
          </a:xfrm>
        </p:grpSpPr>
        <p:sp>
          <p:nvSpPr>
            <p:cNvPr id="292" name="Google Shape;292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30"/>
          <p:cNvGrpSpPr/>
          <p:nvPr/>
        </p:nvGrpSpPr>
        <p:grpSpPr>
          <a:xfrm>
            <a:off x="551124" y="3629702"/>
            <a:ext cx="1178637" cy="1096691"/>
            <a:chOff x="827350" y="3629733"/>
            <a:chExt cx="1431600" cy="1332067"/>
          </a:xfrm>
        </p:grpSpPr>
        <p:sp>
          <p:nvSpPr>
            <p:cNvPr id="299" name="Google Shape;29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30"/>
          <p:cNvGrpSpPr/>
          <p:nvPr/>
        </p:nvGrpSpPr>
        <p:grpSpPr>
          <a:xfrm>
            <a:off x="322602" y="2902809"/>
            <a:ext cx="781224" cy="726909"/>
            <a:chOff x="827350" y="3629733"/>
            <a:chExt cx="1431600" cy="1332067"/>
          </a:xfrm>
        </p:grpSpPr>
        <p:sp>
          <p:nvSpPr>
            <p:cNvPr id="303" name="Google Shape;303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30"/>
          <p:cNvGrpSpPr/>
          <p:nvPr/>
        </p:nvGrpSpPr>
        <p:grpSpPr>
          <a:xfrm>
            <a:off x="1816189" y="4394848"/>
            <a:ext cx="356325" cy="331552"/>
            <a:chOff x="827350" y="3629733"/>
            <a:chExt cx="1431600" cy="1332067"/>
          </a:xfrm>
        </p:grpSpPr>
        <p:sp>
          <p:nvSpPr>
            <p:cNvPr id="307" name="Google Shape;307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" name="Google Shape;310;p30"/>
          <p:cNvGrpSpPr/>
          <p:nvPr/>
        </p:nvGrpSpPr>
        <p:grpSpPr>
          <a:xfrm>
            <a:off x="7466251" y="219713"/>
            <a:ext cx="895180" cy="832942"/>
            <a:chOff x="827350" y="3629733"/>
            <a:chExt cx="1431600" cy="1332067"/>
          </a:xfrm>
        </p:grpSpPr>
        <p:sp>
          <p:nvSpPr>
            <p:cNvPr id="311" name="Google Shape;311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" name="Google Shape;314;p30"/>
          <p:cNvGrpSpPr/>
          <p:nvPr/>
        </p:nvGrpSpPr>
        <p:grpSpPr>
          <a:xfrm>
            <a:off x="8131283" y="1065715"/>
            <a:ext cx="598982" cy="557337"/>
            <a:chOff x="827350" y="3629733"/>
            <a:chExt cx="1431600" cy="1332067"/>
          </a:xfrm>
        </p:grpSpPr>
        <p:sp>
          <p:nvSpPr>
            <p:cNvPr id="315" name="Google Shape;315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0"/>
          <p:cNvGrpSpPr/>
          <p:nvPr/>
        </p:nvGrpSpPr>
        <p:grpSpPr>
          <a:xfrm>
            <a:off x="6901231" y="620669"/>
            <a:ext cx="464268" cy="431989"/>
            <a:chOff x="827350" y="3629733"/>
            <a:chExt cx="1431600" cy="1332067"/>
          </a:xfrm>
        </p:grpSpPr>
        <p:sp>
          <p:nvSpPr>
            <p:cNvPr id="319" name="Google Shape;31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FFCD9B-A246-8CB9-634B-27BEE4A1B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109" y="1250676"/>
            <a:ext cx="6239746" cy="3524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8616F1-18E3-AB56-9746-11004F73CCE0}"/>
              </a:ext>
            </a:extLst>
          </p:cNvPr>
          <p:cNvSpPr txBox="1"/>
          <p:nvPr/>
        </p:nvSpPr>
        <p:spPr>
          <a:xfrm>
            <a:off x="1243012" y="471488"/>
            <a:ext cx="3879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Review: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2AC1-1883-39D8-A2DF-FF3EADC74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81825"/>
            <a:ext cx="8957534" cy="118283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What is Data Analysis ?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(Google Data Analytics)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AE6DAA-B720-B81E-F20E-0BDFDA387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43" y="273928"/>
            <a:ext cx="7955314" cy="297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49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EA0720E0-56CF-ECA3-06BA-253DB15D6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115747"/>
            <a:ext cx="9144000" cy="52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2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D3458-5B43-D4D6-83FC-49D8BC3A2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806" y="1143698"/>
            <a:ext cx="3734941" cy="23966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In other words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(UDACITY)</a:t>
            </a:r>
          </a:p>
        </p:txBody>
      </p:sp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C2D7C659-1196-0471-23BE-F403E5B9F8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524" b="3"/>
          <a:stretch/>
        </p:blipFill>
        <p:spPr>
          <a:xfrm>
            <a:off x="5180459" y="836070"/>
            <a:ext cx="3734941" cy="347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27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text&#10;&#10;Description automatically generated with low confidence">
            <a:extLst>
              <a:ext uri="{FF2B5EF4-FFF2-40B4-BE49-F238E27FC236}">
                <a16:creationId xmlns:a16="http://schemas.microsoft.com/office/drawing/2014/main" id="{8770B501-D35A-C437-FC8B-804C717D3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4300"/>
            <a:ext cx="933755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44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paper with black text&#10;&#10;Description automatically generated">
            <a:extLst>
              <a:ext uri="{FF2B5EF4-FFF2-40B4-BE49-F238E27FC236}">
                <a16:creationId xmlns:a16="http://schemas.microsoft.com/office/drawing/2014/main" id="{9A3C7752-D895-641A-6A56-25A1E69D1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29169"/>
            <a:ext cx="9236869" cy="542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7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screen">
            <a:extLst>
              <a:ext uri="{FF2B5EF4-FFF2-40B4-BE49-F238E27FC236}">
                <a16:creationId xmlns:a16="http://schemas.microsoft.com/office/drawing/2014/main" id="{1767A981-08F2-CB70-BCF3-A2ADA51A9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8588"/>
            <a:ext cx="9144000" cy="527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5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ext&#10;&#10;Description automatically generated">
            <a:extLst>
              <a:ext uri="{FF2B5EF4-FFF2-40B4-BE49-F238E27FC236}">
                <a16:creationId xmlns:a16="http://schemas.microsoft.com/office/drawing/2014/main" id="{A2AA65FF-3D67-2D34-1CB6-A4E8675FE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53" y="1269916"/>
            <a:ext cx="8256693" cy="275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1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purple and black text&#10;&#10;Description automatically generated">
            <a:extLst>
              <a:ext uri="{FF2B5EF4-FFF2-40B4-BE49-F238E27FC236}">
                <a16:creationId xmlns:a16="http://schemas.microsoft.com/office/drawing/2014/main" id="{B7A27B60-EA42-9EBA-DC53-9619D9B48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49" y="152400"/>
            <a:ext cx="7987051" cy="345440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9B29217-557B-1E50-6E5B-E162FB16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2296" y="3369533"/>
            <a:ext cx="8791575" cy="13016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Types of Analysis</a:t>
            </a:r>
          </a:p>
        </p:txBody>
      </p:sp>
    </p:spTree>
    <p:extLst>
      <p:ext uri="{BB962C8B-B14F-4D97-AF65-F5344CB8AC3E}">
        <p14:creationId xmlns:p14="http://schemas.microsoft.com/office/powerpoint/2010/main" val="1542585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4D455-BAE3-D25C-9B64-895A49930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319723"/>
            <a:ext cx="7559039" cy="30273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That brings us into “Data Quality”</a:t>
            </a:r>
          </a:p>
        </p:txBody>
      </p:sp>
    </p:spTree>
    <p:extLst>
      <p:ext uri="{BB962C8B-B14F-4D97-AF65-F5344CB8AC3E}">
        <p14:creationId xmlns:p14="http://schemas.microsoft.com/office/powerpoint/2010/main" val="1976848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A204-B6C6-3EF1-A0CE-F67CBF68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3853" y="628945"/>
            <a:ext cx="9905998" cy="1478570"/>
          </a:xfrm>
        </p:spPr>
        <p:txBody>
          <a:bodyPr/>
          <a:lstStyle/>
          <a:p>
            <a:r>
              <a:rPr lang="en-US" dirty="0"/>
              <a:t>What is the dimensions of “Data Quality”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8C768-A83E-7A80-0D50-5D590B773B12}"/>
              </a:ext>
            </a:extLst>
          </p:cNvPr>
          <p:cNvSpPr txBox="1"/>
          <p:nvPr/>
        </p:nvSpPr>
        <p:spPr>
          <a:xfrm>
            <a:off x="216853" y="2107515"/>
            <a:ext cx="80737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 a measurement of the degree to which data is fit for purpose. Good data quality generates trust in data. Data Quality Dimensions are a measurement of a specific attribute of a data's quality.</a:t>
            </a:r>
          </a:p>
        </p:txBody>
      </p:sp>
    </p:spTree>
    <p:extLst>
      <p:ext uri="{BB962C8B-B14F-4D97-AF65-F5344CB8AC3E}">
        <p14:creationId xmlns:p14="http://schemas.microsoft.com/office/powerpoint/2010/main" val="253597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C4DF-EE68-9E3F-0629-BE25B5389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1214" y="3584742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Completeness</a:t>
            </a:r>
          </a:p>
        </p:txBody>
      </p:sp>
      <p:pic>
        <p:nvPicPr>
          <p:cNvPr id="3" name="Picture 2" descr="A green squares with red arrows&#10;&#10;Description automatically generated">
            <a:extLst>
              <a:ext uri="{FF2B5EF4-FFF2-40B4-BE49-F238E27FC236}">
                <a16:creationId xmlns:a16="http://schemas.microsoft.com/office/drawing/2014/main" id="{331AF51F-52F0-A832-E2A2-ADB041587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66" y="301462"/>
            <a:ext cx="8771068" cy="353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7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0CC7-2122-6585-3C5D-DE4FF74E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1214" y="363533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Example</a:t>
            </a:r>
          </a:p>
        </p:txBody>
      </p:sp>
      <p:pic>
        <p:nvPicPr>
          <p:cNvPr id="3" name="Picture 2" descr="A screenshot of a credit card&#10;&#10;Description automatically generated">
            <a:extLst>
              <a:ext uri="{FF2B5EF4-FFF2-40B4-BE49-F238E27FC236}">
                <a16:creationId xmlns:a16="http://schemas.microsoft.com/office/drawing/2014/main" id="{0A8C2CBF-6EF8-7E76-1905-1CB3FB972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66" y="209813"/>
            <a:ext cx="8865461" cy="350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9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C355-D804-6885-657F-644D68093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4960" y="3545840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Validity</a:t>
            </a:r>
          </a:p>
        </p:txBody>
      </p:sp>
      <p:pic>
        <p:nvPicPr>
          <p:cNvPr id="3" name="Picture 2" descr="A green rectangular squares with black text&#10;&#10;Description automatically generated">
            <a:extLst>
              <a:ext uri="{FF2B5EF4-FFF2-40B4-BE49-F238E27FC236}">
                <a16:creationId xmlns:a16="http://schemas.microsoft.com/office/drawing/2014/main" id="{32618EBD-0257-FE82-31D9-416A8A14A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" y="159013"/>
            <a:ext cx="8764493" cy="338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98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0BE9-F986-275A-2D80-A59949E47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5417" y="358453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Uniqueness</a:t>
            </a:r>
          </a:p>
        </p:txBody>
      </p:sp>
      <p:pic>
        <p:nvPicPr>
          <p:cNvPr id="3" name="Picture 2" descr="A colorful stripes on a white background&#10;&#10;Description automatically generated">
            <a:extLst>
              <a:ext uri="{FF2B5EF4-FFF2-40B4-BE49-F238E27FC236}">
                <a16:creationId xmlns:a16="http://schemas.microsoft.com/office/drawing/2014/main" id="{89CB4C4A-F469-E048-1162-645F502B6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" y="118373"/>
            <a:ext cx="8696959" cy="35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933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0AC5-8824-9AEB-DC8A-9E58FEE8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3294" y="377757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Example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4DE7A1B-B1EF-8B4D-2029-2E8EBE08A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67" y="183089"/>
            <a:ext cx="8845774" cy="379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80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18481-7EE5-8E70-4C6A-CEF8F73F5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1710" y="3442019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/>
              <a:t>Timeliness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5C6921-A238-12CE-46BC-9494A3B3DA47}"/>
              </a:ext>
            </a:extLst>
          </p:cNvPr>
          <p:cNvSpPr/>
          <p:nvPr/>
        </p:nvSpPr>
        <p:spPr>
          <a:xfrm>
            <a:off x="291294" y="103108"/>
            <a:ext cx="8852705" cy="301752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9C5C10D3-D728-9D49-66BC-5AE01D179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76" y="381802"/>
            <a:ext cx="5051471" cy="2460131"/>
          </a:xfrm>
          <a:prstGeom prst="rect">
            <a:avLst/>
          </a:prstGeom>
        </p:spPr>
      </p:pic>
      <p:pic>
        <p:nvPicPr>
          <p:cNvPr id="4" name="Picture 3" descr="A close-up of a blue background&#10;&#10;Description automatically generated">
            <a:extLst>
              <a:ext uri="{FF2B5EF4-FFF2-40B4-BE49-F238E27FC236}">
                <a16:creationId xmlns:a16="http://schemas.microsoft.com/office/drawing/2014/main" id="{333BAFBC-6F6F-2898-2D03-85878DEAD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456" y="518643"/>
            <a:ext cx="5051472" cy="88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66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2AE5522-82E5-85C2-7A98-48D8BB166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69605" y="3556000"/>
            <a:ext cx="10087483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Example</a:t>
            </a:r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B0BE2C6-DA3B-D13C-512F-65DDD9DAE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1" y="172929"/>
            <a:ext cx="8958518" cy="33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79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1F3D-25A5-2B38-DDDB-E0A97C67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2847" y="363533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Consistency</a:t>
            </a:r>
          </a:p>
        </p:txBody>
      </p:sp>
      <p:pic>
        <p:nvPicPr>
          <p:cNvPr id="3" name="Picture 2" descr="A colorful squares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E6C52D3E-F1CD-E1AC-BFAC-341BB6326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118373"/>
            <a:ext cx="8957534" cy="367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20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D68E-35FF-7F2D-F80C-75AA7FE5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0" y="654595"/>
            <a:ext cx="2926190" cy="400222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BA8342-2424-2CC7-5FBA-3B25FF2F173B}"/>
              </a:ext>
            </a:extLst>
          </p:cNvPr>
          <p:cNvSpPr/>
          <p:nvPr/>
        </p:nvSpPr>
        <p:spPr>
          <a:xfrm>
            <a:off x="3667470" y="654595"/>
            <a:ext cx="5384800" cy="38676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3A8CBAE-66A7-10D5-796B-DD2DF60D1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637" y="1754429"/>
            <a:ext cx="3516897" cy="24939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06DF86-F16A-0CE3-B498-5022D942B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994" y="1063005"/>
            <a:ext cx="5009752" cy="43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43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5A30-9F25-61FD-4269-355A358F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7840" y="366581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Accuracy</a:t>
            </a:r>
          </a:p>
        </p:txBody>
      </p:sp>
      <p:pic>
        <p:nvPicPr>
          <p:cNvPr id="3" name="Picture 2" descr="A close-up of a document&#10;&#10;Description automatically generated">
            <a:extLst>
              <a:ext uri="{FF2B5EF4-FFF2-40B4-BE49-F238E27FC236}">
                <a16:creationId xmlns:a16="http://schemas.microsoft.com/office/drawing/2014/main" id="{F8E29D10-6BD2-42A1-1AE1-511E14C5A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" y="159013"/>
            <a:ext cx="8879840" cy="376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41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9D5C-9E20-93CD-E0BC-77A799673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7" y="3635332"/>
            <a:ext cx="8966053" cy="11928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Example</a:t>
            </a:r>
          </a:p>
        </p:txBody>
      </p:sp>
      <p:pic>
        <p:nvPicPr>
          <p:cNvPr id="3" name="Picture 2" descr="A screenshot of a tax form&#10;&#10;Description automatically generated">
            <a:extLst>
              <a:ext uri="{FF2B5EF4-FFF2-40B4-BE49-F238E27FC236}">
                <a16:creationId xmlns:a16="http://schemas.microsoft.com/office/drawing/2014/main" id="{DB129ADC-DD1F-0E38-5DC1-274FA2ABA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" y="159013"/>
            <a:ext cx="8966053" cy="358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88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E7B903-AB48-AFB3-98B4-3C6F3AD12BA0}"/>
              </a:ext>
            </a:extLst>
          </p:cNvPr>
          <p:cNvSpPr txBox="1"/>
          <p:nvPr/>
        </p:nvSpPr>
        <p:spPr>
          <a:xfrm>
            <a:off x="1338580" y="1845846"/>
            <a:ext cx="73990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Welcome to the world of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Data Cleaning &amp; data preprocessing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977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ext&#10;&#10;Description automatically generated">
            <a:extLst>
              <a:ext uri="{FF2B5EF4-FFF2-40B4-BE49-F238E27FC236}">
                <a16:creationId xmlns:a16="http://schemas.microsoft.com/office/drawing/2014/main" id="{BB15D92F-C887-DE56-B53F-933BBB5C6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67" y="747946"/>
            <a:ext cx="8429413" cy="343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05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BA4F-E8D6-4AA2-527B-BBDA060A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1000" y="473920"/>
            <a:ext cx="9906000" cy="11170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WARNING</a:t>
            </a:r>
            <a:r>
              <a:rPr lang="en-US" dirty="0">
                <a:solidFill>
                  <a:schemeClr val="bg1"/>
                </a:solidFill>
              </a:rPr>
              <a:t> 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9A5BF4-6F80-B6C4-EB81-6788EB2CA9BE}"/>
              </a:ext>
            </a:extLst>
          </p:cNvPr>
          <p:cNvSpPr/>
          <p:nvPr/>
        </p:nvSpPr>
        <p:spPr>
          <a:xfrm>
            <a:off x="449977" y="2047408"/>
            <a:ext cx="8244045" cy="22404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following concepts and operations will be applied are </a:t>
            </a:r>
            <a:r>
              <a:rPr lang="en-US" sz="4000" b="1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SEQUENTIAL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3680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ED74C-12DD-D854-B3D0-6246129D6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4" y="2912333"/>
            <a:ext cx="8791575" cy="13016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Types of Attributes</a:t>
            </a:r>
          </a:p>
        </p:txBody>
      </p:sp>
      <p:pic>
        <p:nvPicPr>
          <p:cNvPr id="3" name="Picture 2" descr="A diagram of a type of type of data&#10;&#10;Description automatically generated">
            <a:extLst>
              <a:ext uri="{FF2B5EF4-FFF2-40B4-BE49-F238E27FC236}">
                <a16:creationId xmlns:a16="http://schemas.microsoft.com/office/drawing/2014/main" id="{BED46F42-F80C-1C94-F173-9E9A2FBD4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16" y="173318"/>
            <a:ext cx="7101368" cy="289380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0067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B51AE-B092-8E23-D672-697A129E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7212" y="818642"/>
            <a:ext cx="3638678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Categorical: Nominal VS. Ordinal</a:t>
            </a:r>
          </a:p>
        </p:txBody>
      </p:sp>
      <p:pic>
        <p:nvPicPr>
          <p:cNvPr id="3" name="Picture 2" descr="A diagram of a categorical structure&#10;&#10;Description automatically generated">
            <a:extLst>
              <a:ext uri="{FF2B5EF4-FFF2-40B4-BE49-F238E27FC236}">
                <a16:creationId xmlns:a16="http://schemas.microsoft.com/office/drawing/2014/main" id="{F3EE74DC-EE34-3DB9-1DB5-CA61D2E19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" y="706882"/>
            <a:ext cx="4992370" cy="388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00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at and dog&#10;&#10;Description automatically generated">
            <a:extLst>
              <a:ext uri="{FF2B5EF4-FFF2-40B4-BE49-F238E27FC236}">
                <a16:creationId xmlns:a16="http://schemas.microsoft.com/office/drawing/2014/main" id="{D97B10CA-B481-5999-EFED-C56F88052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09" y="132699"/>
            <a:ext cx="8672182" cy="487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66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A060B-E85E-7F12-BB48-FD636B2D9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690" y="440384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Ordinal Attribute</a:t>
            </a:r>
          </a:p>
        </p:txBody>
      </p:sp>
      <p:pic>
        <p:nvPicPr>
          <p:cNvPr id="3" name="Picture 2" descr="A close-up of a graph&#10;&#10;Description automatically generated">
            <a:extLst>
              <a:ext uri="{FF2B5EF4-FFF2-40B4-BE49-F238E27FC236}">
                <a16:creationId xmlns:a16="http://schemas.microsoft.com/office/drawing/2014/main" id="{76DC8895-5264-7FA5-FDDE-6B674EDC8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88" y="562304"/>
            <a:ext cx="6112382" cy="401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96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0A7-9D98-E619-03FD-6C38F3E9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3" y="1171710"/>
            <a:ext cx="3977640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/>
              <a:t>Test your Understanding</a:t>
            </a:r>
          </a:p>
        </p:txBody>
      </p:sp>
      <p:pic>
        <p:nvPicPr>
          <p:cNvPr id="3" name="Picture 2" descr="A green and white chart&#10;&#10;Description automatically generated">
            <a:extLst>
              <a:ext uri="{FF2B5EF4-FFF2-40B4-BE49-F238E27FC236}">
                <a16:creationId xmlns:a16="http://schemas.microsoft.com/office/drawing/2014/main" id="{6AC22711-6C6D-9DD6-30F0-1FB2CB0F6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74" y="472634"/>
            <a:ext cx="2627672" cy="1908781"/>
          </a:xfrm>
          <a:prstGeom prst="rect">
            <a:avLst/>
          </a:prstGeom>
        </p:spPr>
      </p:pic>
      <p:pic>
        <p:nvPicPr>
          <p:cNvPr id="4" name="Picture 3" descr="A table with green and white text&#10;&#10;Description automatically generated">
            <a:extLst>
              <a:ext uri="{FF2B5EF4-FFF2-40B4-BE49-F238E27FC236}">
                <a16:creationId xmlns:a16="http://schemas.microsoft.com/office/drawing/2014/main" id="{594323A0-D3F6-D14B-9C24-C76AD1C881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296" y="770244"/>
            <a:ext cx="2642616" cy="1332227"/>
          </a:xfrm>
          <a:prstGeom prst="rect">
            <a:avLst/>
          </a:prstGeom>
        </p:spPr>
      </p:pic>
      <p:pic>
        <p:nvPicPr>
          <p:cNvPr id="5" name="Picture 4" descr="A green and black chart&#10;&#10;Description automatically generated">
            <a:extLst>
              <a:ext uri="{FF2B5EF4-FFF2-40B4-BE49-F238E27FC236}">
                <a16:creationId xmlns:a16="http://schemas.microsoft.com/office/drawing/2014/main" id="{76B93781-0726-2B49-155F-71132B0E24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46" y="3568391"/>
            <a:ext cx="2642616" cy="1131191"/>
          </a:xfrm>
          <a:prstGeom prst="rect">
            <a:avLst/>
          </a:prstGeom>
        </p:spPr>
      </p:pic>
      <p:pic>
        <p:nvPicPr>
          <p:cNvPr id="6" name="Picture 5" descr="A green and white chart&#10;&#10;Description automatically generated">
            <a:extLst>
              <a:ext uri="{FF2B5EF4-FFF2-40B4-BE49-F238E27FC236}">
                <a16:creationId xmlns:a16="http://schemas.microsoft.com/office/drawing/2014/main" id="{9DB7B8E4-6D4B-8C5D-4883-FDED45CFFF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068" y="3675884"/>
            <a:ext cx="2642616" cy="91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1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56DB7E-891C-E3F5-B18A-4868163315AE}"/>
              </a:ext>
            </a:extLst>
          </p:cNvPr>
          <p:cNvSpPr txBox="1"/>
          <p:nvPr/>
        </p:nvSpPr>
        <p:spPr>
          <a:xfrm>
            <a:off x="1828800" y="867192"/>
            <a:ext cx="5486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Does Computer Understand text ?</a:t>
            </a:r>
          </a:p>
        </p:txBody>
      </p:sp>
    </p:spTree>
    <p:extLst>
      <p:ext uri="{BB962C8B-B14F-4D97-AF65-F5344CB8AC3E}">
        <p14:creationId xmlns:p14="http://schemas.microsoft.com/office/powerpoint/2010/main" val="948542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7979-2452-C94D-0793-2CC8B3A7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66" y="3321099"/>
            <a:ext cx="8957534" cy="118283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700" dirty="0"/>
              <a:t>First: </a:t>
            </a:r>
            <a:br>
              <a:rPr lang="en-US" sz="3700" dirty="0"/>
            </a:br>
            <a:r>
              <a:rPr lang="en-US" sz="3700" dirty="0"/>
              <a:t>Label Encoding &amp; One-hot Encoding</a:t>
            </a:r>
          </a:p>
        </p:txBody>
      </p:sp>
      <p:pic>
        <p:nvPicPr>
          <p:cNvPr id="3" name="Picture 2" descr="A table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DDDC711B-3592-96EF-4791-D5CEFFE36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1" y="639563"/>
            <a:ext cx="3520440" cy="1932187"/>
          </a:xfrm>
          <a:prstGeom prst="rect">
            <a:avLst/>
          </a:prstGeom>
        </p:spPr>
      </p:pic>
      <p:pic>
        <p:nvPicPr>
          <p:cNvPr id="4" name="Picture 3" descr="A blue arrow pointing to a blue rectangular object&#10;&#10;Description automatically generated">
            <a:extLst>
              <a:ext uri="{FF2B5EF4-FFF2-40B4-BE49-F238E27FC236}">
                <a16:creationId xmlns:a16="http://schemas.microsoft.com/office/drawing/2014/main" id="{51D4648C-6C50-700D-B3A5-EAF8F8D56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65" y="728997"/>
            <a:ext cx="3776403" cy="184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52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6F85A54F-6DF8-E995-A629-BDF7B02EF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57" y="237763"/>
            <a:ext cx="8597085" cy="263511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39DF93F-7628-EB20-0E3E-A94C5F22C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7" y="321369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Label Encoding</a:t>
            </a:r>
          </a:p>
        </p:txBody>
      </p:sp>
    </p:spTree>
    <p:extLst>
      <p:ext uri="{BB962C8B-B14F-4D97-AF65-F5344CB8AC3E}">
        <p14:creationId xmlns:p14="http://schemas.microsoft.com/office/powerpoint/2010/main" val="3796835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F64E-B7E4-A1A7-21E9-831C64A6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" y="347277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ONE-HOT Encoding </a:t>
            </a:r>
          </a:p>
        </p:txBody>
      </p:sp>
      <p:pic>
        <p:nvPicPr>
          <p:cNvPr id="3" name="Picture 2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AEF66631-02FA-EBF2-09CF-917B35E35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5058"/>
            <a:ext cx="8244840" cy="35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514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1646-1653-C0E3-9BDB-DB7580DFC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73" y="207038"/>
            <a:ext cx="8154987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Label Encoding vs. One-Hot Encoding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AB3A59-32A2-F4E7-D3B0-5AC052362EAF}"/>
              </a:ext>
            </a:extLst>
          </p:cNvPr>
          <p:cNvSpPr txBox="1"/>
          <p:nvPr/>
        </p:nvSpPr>
        <p:spPr>
          <a:xfrm>
            <a:off x="287973" y="1839575"/>
            <a:ext cx="81549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assigns a unique integer label to each category. It results in a single column of integers, which may imply ordinal relationships between the labels that may not exist.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8117B-86E5-0511-32A9-088130F04E61}"/>
              </a:ext>
            </a:extLst>
          </p:cNvPr>
          <p:cNvSpPr txBox="1"/>
          <p:nvPr/>
        </p:nvSpPr>
        <p:spPr>
          <a:xfrm>
            <a:off x="287972" y="3333770"/>
            <a:ext cx="81549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represents each category as a binary vector. It creates multiple columns, one for each category, with binary values (0 or 1) indicating the presence or absence of a category.</a:t>
            </a:r>
          </a:p>
        </p:txBody>
      </p:sp>
    </p:spTree>
    <p:extLst>
      <p:ext uri="{BB962C8B-B14F-4D97-AF65-F5344CB8AC3E}">
        <p14:creationId xmlns:p14="http://schemas.microsoft.com/office/powerpoint/2010/main" val="904986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5A5C873-4A60-C6B9-DDE8-1DC4A910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73" y="0"/>
            <a:ext cx="9905998" cy="11368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outliers ?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0F06598-C47F-8AA5-7876-B618FAEEC7C9}"/>
              </a:ext>
            </a:extLst>
          </p:cNvPr>
          <p:cNvSpPr txBox="1">
            <a:spLocks/>
          </p:cNvSpPr>
          <p:nvPr/>
        </p:nvSpPr>
        <p:spPr>
          <a:xfrm>
            <a:off x="9346681" y="5007413"/>
            <a:ext cx="771089" cy="28073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4B7E4EF-A1BD-40F4-AB7B-04F084DD991D}" type="slidenum">
              <a:rPr lang="en-US" smtClean="0">
                <a:solidFill>
                  <a:schemeClr val="bg1"/>
                </a:solidFill>
              </a:rPr>
              <a:pPr/>
              <a:t>37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B2B6DD-363D-FFD5-7ECF-104133CFEA50}"/>
              </a:ext>
            </a:extLst>
          </p:cNvPr>
          <p:cNvSpPr txBox="1"/>
          <p:nvPr/>
        </p:nvSpPr>
        <p:spPr>
          <a:xfrm>
            <a:off x="7519" y="1300022"/>
            <a:ext cx="81611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are data points that significantly deviate from the rest of the data in a dataset.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6D48BB-2D30-82EF-F9A4-C89A0A838D0C}"/>
              </a:ext>
            </a:extLst>
          </p:cNvPr>
          <p:cNvSpPr txBox="1"/>
          <p:nvPr/>
        </p:nvSpPr>
        <p:spPr>
          <a:xfrm>
            <a:off x="0" y="1933396"/>
            <a:ext cx="79568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They can be unusually high or low values compared to the majority of the data points.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C68041-7175-D51F-ECF4-8450FEE17841}"/>
              </a:ext>
            </a:extLst>
          </p:cNvPr>
          <p:cNvSpPr txBox="1"/>
          <p:nvPr/>
        </p:nvSpPr>
        <p:spPr>
          <a:xfrm>
            <a:off x="0" y="2660601"/>
            <a:ext cx="91349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Outliers can arise due to various reasons, including measurement errors, data entry mistakes, or genuine extreme values in the underlying phenomenon being studied.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C50EE9-6FDE-7608-1E8E-7EE32C23D9B5}"/>
              </a:ext>
            </a:extLst>
          </p:cNvPr>
          <p:cNvSpPr/>
          <p:nvPr/>
        </p:nvSpPr>
        <p:spPr>
          <a:xfrm>
            <a:off x="211773" y="3564880"/>
            <a:ext cx="801623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Outliers can have a significant impact on statistical analyses and machine learning models, potentially leading to biased or inaccurate results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195F60-211B-A4AF-1D86-6B8F37130404}"/>
              </a:ext>
            </a:extLst>
          </p:cNvPr>
          <p:cNvSpPr txBox="1">
            <a:spLocks/>
          </p:cNvSpPr>
          <p:nvPr/>
        </p:nvSpPr>
        <p:spPr>
          <a:xfrm>
            <a:off x="-761998" y="-16623"/>
            <a:ext cx="9905998" cy="1136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4342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2CC7-48EF-F181-1B82-104C755E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66" y="373185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Outliers (Scatter Plot)</a:t>
            </a:r>
          </a:p>
        </p:txBody>
      </p:sp>
      <p:pic>
        <p:nvPicPr>
          <p:cNvPr id="3" name="Picture 2" descr="A diagram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3D8E558A-AF7C-3DCB-02C1-BFCB8DE79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84" y="190818"/>
            <a:ext cx="8068368" cy="297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784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B342-FB20-F923-3910-C953305D1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1369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How to detect outliers?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2119D17-090A-7F5C-4583-B6CB73FE3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25" y="128533"/>
            <a:ext cx="7345749" cy="297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58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AAD8-6B2D-9F14-89F5-F3442D4F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7" y="3257773"/>
            <a:ext cx="8791575" cy="13016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How to Handle Outliers?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B284658-8277-2CB2-C9B8-4A35C4193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75" y="226639"/>
            <a:ext cx="7071249" cy="289380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31155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4D68-BB1A-ED2B-2238-DF6AB320D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873" y="579817"/>
            <a:ext cx="3550920" cy="239668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IMBALANCED DATASETS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(Bar Charts)</a:t>
            </a:r>
          </a:p>
        </p:txBody>
      </p:sp>
      <p:pic>
        <p:nvPicPr>
          <p:cNvPr id="3" name="Picture 2" descr="A graph showing a column&#10;&#10;Description automatically generated">
            <a:extLst>
              <a:ext uri="{FF2B5EF4-FFF2-40B4-BE49-F238E27FC236}">
                <a16:creationId xmlns:a16="http://schemas.microsoft.com/office/drawing/2014/main" id="{F4671D60-9DA7-5F11-0001-BAB9EC328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07" y="283101"/>
            <a:ext cx="5112073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94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B9CC-8A8E-2B65-B148-0B45CB30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13" y="-143482"/>
            <a:ext cx="8673149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Imbalancing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DF28E3-630D-E78D-DCB5-A7506542FC11}"/>
              </a:ext>
            </a:extLst>
          </p:cNvPr>
          <p:cNvSpPr txBox="1"/>
          <p:nvPr/>
        </p:nvSpPr>
        <p:spPr>
          <a:xfrm>
            <a:off x="150813" y="1335088"/>
            <a:ext cx="86731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dataset 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refers to a dataset in which the distribution of classes (categories or labels) is significantly skewed or uneven.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82541-C657-CE8D-2A29-284606D62821}"/>
              </a:ext>
            </a:extLst>
          </p:cNvPr>
          <p:cNvSpPr txBox="1"/>
          <p:nvPr/>
        </p:nvSpPr>
        <p:spPr>
          <a:xfrm>
            <a:off x="150811" y="2301875"/>
            <a:ext cx="86731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one class has a much larger number of instances compared to one or more other classes.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16BCC-2B86-2CFD-FB26-5E77C51426F9}"/>
              </a:ext>
            </a:extLst>
          </p:cNvPr>
          <p:cNvSpPr txBox="1"/>
          <p:nvPr/>
        </p:nvSpPr>
        <p:spPr>
          <a:xfrm>
            <a:off x="150810" y="3314828"/>
            <a:ext cx="86731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imbalance can pose challenges for various machine learning algorithms and statistical analyses, particularly those that assume a roughly equal distribution of classes.</a:t>
            </a:r>
          </a:p>
        </p:txBody>
      </p:sp>
    </p:spTree>
    <p:extLst>
      <p:ext uri="{BB962C8B-B14F-4D97-AF65-F5344CB8AC3E}">
        <p14:creationId xmlns:p14="http://schemas.microsoft.com/office/powerpoint/2010/main" val="31800287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1B5A-E24C-9CB6-0D36-1E68BF32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68" y="2571750"/>
            <a:ext cx="8173203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What is the challenges against Imbalanced datasets ?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0D0CFBD-EA5E-C259-5EAC-DAC646F67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56" y="411480"/>
            <a:ext cx="817320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166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5E76-B461-18F1-C837-92E8007E5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42533"/>
            <a:ext cx="8791575" cy="13016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Solutions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21A6CDC-8285-F71E-6163-2CC4001BA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211568"/>
            <a:ext cx="8791575" cy="3186951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3081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BA24-FB68-28B1-A0AB-60BC5D3A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3" y="3333973"/>
            <a:ext cx="8791575" cy="13016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Solutions (Cont.)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ACFB262-422A-FD4F-C294-80F84BD01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83" y="300318"/>
            <a:ext cx="8638234" cy="289380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50759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12E8-5CCB-59F0-716C-9215A057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267998"/>
            <a:ext cx="8900160" cy="147857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</a:t>
            </a:r>
            <a:r>
              <a:rPr lang="en-US" dirty="0">
                <a:solidFill>
                  <a:schemeClr val="bg1"/>
                </a:solidFill>
              </a:rPr>
              <a:t>ynthetic-</a:t>
            </a:r>
            <a:r>
              <a:rPr lang="en-US" b="1" dirty="0">
                <a:solidFill>
                  <a:schemeClr val="bg1"/>
                </a:solidFill>
              </a:rPr>
              <a:t>M</a:t>
            </a:r>
            <a:r>
              <a:rPr lang="en-US" dirty="0">
                <a:solidFill>
                  <a:schemeClr val="bg1"/>
                </a:solidFill>
              </a:rPr>
              <a:t>inority </a:t>
            </a:r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dirty="0">
                <a:solidFill>
                  <a:schemeClr val="bg1"/>
                </a:solidFill>
              </a:rPr>
              <a:t>versampling </a:t>
            </a:r>
            <a:r>
              <a:rPr lang="en-US" b="1" dirty="0">
                <a:solidFill>
                  <a:schemeClr val="bg1"/>
                </a:solidFill>
              </a:rPr>
              <a:t>T</a:t>
            </a:r>
            <a:r>
              <a:rPr lang="en-US" dirty="0">
                <a:solidFill>
                  <a:schemeClr val="bg1"/>
                </a:solidFill>
              </a:rPr>
              <a:t>echniqu</a:t>
            </a:r>
            <a:r>
              <a:rPr lang="en-US" b="1" dirty="0">
                <a:solidFill>
                  <a:schemeClr val="bg1"/>
                </a:solidFill>
              </a:rPr>
              <a:t>e</a:t>
            </a:r>
            <a:r>
              <a:rPr lang="en-US" dirty="0">
                <a:solidFill>
                  <a:schemeClr val="bg1"/>
                </a:solidFill>
              </a:rPr>
              <a:t> (SMOTE Oversampling)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E6F7D-0785-80F7-01C3-4B00F249AB13}"/>
              </a:ext>
            </a:extLst>
          </p:cNvPr>
          <p:cNvSpPr txBox="1"/>
          <p:nvPr/>
        </p:nvSpPr>
        <p:spPr>
          <a:xfrm>
            <a:off x="1" y="2039035"/>
            <a:ext cx="89001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 is a popular technique used to address the issue of class imbalance in machine learning datasets.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655E6-449E-FF5A-A003-85641196E657}"/>
              </a:ext>
            </a:extLst>
          </p:cNvPr>
          <p:cNvSpPr txBox="1"/>
          <p:nvPr/>
        </p:nvSpPr>
        <p:spPr>
          <a:xfrm>
            <a:off x="0" y="2902208"/>
            <a:ext cx="89001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is specifically designed to increase the representation of the minority class by generating synthetic samples.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3C790-4B74-8909-1054-C644E9489F6C}"/>
              </a:ext>
            </a:extLst>
          </p:cNvPr>
          <p:cNvSpPr txBox="1"/>
          <p:nvPr/>
        </p:nvSpPr>
        <p:spPr>
          <a:xfrm>
            <a:off x="1590" y="3891379"/>
            <a:ext cx="89001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a class-imbalanced dataset, the minority class (i.e., the class with fewer instances) is often underrepresented, which can lead to biased model performance and poor generalization. </a:t>
            </a:r>
          </a:p>
        </p:txBody>
      </p:sp>
    </p:spTree>
    <p:extLst>
      <p:ext uri="{BB962C8B-B14F-4D97-AF65-F5344CB8AC3E}">
        <p14:creationId xmlns:p14="http://schemas.microsoft.com/office/powerpoint/2010/main" val="1060381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EA2E-C98C-1B40-8E7A-98406404D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2" y="3212053"/>
            <a:ext cx="8791575" cy="13016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SMOTE Algorithm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0DA8AEA-E5AD-A6BC-C6EE-2D75B4AB6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261092"/>
            <a:ext cx="8791575" cy="272841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00038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6759A-A95E-A01C-AAAC-6B00C5CE2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3" y="3762542"/>
            <a:ext cx="7506893" cy="118283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/>
              <a:t>Before and After balancing</a:t>
            </a:r>
          </a:p>
        </p:txBody>
      </p:sp>
      <p:pic>
        <p:nvPicPr>
          <p:cNvPr id="3" name="Picture 2" descr="A blue rectangular object with white text&#10;&#10;Description automatically generated">
            <a:extLst>
              <a:ext uri="{FF2B5EF4-FFF2-40B4-BE49-F238E27FC236}">
                <a16:creationId xmlns:a16="http://schemas.microsoft.com/office/drawing/2014/main" id="{FDCFAE2E-B6A0-5A29-6CE1-7957D08E7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423" y="221507"/>
            <a:ext cx="3186738" cy="2975493"/>
          </a:xfrm>
          <a:prstGeom prst="rect">
            <a:avLst/>
          </a:prstGeom>
        </p:spPr>
      </p:pic>
      <p:pic>
        <p:nvPicPr>
          <p:cNvPr id="4" name="Picture 3" descr="A graph showing a column&#10;&#10;Description automatically generated">
            <a:extLst>
              <a:ext uri="{FF2B5EF4-FFF2-40B4-BE49-F238E27FC236}">
                <a16:creationId xmlns:a16="http://schemas.microsoft.com/office/drawing/2014/main" id="{F7B51CB9-AB3C-74B7-4900-BAB360682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24" y="277187"/>
            <a:ext cx="3227990" cy="297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726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57E40-A6A1-F7DC-9785-401F0E2C8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73" y="557558"/>
            <a:ext cx="8292149" cy="147857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Normalization &amp; Scaling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39C34-40A3-9ABA-643A-486958E9D315}"/>
              </a:ext>
            </a:extLst>
          </p:cNvPr>
          <p:cNvSpPr txBox="1"/>
          <p:nvPr/>
        </p:nvSpPr>
        <p:spPr>
          <a:xfrm>
            <a:off x="364173" y="2036128"/>
            <a:ext cx="82921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and scaling are techniques used in data preprocessing to transform the features (variables) of a dataset into a specific range or distribution.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1240A-3C9A-B009-A24E-A43FC459C6D5}"/>
              </a:ext>
            </a:extLst>
          </p:cNvPr>
          <p:cNvSpPr txBox="1"/>
          <p:nvPr/>
        </p:nvSpPr>
        <p:spPr>
          <a:xfrm>
            <a:off x="364172" y="2959724"/>
            <a:ext cx="82921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are important for preparing data before feeding it into machine learning algorithms, as they can improve the performance and convergence of various models.</a:t>
            </a:r>
          </a:p>
        </p:txBody>
      </p:sp>
    </p:spTree>
    <p:extLst>
      <p:ext uri="{BB962C8B-B14F-4D97-AF65-F5344CB8AC3E}">
        <p14:creationId xmlns:p14="http://schemas.microsoft.com/office/powerpoint/2010/main" val="22524634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7EE4-DB05-06E2-6EC8-7D714CDC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73" y="481358"/>
            <a:ext cx="8002589" cy="147857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Normalization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8804C-3CFF-9C5B-5A5F-330AF5B9CBD9}"/>
              </a:ext>
            </a:extLst>
          </p:cNvPr>
          <p:cNvSpPr txBox="1"/>
          <p:nvPr/>
        </p:nvSpPr>
        <p:spPr>
          <a:xfrm>
            <a:off x="440373" y="1959928"/>
            <a:ext cx="80025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involves transforming the entire dataset so that each feature has a similar scale.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CC591-9B7A-FD82-B01F-F530CF15F72A}"/>
              </a:ext>
            </a:extLst>
          </p:cNvPr>
          <p:cNvSpPr txBox="1"/>
          <p:nvPr/>
        </p:nvSpPr>
        <p:spPr>
          <a:xfrm>
            <a:off x="440372" y="2791192"/>
            <a:ext cx="80025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bring all features to a similar range, typically between 0 and 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E29E-5038-9923-1D04-59D6D8C9ED7F}"/>
              </a:ext>
            </a:extLst>
          </p:cNvPr>
          <p:cNvSpPr txBox="1"/>
          <p:nvPr/>
        </p:nvSpPr>
        <p:spPr>
          <a:xfrm>
            <a:off x="440372" y="3545244"/>
            <a:ext cx="80025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is particularly useful for algorithms that rely on distances or gradients, such as k-nearest neighbors (KNN) and gradient descent-based optimization algorithms.</a:t>
            </a:r>
          </a:p>
        </p:txBody>
      </p:sp>
    </p:spTree>
    <p:extLst>
      <p:ext uri="{BB962C8B-B14F-4D97-AF65-F5344CB8AC3E}">
        <p14:creationId xmlns:p14="http://schemas.microsoft.com/office/powerpoint/2010/main" val="19282455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AB9CA-0A67-8D98-EE8B-785615FCA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2" y="3044413"/>
            <a:ext cx="8791575" cy="13016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Types of Normalization</a:t>
            </a:r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AA435F79-894A-8E68-E002-8185DCD33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635405"/>
            <a:ext cx="8791575" cy="167659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22246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5727-DE32-8809-9F77-CAABEED75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34" y="588038"/>
            <a:ext cx="8703628" cy="147857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Scaling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A6AE1-E9BE-FE57-FD0B-935BBC481A48}"/>
              </a:ext>
            </a:extLst>
          </p:cNvPr>
          <p:cNvSpPr txBox="1"/>
          <p:nvPr/>
        </p:nvSpPr>
        <p:spPr>
          <a:xfrm>
            <a:off x="120333" y="2066608"/>
            <a:ext cx="87036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Scaling, on the other hand, focuses on adjusting the range of features without necessarily changing their distribution or statistical properties.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42FAB-2AC4-72E7-2D8E-897A2226CD81}"/>
              </a:ext>
            </a:extLst>
          </p:cNvPr>
          <p:cNvSpPr txBox="1"/>
          <p:nvPr/>
        </p:nvSpPr>
        <p:spPr>
          <a:xfrm>
            <a:off x="120333" y="3158886"/>
            <a:ext cx="87036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Scaling can be important for algorithms that use distance measures but don't necessarily require a specific range for input features. </a:t>
            </a:r>
          </a:p>
        </p:txBody>
      </p:sp>
    </p:spTree>
    <p:extLst>
      <p:ext uri="{BB962C8B-B14F-4D97-AF65-F5344CB8AC3E}">
        <p14:creationId xmlns:p14="http://schemas.microsoft.com/office/powerpoint/2010/main" val="36257646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2B3C-DF51-1E3A-A48D-61EB21A8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3" y="3303493"/>
            <a:ext cx="8791575" cy="13016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Types of Scaling</a:t>
            </a: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A054CDB-AE03-C148-9AB2-0FD13184A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05" y="269838"/>
            <a:ext cx="7565590" cy="289380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7986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A00B-5712-6496-969D-24471AAC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3564213"/>
            <a:ext cx="7723162" cy="118283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Normalization VS. Scaling</a:t>
            </a: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F2E84A0-25BE-EEA3-842C-2E99CBDB8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5" y="490292"/>
            <a:ext cx="8851895" cy="195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9284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66DE-518C-F714-60F7-6D4EC10CB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73" y="-292928"/>
            <a:ext cx="8535989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Pearson Correlation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5030E-B311-E277-0D6B-709C4FE46700}"/>
              </a:ext>
            </a:extLst>
          </p:cNvPr>
          <p:cNvSpPr txBox="1"/>
          <p:nvPr/>
        </p:nvSpPr>
        <p:spPr>
          <a:xfrm>
            <a:off x="440373" y="1185642"/>
            <a:ext cx="85359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Pearson's correlation coefficient 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 Pearson's r, is a statistical measure that quantifies the linear relationship between two continuous variables.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41B812-E573-D909-1F67-AD2E805EFF1A}"/>
              </a:ext>
            </a:extLst>
          </p:cNvPr>
          <p:cNvSpPr txBox="1"/>
          <p:nvPr/>
        </p:nvSpPr>
        <p:spPr>
          <a:xfrm>
            <a:off x="440372" y="2156380"/>
            <a:ext cx="85359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 assesses how closely the data points of two variables align on a straight line. The coefficient ranges from -1 to 1, where: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143D53-DCD0-0726-17C9-91963F317B1A}"/>
              </a:ext>
            </a:extLst>
          </p:cNvPr>
          <p:cNvSpPr txBox="1"/>
          <p:nvPr/>
        </p:nvSpPr>
        <p:spPr>
          <a:xfrm>
            <a:off x="747074" y="3081397"/>
            <a:ext cx="772151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 value of +1 indicates a perfect positive linear relationship, meaning that as one variable increases, the other also increases proportionally.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 value of -1 indicates a perfect negative linear relationship, meaning that as one variable increases, the other decreases proportionally.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 value of 0 indicates no linear relationship between the variables; they are independent of each other.</a:t>
            </a:r>
          </a:p>
        </p:txBody>
      </p:sp>
    </p:spTree>
    <p:extLst>
      <p:ext uri="{BB962C8B-B14F-4D97-AF65-F5344CB8AC3E}">
        <p14:creationId xmlns:p14="http://schemas.microsoft.com/office/powerpoint/2010/main" val="29595070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868A-D74D-DC12-3D12-0DDF31E6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94002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Pearson Correlation (Cont.)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19BBE-38AA-BF3F-9593-7ED3137E2344}"/>
              </a:ext>
            </a:extLst>
          </p:cNvPr>
          <p:cNvSpPr txBox="1"/>
          <p:nvPr/>
        </p:nvSpPr>
        <p:spPr>
          <a:xfrm>
            <a:off x="-1" y="984568"/>
            <a:ext cx="99059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essence, Pearson correlation helps to determine if there is a consistent pattern in the way two variables change in relation to each other.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3F684-2194-1ED3-B63E-A5990E3F8E9E}"/>
              </a:ext>
            </a:extLst>
          </p:cNvPr>
          <p:cNvSpPr txBox="1"/>
          <p:nvPr/>
        </p:nvSpPr>
        <p:spPr>
          <a:xfrm>
            <a:off x="-1" y="2015886"/>
            <a:ext cx="99059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It's important to note that Pearson correlation specifically measures linear relationships, so if the relationship between the variables is not linear, the correlation coefficient may not accurately capture their association.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F71AF5-CF36-D9DA-B60E-85889B285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150" y="2828124"/>
            <a:ext cx="4529850" cy="231537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92018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26819-0DA4-5FE0-6C70-573B36E64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6279" y="-1523238"/>
            <a:ext cx="10312526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Pearson Correlation (Cont.)</a:t>
            </a:r>
          </a:p>
        </p:txBody>
      </p:sp>
      <p:pic>
        <p:nvPicPr>
          <p:cNvPr id="3" name="Picture 2" descr="A colorful grid with numbers&#10;&#10;Description automatically generated">
            <a:extLst>
              <a:ext uri="{FF2B5EF4-FFF2-40B4-BE49-F238E27FC236}">
                <a16:creationId xmlns:a16="http://schemas.microsoft.com/office/drawing/2014/main" id="{C40782D1-2104-8F39-E7DF-A8E994BB2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793" y="1015484"/>
            <a:ext cx="6112382" cy="386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110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E475-3D11-6EAB-60FD-56654826E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828" y="285856"/>
            <a:ext cx="536786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Questions</a:t>
            </a:r>
          </a:p>
        </p:txBody>
      </p:sp>
      <p:pic>
        <p:nvPicPr>
          <p:cNvPr id="3" name="Graphic 5" descr="Help">
            <a:extLst>
              <a:ext uri="{FF2B5EF4-FFF2-40B4-BE49-F238E27FC236}">
                <a16:creationId xmlns:a16="http://schemas.microsoft.com/office/drawing/2014/main" id="{A969B95A-576B-A757-45E4-B20B9CF06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663" y="609546"/>
            <a:ext cx="3525628" cy="352562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21658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39"/>
          <p:cNvPicPr preferRelativeResize="0"/>
          <p:nvPr/>
        </p:nvPicPr>
        <p:blipFill rotWithShape="1">
          <a:blip r:embed="rId4">
            <a:alphaModFix amt="75000"/>
          </a:blip>
          <a:srcRect l="15261" t="6068"/>
          <a:stretch/>
        </p:blipFill>
        <p:spPr>
          <a:xfrm rot="-10799997">
            <a:off x="4324348" y="1876426"/>
            <a:ext cx="5162552" cy="3543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7" name="Google Shape;667;p39"/>
          <p:cNvGrpSpPr/>
          <p:nvPr/>
        </p:nvGrpSpPr>
        <p:grpSpPr>
          <a:xfrm rot="5400000">
            <a:off x="8054157" y="-219079"/>
            <a:ext cx="288601" cy="1096693"/>
            <a:chOff x="1006700" y="2603975"/>
            <a:chExt cx="55450" cy="210700"/>
          </a:xfrm>
        </p:grpSpPr>
        <p:sp>
          <p:nvSpPr>
            <p:cNvPr id="668" name="Google Shape;668;p39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" name="Google Shape;674;p39"/>
          <p:cNvGrpSpPr/>
          <p:nvPr/>
        </p:nvGrpSpPr>
        <p:grpSpPr>
          <a:xfrm>
            <a:off x="8020620" y="875122"/>
            <a:ext cx="820307" cy="763275"/>
            <a:chOff x="827350" y="3629733"/>
            <a:chExt cx="1431600" cy="1332067"/>
          </a:xfrm>
        </p:grpSpPr>
        <p:sp>
          <p:nvSpPr>
            <p:cNvPr id="675" name="Google Shape;675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" name="Google Shape;678;p39"/>
          <p:cNvGrpSpPr/>
          <p:nvPr/>
        </p:nvGrpSpPr>
        <p:grpSpPr>
          <a:xfrm>
            <a:off x="1574940" y="3737806"/>
            <a:ext cx="932831" cy="867975"/>
            <a:chOff x="827350" y="3629733"/>
            <a:chExt cx="1431600" cy="1332067"/>
          </a:xfrm>
        </p:grpSpPr>
        <p:sp>
          <p:nvSpPr>
            <p:cNvPr id="679" name="Google Shape;679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39"/>
          <p:cNvGrpSpPr/>
          <p:nvPr/>
        </p:nvGrpSpPr>
        <p:grpSpPr>
          <a:xfrm>
            <a:off x="952423" y="3121457"/>
            <a:ext cx="633913" cy="589839"/>
            <a:chOff x="827350" y="3629733"/>
            <a:chExt cx="1431600" cy="1332067"/>
          </a:xfrm>
        </p:grpSpPr>
        <p:sp>
          <p:nvSpPr>
            <p:cNvPr id="683" name="Google Shape;683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39"/>
          <p:cNvGrpSpPr/>
          <p:nvPr/>
        </p:nvGrpSpPr>
        <p:grpSpPr>
          <a:xfrm>
            <a:off x="648758" y="3952066"/>
            <a:ext cx="487174" cy="453302"/>
            <a:chOff x="827350" y="3629733"/>
            <a:chExt cx="1431600" cy="1332067"/>
          </a:xfrm>
        </p:grpSpPr>
        <p:sp>
          <p:nvSpPr>
            <p:cNvPr id="687" name="Google Shape;687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D34D6B-A5B7-4DBC-7BFB-B6C6E24158F3}"/>
              </a:ext>
            </a:extLst>
          </p:cNvPr>
          <p:cNvSpPr txBox="1"/>
          <p:nvPr/>
        </p:nvSpPr>
        <p:spPr>
          <a:xfrm>
            <a:off x="158918" y="751977"/>
            <a:ext cx="548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highlight>
                  <a:srgbClr val="FF0000"/>
                </a:highligh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-Futuristic AI Technology Thesis Defense by Slidesgo">
  <a:themeElements>
    <a:clrScheme name="Simple Light">
      <a:dk1>
        <a:srgbClr val="031126"/>
      </a:dk1>
      <a:lt1>
        <a:srgbClr val="FFFFFF"/>
      </a:lt1>
      <a:dk2>
        <a:srgbClr val="10355F"/>
      </a:dk2>
      <a:lt2>
        <a:srgbClr val="3B8794"/>
      </a:lt2>
      <a:accent1>
        <a:srgbClr val="51AF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876</Words>
  <Application>Microsoft Office PowerPoint</Application>
  <PresentationFormat>On-screen Show (16:9)</PresentationFormat>
  <Paragraphs>85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Audiowide</vt:lpstr>
      <vt:lpstr>Times New Roman</vt:lpstr>
      <vt:lpstr>Arial</vt:lpstr>
      <vt:lpstr>Wingdings</vt:lpstr>
      <vt:lpstr>Karla</vt:lpstr>
      <vt:lpstr>Cyber-Futuristic AI Technology Thesis Defense by Slidesgo</vt:lpstr>
      <vt:lpstr>Data  Analysis &amp; Preprocessing</vt:lpstr>
      <vt:lpstr>PowerPoint Presentation</vt:lpstr>
      <vt:lpstr>What is Data Analysis ? (Google Data Analytics)</vt:lpstr>
      <vt:lpstr>PowerPoint Presentation</vt:lpstr>
      <vt:lpstr>In other words (UDACITY)</vt:lpstr>
      <vt:lpstr>PowerPoint Presentation</vt:lpstr>
      <vt:lpstr>PowerPoint Presentation</vt:lpstr>
      <vt:lpstr>PowerPoint Presentation</vt:lpstr>
      <vt:lpstr>PowerPoint Presentation</vt:lpstr>
      <vt:lpstr>Types of Analysis</vt:lpstr>
      <vt:lpstr>That brings us into “Data Quality”</vt:lpstr>
      <vt:lpstr>What is the dimensions of “Data Quality” ?</vt:lpstr>
      <vt:lpstr>Completeness</vt:lpstr>
      <vt:lpstr>Example</vt:lpstr>
      <vt:lpstr>Validity</vt:lpstr>
      <vt:lpstr>Uniqueness</vt:lpstr>
      <vt:lpstr>Example</vt:lpstr>
      <vt:lpstr>Timeliness</vt:lpstr>
      <vt:lpstr>Example</vt:lpstr>
      <vt:lpstr>Consistency</vt:lpstr>
      <vt:lpstr>Example</vt:lpstr>
      <vt:lpstr>Accuracy</vt:lpstr>
      <vt:lpstr>Example</vt:lpstr>
      <vt:lpstr>PowerPoint Presentation</vt:lpstr>
      <vt:lpstr>PowerPoint Presentation</vt:lpstr>
      <vt:lpstr>WARNING !</vt:lpstr>
      <vt:lpstr>Types of Attributes</vt:lpstr>
      <vt:lpstr>Categorical: Nominal VS. Ordinal</vt:lpstr>
      <vt:lpstr>PowerPoint Presentation</vt:lpstr>
      <vt:lpstr>Ordinal Attribute</vt:lpstr>
      <vt:lpstr>Test your Understanding</vt:lpstr>
      <vt:lpstr>PowerPoint Presentation</vt:lpstr>
      <vt:lpstr>First:  Label Encoding &amp; One-hot Encoding</vt:lpstr>
      <vt:lpstr>Label Encoding</vt:lpstr>
      <vt:lpstr>ONE-HOT Encoding </vt:lpstr>
      <vt:lpstr>Label Encoding vs. One-Hot Encoding</vt:lpstr>
      <vt:lpstr>What is outliers ?</vt:lpstr>
      <vt:lpstr>Outliers (Scatter Plot)</vt:lpstr>
      <vt:lpstr>How to detect outliers?</vt:lpstr>
      <vt:lpstr>How to Handle Outliers?</vt:lpstr>
      <vt:lpstr>IMBALANCED DATASETS (Bar Charts)</vt:lpstr>
      <vt:lpstr>What is Imbalancing ?</vt:lpstr>
      <vt:lpstr>What is the challenges against Imbalanced datasets ?</vt:lpstr>
      <vt:lpstr>Solutions</vt:lpstr>
      <vt:lpstr>Solutions (Cont.)</vt:lpstr>
      <vt:lpstr>Synthetic-Minority Oversampling Technique (SMOTE Oversampling)</vt:lpstr>
      <vt:lpstr>SMOTE Algorithm</vt:lpstr>
      <vt:lpstr>Before and After balancing</vt:lpstr>
      <vt:lpstr>Normalization &amp; Scaling</vt:lpstr>
      <vt:lpstr>Normalization</vt:lpstr>
      <vt:lpstr>Types of Normalization</vt:lpstr>
      <vt:lpstr>Scaling</vt:lpstr>
      <vt:lpstr>Types of Scaling</vt:lpstr>
      <vt:lpstr>Normalization VS. Scaling</vt:lpstr>
      <vt:lpstr>Pearson Correlation</vt:lpstr>
      <vt:lpstr>Pearson Correlation (Cont.)</vt:lpstr>
      <vt:lpstr>Pearson Correlation (Cont.)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mayar</dc:creator>
  <cp:lastModifiedBy>Mohamed Khaled Mohamed Mohamed Ali Idris</cp:lastModifiedBy>
  <cp:revision>15</cp:revision>
  <dcterms:modified xsi:type="dcterms:W3CDTF">2023-10-22T18:07:30Z</dcterms:modified>
</cp:coreProperties>
</file>