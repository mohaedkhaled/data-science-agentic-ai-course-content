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1307" autoAdjust="0"/>
  </p:normalViewPr>
  <p:slideViewPr>
    <p:cSldViewPr snapToGrid="0" snapToObjects="1">
      <p:cViewPr varScale="1">
        <p:scale>
          <a:sx n="88" d="100"/>
          <a:sy n="88" d="100"/>
        </p:scale>
        <p:origin x="130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0613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LLM</a:t>
            </a:r>
          </a:p>
          <a:p>
            <a:r>
              <a:rPr lang="en-US" dirty="0"/>
              <a:t>GEN AI</a:t>
            </a:r>
          </a:p>
          <a:p>
            <a:r>
              <a:rPr lang="en-US" dirty="0"/>
              <a:t>Agentic AI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Reactive Agents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Goal-Based Agents</a:t>
            </a:r>
            <a:br>
              <a:rPr lang="en-US" dirty="0"/>
            </a:br>
            <a:r>
              <a:rPr lang="en-US" dirty="0"/>
              <a:t>Planning Agents</a:t>
            </a:r>
            <a:br>
              <a:rPr lang="en-US" dirty="0"/>
            </a:br>
            <a:r>
              <a:rPr lang="en-US" dirty="0"/>
              <a:t>Learning Agents</a:t>
            </a:r>
            <a:br>
              <a:rPr lang="en-US" dirty="0"/>
            </a:br>
            <a:r>
              <a:rPr lang="en-US" dirty="0"/>
              <a:t>Tool-Using Agents</a:t>
            </a:r>
            <a:br>
              <a:rPr lang="en-US" dirty="0"/>
            </a:br>
            <a:r>
              <a:rPr lang="en-US" dirty="0"/>
              <a:t>Multi-Agent Systems</a:t>
            </a:r>
            <a:br>
              <a:rPr lang="en-US" dirty="0"/>
            </a:br>
            <a:r>
              <a:rPr lang="en-US" dirty="0"/>
              <a:t>Cognitive Agents</a:t>
            </a:r>
            <a:br>
              <a:rPr lang="en-US" dirty="0"/>
            </a:br>
            <a:r>
              <a:rPr lang="en-US" dirty="0"/>
              <a:t>Embodied Agents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=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21127" y="1277866"/>
            <a:ext cx="7305088" cy="18466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buNone/>
            </a:pPr>
            <a:r>
              <a:rPr lang="en-US" sz="4000" b="1" kern="0" spc="-2" dirty="0">
                <a:solidFill>
                  <a:srgbClr val="000000"/>
                </a:solidFill>
              </a:rPr>
              <a:t>Agentic AI:</a:t>
            </a:r>
          </a:p>
          <a:p>
            <a:pPr marL="0" indent="0">
              <a:buNone/>
            </a:pPr>
            <a:r>
              <a:rPr lang="en-US" sz="4000" b="1" kern="0" spc="-2" dirty="0">
                <a:solidFill>
                  <a:srgbClr val="000000"/>
                </a:solidFill>
              </a:rPr>
              <a:t>The Evolution of
Autonomous Action</a:t>
            </a:r>
            <a:endParaRPr lang="en-US" sz="4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9325" y="785813"/>
            <a:ext cx="2571750" cy="3714750"/>
          </a:xfrm>
          <a:prstGeom prst="rect">
            <a:avLst/>
          </a:prstGeom>
        </p:spPr>
      </p:pic>
      <p:sp>
        <p:nvSpPr>
          <p:cNvPr id="2" name="Text 1">
            <a:extLst>
              <a:ext uri="{FF2B5EF4-FFF2-40B4-BE49-F238E27FC236}">
                <a16:creationId xmlns:a16="http://schemas.microsoft.com/office/drawing/2014/main" id="{8C37649C-B847-FFB7-E856-207F8DE6D8AA}"/>
              </a:ext>
            </a:extLst>
          </p:cNvPr>
          <p:cNvSpPr/>
          <p:nvPr/>
        </p:nvSpPr>
        <p:spPr>
          <a:xfrm>
            <a:off x="614362" y="3736284"/>
            <a:ext cx="3957637" cy="592085"/>
          </a:xfrm>
          <a:prstGeom prst="rect">
            <a:avLst/>
          </a:prstGeom>
          <a:noFill/>
          <a:ln/>
        </p:spPr>
        <p:txBody>
          <a:bodyPr wrap="square" lIns="8509" tIns="170053" rIns="8509" bIns="170053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400" b="1" dirty="0">
                <a:solidFill>
                  <a:srgbClr val="0047AB"/>
                </a:solidFill>
              </a:rPr>
              <a:t>Eng/ Mohamed </a:t>
            </a:r>
            <a:r>
              <a:rPr lang="en-US" sz="2400" b="1" dirty="0" err="1">
                <a:solidFill>
                  <a:srgbClr val="0047AB"/>
                </a:solidFill>
              </a:rPr>
              <a:t>K.Idris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92994" y="721999"/>
            <a:ext cx="8572500" cy="12311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4000" b="1" kern="0" spc="-1" dirty="0">
                <a:solidFill>
                  <a:srgbClr val="000000"/>
                </a:solidFill>
              </a:rPr>
              <a:t>Agency is the defining boundary between creation and execution</a:t>
            </a:r>
            <a:endParaRPr lang="en-US" sz="4000" dirty="0"/>
          </a:p>
        </p:txBody>
      </p:sp>
      <p:sp>
        <p:nvSpPr>
          <p:cNvPr id="5" name="Text 1"/>
          <p:cNvSpPr/>
          <p:nvPr/>
        </p:nvSpPr>
        <p:spPr>
          <a:xfrm>
            <a:off x="571500" y="2084099"/>
            <a:ext cx="1600200" cy="558230"/>
          </a:xfrm>
          <a:prstGeom prst="rect">
            <a:avLst/>
          </a:prstGeom>
          <a:noFill/>
          <a:ln/>
        </p:spPr>
        <p:txBody>
          <a:bodyPr wrap="square" lIns="8509" tIns="170053" rIns="8509" bIns="170053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b="1" dirty="0">
                <a:solidFill>
                  <a:srgbClr val="0047AB"/>
                </a:solidFill>
              </a:rPr>
              <a:t>Dimension</a:t>
            </a: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2171700" y="2084099"/>
            <a:ext cx="3200400" cy="558230"/>
          </a:xfrm>
          <a:prstGeom prst="rect">
            <a:avLst/>
          </a:prstGeom>
          <a:noFill/>
          <a:ln/>
        </p:spPr>
        <p:txBody>
          <a:bodyPr wrap="square" lIns="8509" tIns="170053" rIns="8509" bIns="170053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b="1" dirty="0">
                <a:solidFill>
                  <a:srgbClr val="0047AB"/>
                </a:solidFill>
              </a:rPr>
              <a:t>Generative AI</a:t>
            </a: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5372100" y="2084099"/>
            <a:ext cx="3200400" cy="558230"/>
          </a:xfrm>
          <a:prstGeom prst="rect">
            <a:avLst/>
          </a:prstGeom>
          <a:noFill/>
          <a:ln/>
        </p:spPr>
        <p:txBody>
          <a:bodyPr wrap="square" lIns="8509" tIns="170053" rIns="8509" bIns="170053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b="1" dirty="0">
                <a:solidFill>
                  <a:srgbClr val="0047AB"/>
                </a:solidFill>
              </a:rPr>
              <a:t>Agentic AI</a:t>
            </a: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571500" y="2630212"/>
            <a:ext cx="1600200" cy="694806"/>
          </a:xfrm>
          <a:prstGeom prst="rect">
            <a:avLst/>
          </a:prstGeom>
          <a:noFill/>
          <a:ln/>
        </p:spPr>
        <p:txBody>
          <a:bodyPr wrap="square" lIns="8509" tIns="255143" rIns="8509" bIns="255143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00000"/>
                </a:solidFill>
              </a:rPr>
              <a:t>Primary Focus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2171700" y="2630212"/>
            <a:ext cx="3200400" cy="944169"/>
          </a:xfrm>
          <a:prstGeom prst="rect">
            <a:avLst/>
          </a:prstGeom>
          <a:noFill/>
          <a:ln/>
        </p:spPr>
        <p:txBody>
          <a:bodyPr wrap="square" lIns="8509" tIns="255143" rIns="340233" bIns="255143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Content synthesis and pattern recognition.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372100" y="2630212"/>
            <a:ext cx="3200400" cy="937436"/>
          </a:xfrm>
          <a:prstGeom prst="rect">
            <a:avLst/>
          </a:prstGeom>
          <a:noFill/>
          <a:ln/>
        </p:spPr>
        <p:txBody>
          <a:bodyPr wrap="square" lIns="8509" tIns="255143" rIns="8509" bIns="255143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000000"/>
                </a:solidFill>
              </a:rPr>
              <a:t>Autonomous decision-making and goal achievement.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71500" y="3505321"/>
            <a:ext cx="1600200" cy="694806"/>
          </a:xfrm>
          <a:prstGeom prst="rect">
            <a:avLst/>
          </a:prstGeom>
          <a:noFill/>
          <a:ln/>
        </p:spPr>
        <p:txBody>
          <a:bodyPr wrap="square" lIns="8509" tIns="255143" rIns="8509" bIns="255143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00000"/>
                </a:solidFill>
              </a:rPr>
              <a:t>Paradigm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133489" y="3433954"/>
            <a:ext cx="3200400" cy="944169"/>
          </a:xfrm>
          <a:prstGeom prst="rect">
            <a:avLst/>
          </a:prstGeom>
          <a:noFill/>
          <a:ln/>
        </p:spPr>
        <p:txBody>
          <a:bodyPr wrap="square" lIns="8509" tIns="255143" rIns="340233" bIns="255143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Stateless, prompt-response interactions.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372100" y="3505321"/>
            <a:ext cx="3200400" cy="712631"/>
          </a:xfrm>
          <a:prstGeom prst="rect">
            <a:avLst/>
          </a:prstGeom>
          <a:noFill/>
          <a:ln/>
        </p:spPr>
        <p:txBody>
          <a:bodyPr wrap="square" lIns="8509" tIns="255143" rIns="8509" bIns="255143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000000"/>
                </a:solidFill>
              </a:rPr>
              <a:t>Stateful, long-term objective pursuit.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71500" y="4155402"/>
            <a:ext cx="1600200" cy="694806"/>
          </a:xfrm>
          <a:prstGeom prst="rect">
            <a:avLst/>
          </a:prstGeom>
          <a:noFill/>
          <a:ln/>
        </p:spPr>
        <p:txBody>
          <a:bodyPr wrap="square" lIns="8509" tIns="255143" rIns="8509" bIns="255143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00000"/>
                </a:solidFill>
              </a:rPr>
              <a:t>Core Logic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178844" y="4382216"/>
            <a:ext cx="1162691" cy="2180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Predicting the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376500" y="4389141"/>
            <a:ext cx="681149" cy="2041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0047AB"/>
                </a:solidFill>
              </a:rPr>
              <a:t>next token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929230" y="4382216"/>
            <a:ext cx="51296" cy="2180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.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5379244" y="4382216"/>
            <a:ext cx="806311" cy="2041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000000"/>
                </a:solidFill>
              </a:rPr>
              <a:t>Planning the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285802" y="4382216"/>
            <a:ext cx="714106" cy="2041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0047AB"/>
                </a:solidFill>
              </a:rPr>
              <a:t>next action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7090618" y="4382216"/>
            <a:ext cx="41678" cy="2041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000000"/>
                </a:solidFill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49214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71500" y="787747"/>
            <a:ext cx="2679700" cy="306043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1"/>
          <p:cNvSpPr/>
          <p:nvPr/>
        </p:nvSpPr>
        <p:spPr>
          <a:xfrm>
            <a:off x="603152" y="904487"/>
            <a:ext cx="3225898" cy="236540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2400" b="1" dirty="0">
                <a:solidFill>
                  <a:srgbClr val="F2F2F2"/>
                </a:solidFill>
              </a:rPr>
              <a:t>Cognitive Engine</a:t>
            </a:r>
            <a:endParaRPr lang="en-US" sz="2400" dirty="0"/>
          </a:p>
        </p:txBody>
      </p:sp>
      <p:sp>
        <p:nvSpPr>
          <p:cNvPr id="6" name="Text 2"/>
          <p:cNvSpPr/>
          <p:nvPr/>
        </p:nvSpPr>
        <p:spPr>
          <a:xfrm>
            <a:off x="571500" y="1370595"/>
            <a:ext cx="3543300" cy="1345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800" b="1" kern="0" spc="-1" dirty="0">
                <a:solidFill>
                  <a:srgbClr val="000000"/>
                </a:solidFill>
              </a:rPr>
              <a:t>Advanced cognition relies on multi-modal perception and recursive planning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571500" y="3565122"/>
            <a:ext cx="2039982" cy="188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600" b="1" dirty="0">
                <a:solidFill>
                  <a:srgbClr val="0047AB"/>
                </a:solidFill>
              </a:rPr>
              <a:t>Multi-Modal Perception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571500" y="3816939"/>
            <a:ext cx="3762568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dirty="0">
                <a:solidFill>
                  <a:srgbClr val="333333"/>
                </a:solidFill>
              </a:rPr>
              <a:t>Agents ingest text, audio, visual and API data.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571500" y="4166983"/>
            <a:ext cx="1736822" cy="188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600" b="1" dirty="0">
                <a:solidFill>
                  <a:srgbClr val="0047AB"/>
                </a:solidFill>
              </a:rPr>
              <a:t>Recursive Reasoning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71500" y="4418800"/>
            <a:ext cx="3257550" cy="390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dirty="0">
                <a:solidFill>
                  <a:srgbClr val="333333"/>
                </a:solidFill>
              </a:rPr>
              <a:t>Use Tree-of-Thoughts and self-reflection to refine plans.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571500" y="4961725"/>
            <a:ext cx="1806777" cy="188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600" b="1" dirty="0">
                <a:solidFill>
                  <a:srgbClr val="0047AB"/>
                </a:solidFill>
              </a:rPr>
              <a:t>Dynamic Re-planning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71500" y="5213542"/>
            <a:ext cx="4030014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dirty="0">
                <a:solidFill>
                  <a:srgbClr val="333333"/>
                </a:solidFill>
              </a:rPr>
              <a:t>Adjust strategies in real time based on feedback.</a:t>
            </a:r>
            <a:endParaRPr lang="en-US" sz="16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103012"/>
            <a:ext cx="4572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40639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71500" y="761202"/>
            <a:ext cx="2952750" cy="288929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1"/>
          <p:cNvSpPr/>
          <p:nvPr/>
        </p:nvSpPr>
        <p:spPr>
          <a:xfrm>
            <a:off x="571500" y="857250"/>
            <a:ext cx="3425190" cy="223010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2000" b="1" dirty="0">
                <a:solidFill>
                  <a:srgbClr val="F2F2F2"/>
                </a:solidFill>
              </a:rPr>
              <a:t>Execution &amp; Experience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571500" y="1370595"/>
            <a:ext cx="3257550" cy="1333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800" b="1" kern="0" spc="-1" dirty="0">
                <a:solidFill>
                  <a:srgbClr val="000000"/>
                </a:solidFill>
              </a:rPr>
              <a:t>Effective execution is powered by dynamic tool use and multi-tiered memory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571500" y="3227943"/>
            <a:ext cx="2096984" cy="195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b="1" dirty="0">
                <a:solidFill>
                  <a:srgbClr val="0047AB"/>
                </a:solidFill>
              </a:rPr>
              <a:t>Autonomous Tool Use</a:t>
            </a: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571500" y="3515404"/>
            <a:ext cx="8125460" cy="195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dirty="0">
                <a:solidFill>
                  <a:srgbClr val="333333"/>
                </a:solidFill>
              </a:rPr>
              <a:t>Dynamically selects and configures APIs, interpreters, and actuators.</a:t>
            </a: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571500" y="3975525"/>
            <a:ext cx="2064732" cy="195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b="1" dirty="0">
                <a:solidFill>
                  <a:srgbClr val="0047AB"/>
                </a:solidFill>
              </a:rPr>
              <a:t>Multi-Tiered Memory</a:t>
            </a: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51815" y="4251533"/>
            <a:ext cx="8440420" cy="195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dirty="0">
                <a:solidFill>
                  <a:srgbClr val="333333"/>
                </a:solidFill>
              </a:rPr>
              <a:t>STM for context; LTM (vector DBs) for persistent knowledge.</a:t>
            </a: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571500" y="4723107"/>
            <a:ext cx="2187009" cy="195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b="1" dirty="0">
                <a:solidFill>
                  <a:srgbClr val="0047AB"/>
                </a:solidFill>
              </a:rPr>
              <a:t>Memory Consolidation</a:t>
            </a: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571500" y="5041654"/>
            <a:ext cx="7343140" cy="195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dirty="0">
                <a:solidFill>
                  <a:srgbClr val="333333"/>
                </a:solidFill>
              </a:rPr>
              <a:t>Summarizes past experiences to improve retrieval efficiency.</a:t>
            </a:r>
            <a:endParaRPr lang="en-US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2025" y="571500"/>
            <a:ext cx="3714750" cy="32861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927543"/>
            <a:ext cx="7143750" cy="1131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36" b="1" kern="0" spc="-1" dirty="0">
                <a:solidFill>
                  <a:srgbClr val="000000"/>
                </a:solidFill>
              </a:rPr>
              <a:t>Agents range from simple reflex systems to sophisticated learning entities</a:t>
            </a:r>
            <a:endParaRPr lang="en-US" sz="2436" dirty="0"/>
          </a:p>
        </p:txBody>
      </p:sp>
      <p:sp>
        <p:nvSpPr>
          <p:cNvPr id="5" name="Text 1"/>
          <p:cNvSpPr/>
          <p:nvPr/>
        </p:nvSpPr>
        <p:spPr>
          <a:xfrm>
            <a:off x="571500" y="2201921"/>
            <a:ext cx="137858" cy="1413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0047AB"/>
                </a:solidFill>
              </a:rPr>
              <a:t>01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571500" y="2414448"/>
            <a:ext cx="1288173" cy="214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b="1" dirty="0">
                <a:solidFill>
                  <a:srgbClr val="000000"/>
                </a:solidFill>
              </a:rPr>
              <a:t>Simple Reflex</a:t>
            </a: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571500" y="2705556"/>
            <a:ext cx="251460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Direct mapping from perception to action (If-Then logic).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3314700" y="2201921"/>
            <a:ext cx="137858" cy="1413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0047AB"/>
                </a:solidFill>
              </a:rPr>
              <a:t>02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3314700" y="2414448"/>
            <a:ext cx="1264770" cy="214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b="1" dirty="0">
                <a:solidFill>
                  <a:srgbClr val="000000"/>
                </a:solidFill>
              </a:rPr>
              <a:t>Model-Based</a:t>
            </a: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3314700" y="2705556"/>
            <a:ext cx="251460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Keeps an internal state to track unseen aspects of the world.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057900" y="2201921"/>
            <a:ext cx="137858" cy="1413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0047AB"/>
                </a:solidFill>
              </a:rPr>
              <a:t>03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6057900" y="2414448"/>
            <a:ext cx="1357616" cy="214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b="1" dirty="0">
                <a:solidFill>
                  <a:srgbClr val="000000"/>
                </a:solidFill>
              </a:rPr>
              <a:t>Goal-Oriented</a:t>
            </a: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6057900" y="2705556"/>
            <a:ext cx="251460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Evaluates actions by proximity to desired outcomes.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71500" y="3208465"/>
            <a:ext cx="137858" cy="1413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0047AB"/>
                </a:solidFill>
              </a:rPr>
              <a:t>04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71500" y="3420991"/>
            <a:ext cx="1232710" cy="214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b="1" dirty="0">
                <a:solidFill>
                  <a:srgbClr val="000000"/>
                </a:solidFill>
              </a:rPr>
              <a:t>Utility-Based</a:t>
            </a: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571500" y="3712099"/>
            <a:ext cx="251460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Optimizes a utility function rather than a binary goal.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3314700" y="3151315"/>
            <a:ext cx="2514600" cy="104940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8" name="Shape 14"/>
          <p:cNvSpPr/>
          <p:nvPr/>
        </p:nvSpPr>
        <p:spPr>
          <a:xfrm>
            <a:off x="3314700" y="3151315"/>
            <a:ext cx="2514600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9" name="Text 15"/>
          <p:cNvSpPr/>
          <p:nvPr/>
        </p:nvSpPr>
        <p:spPr>
          <a:xfrm>
            <a:off x="3400425" y="3237040"/>
            <a:ext cx="137858" cy="1413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0047AB"/>
                </a:solidFill>
              </a:rPr>
              <a:t>05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3400425" y="3449566"/>
            <a:ext cx="1527854" cy="214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b="1" dirty="0">
                <a:solidFill>
                  <a:srgbClr val="0047AB"/>
                </a:solidFill>
              </a:rPr>
              <a:t>Learning Agents</a:t>
            </a: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3400425" y="3740674"/>
            <a:ext cx="234315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F2F2F2"/>
                </a:solidFill>
              </a:rPr>
              <a:t>Improves over time via feedback and interaction.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4390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891964"/>
            <a:ext cx="3257550" cy="1345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800" b="1" kern="0" spc="-1" dirty="0">
                <a:solidFill>
                  <a:srgbClr val="000000"/>
                </a:solidFill>
              </a:rPr>
              <a:t>Collaborative multi-agent systems outperform monolithic models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571500" y="3315091"/>
            <a:ext cx="1309397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b="1" dirty="0">
                <a:solidFill>
                  <a:srgbClr val="0047AB"/>
                </a:solidFill>
              </a:rPr>
              <a:t>Specialization</a:t>
            </a: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571500" y="3600841"/>
            <a:ext cx="3257550" cy="577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Assigning distinct roles (Researcher, Coder, Reviewer) to reduce cognitive load on single LLM calls.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571500" y="4358078"/>
            <a:ext cx="1309461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b="1" dirty="0">
                <a:solidFill>
                  <a:srgbClr val="0047AB"/>
                </a:solidFill>
              </a:rPr>
              <a:t>Orchestration</a:t>
            </a: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571500" y="4643828"/>
            <a:ext cx="3257550" cy="577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The management layer that handles task delegation, state management, and conflict resolution.</a:t>
            </a:r>
            <a:endParaRPr lang="en-US" sz="14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6275" y="978889"/>
            <a:ext cx="4286250" cy="35718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5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1135" y="506476"/>
            <a:ext cx="8001000" cy="11079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600" b="1" kern="0" spc="-1" dirty="0">
                <a:solidFill>
                  <a:srgbClr val="000000"/>
                </a:solidFill>
              </a:rPr>
              <a:t>Strategic reasoning patterns determine agent efficiency and reliability</a:t>
            </a:r>
            <a:endParaRPr lang="en-US" sz="3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4368" y="1677016"/>
            <a:ext cx="5715000" cy="2143125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571500" y="4223798"/>
            <a:ext cx="1985736" cy="214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b="1" dirty="0">
                <a:solidFill>
                  <a:srgbClr val="0047AB"/>
                </a:solidFill>
              </a:rPr>
              <a:t>ReAct (Reason + Act)</a:t>
            </a:r>
            <a:endParaRPr lang="en-US" dirty="0"/>
          </a:p>
        </p:txBody>
      </p:sp>
      <p:sp>
        <p:nvSpPr>
          <p:cNvPr id="7" name="Text 2"/>
          <p:cNvSpPr/>
          <p:nvPr/>
        </p:nvSpPr>
        <p:spPr>
          <a:xfrm>
            <a:off x="571500" y="4564912"/>
            <a:ext cx="3786188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Interleaves reasoning traces and task-specific actions. </a:t>
            </a:r>
            <a:r>
              <a:rPr lang="en-US" sz="1100" b="1" dirty="0">
                <a:solidFill>
                  <a:srgbClr val="000000"/>
                </a:solidFill>
              </a:rPr>
              <a:t>Best for:</a:t>
            </a:r>
            <a:r>
              <a:rPr lang="en-US" sz="1200" dirty="0">
                <a:solidFill>
                  <a:srgbClr val="333333"/>
                </a:solidFill>
              </a:rPr>
              <a:t> Unpredictable environments requiring high adaptability and real-time observation.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4786313" y="4223798"/>
            <a:ext cx="3722366" cy="214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b="1" dirty="0">
                <a:solidFill>
                  <a:srgbClr val="0047AB"/>
                </a:solidFill>
              </a:rPr>
              <a:t>ReWOO (Reason Without Observation)</a:t>
            </a:r>
            <a:endParaRPr lang="en-US" dirty="0"/>
          </a:p>
        </p:txBody>
      </p:sp>
      <p:sp>
        <p:nvSpPr>
          <p:cNvPr id="9" name="Text 4"/>
          <p:cNvSpPr/>
          <p:nvPr/>
        </p:nvSpPr>
        <p:spPr>
          <a:xfrm>
            <a:off x="4786313" y="4564912"/>
            <a:ext cx="3786188" cy="569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Decouples reasoning from tool execution by planning all steps upfront. </a:t>
            </a:r>
            <a:r>
              <a:rPr lang="en-US" sz="1100" b="1" dirty="0">
                <a:solidFill>
                  <a:srgbClr val="000000"/>
                </a:solidFill>
              </a:rPr>
              <a:t>Best for:</a:t>
            </a:r>
            <a:r>
              <a:rPr lang="en-US" sz="1200" dirty="0">
                <a:solidFill>
                  <a:srgbClr val="333333"/>
                </a:solidFill>
              </a:rPr>
              <a:t> Reducing latency, token costs, and enabling parallel tool execution.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71500" y="857250"/>
            <a:ext cx="1836420" cy="3181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1"/>
          <p:cNvSpPr/>
          <p:nvPr/>
        </p:nvSpPr>
        <p:spPr>
          <a:xfrm>
            <a:off x="633095" y="937492"/>
            <a:ext cx="1836420" cy="202684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400" b="1" dirty="0">
                <a:solidFill>
                  <a:srgbClr val="F2F2F2"/>
                </a:solidFill>
              </a:rPr>
              <a:t>Evolutionary Shift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571500" y="1370595"/>
            <a:ext cx="2800350" cy="1333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800" b="1" kern="0" spc="-1" dirty="0">
                <a:solidFill>
                  <a:srgbClr val="000000"/>
                </a:solidFill>
              </a:rPr>
              <a:t>Agentic RAG transforms static retrieval into dynamic discovery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571500" y="3099355"/>
            <a:ext cx="1187248" cy="169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600" b="1" dirty="0">
                <a:solidFill>
                  <a:srgbClr val="0047AB"/>
                </a:solidFill>
              </a:rPr>
              <a:t>Standard RAG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571499" y="3317239"/>
            <a:ext cx="8429625" cy="185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dirty="0">
                <a:solidFill>
                  <a:srgbClr val="333333"/>
                </a:solidFill>
              </a:rPr>
              <a:t>A linear, static process: Retrieve → Augment → Generate. Limited by initial query quality.</a:t>
            </a: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571500" y="3731577"/>
            <a:ext cx="1054584" cy="169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600" b="1" dirty="0">
                <a:solidFill>
                  <a:srgbClr val="0047AB"/>
                </a:solidFill>
              </a:rPr>
              <a:t>Agentic RAG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71499" y="3949461"/>
            <a:ext cx="8429625" cy="352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dirty="0">
                <a:solidFill>
                  <a:srgbClr val="333333"/>
                </a:solidFill>
              </a:rPr>
              <a:t>An iterative loop where the agent critiques results, refines queries, and verifies across multiple sources.</a:t>
            </a: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571500" y="4428093"/>
            <a:ext cx="969111" cy="169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600" b="1" dirty="0">
                <a:solidFill>
                  <a:srgbClr val="0047AB"/>
                </a:solidFill>
              </a:rPr>
              <a:t>Key Benefit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71500" y="4645977"/>
            <a:ext cx="8572500" cy="185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dirty="0">
                <a:solidFill>
                  <a:srgbClr val="333333"/>
                </a:solidFill>
              </a:rPr>
              <a:t>Significant reduction in hallucinations through autonomous self-correction and reasoning.</a:t>
            </a:r>
            <a:endParaRPr lang="en-US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3375" y="127237"/>
            <a:ext cx="4857750" cy="297211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3340" y="6858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942975"/>
            <a:ext cx="7143750" cy="1179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600" b="1" kern="0" spc="-1" dirty="0">
                <a:solidFill>
                  <a:srgbClr val="000000"/>
                </a:solidFill>
              </a:rPr>
              <a:t>Trustworthy autonomy requires rigorous governance and evaluation frameworks</a:t>
            </a:r>
            <a:endParaRPr lang="en-US" sz="3600" dirty="0"/>
          </a:p>
        </p:txBody>
      </p:sp>
      <p:sp>
        <p:nvSpPr>
          <p:cNvPr id="5" name="Text 1"/>
          <p:cNvSpPr/>
          <p:nvPr/>
        </p:nvSpPr>
        <p:spPr>
          <a:xfrm>
            <a:off x="571500" y="2745991"/>
            <a:ext cx="750975" cy="2351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400" b="1" kern="0" spc="1" dirty="0">
                <a:solidFill>
                  <a:srgbClr val="0047AB"/>
                </a:solidFill>
              </a:rPr>
              <a:t>Ethics</a:t>
            </a:r>
            <a:endParaRPr lang="en-US" sz="2400" dirty="0"/>
          </a:p>
        </p:txBody>
      </p:sp>
      <p:sp>
        <p:nvSpPr>
          <p:cNvPr id="6" name="Text 2"/>
          <p:cNvSpPr/>
          <p:nvPr/>
        </p:nvSpPr>
        <p:spPr>
          <a:xfrm>
            <a:off x="735806" y="3158542"/>
            <a:ext cx="2312175" cy="618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dirty="0">
                <a:solidFill>
                  <a:srgbClr val="333333"/>
                </a:solidFill>
              </a:rPr>
              <a:t>Implementing "Human-in-the-loop" for high-stakes decisions.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682466" y="3781432"/>
            <a:ext cx="2312175" cy="618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dirty="0">
                <a:solidFill>
                  <a:srgbClr val="333333"/>
                </a:solidFill>
              </a:rPr>
              <a:t>Proactive bias mitigation and algorithmic transparency.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3333731" y="2745991"/>
            <a:ext cx="1538563" cy="2351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400" b="1" kern="0" spc="1" dirty="0">
                <a:solidFill>
                  <a:srgbClr val="0047AB"/>
                </a:solidFill>
              </a:rPr>
              <a:t>Governance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3498038" y="3158542"/>
            <a:ext cx="2312203" cy="615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dirty="0">
                <a:solidFill>
                  <a:srgbClr val="333333"/>
                </a:solidFill>
              </a:rPr>
              <a:t>Defining clear action boundaries and permission scopes.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3498038" y="3814034"/>
            <a:ext cx="2312203" cy="618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dirty="0">
                <a:solidFill>
                  <a:srgbClr val="333333"/>
                </a:solidFill>
              </a:rPr>
              <a:t>Immutable audit trails for every autonomous decision.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095991" y="2745991"/>
            <a:ext cx="1355820" cy="2351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400" b="1" kern="0" spc="1" dirty="0">
                <a:solidFill>
                  <a:srgbClr val="0047AB"/>
                </a:solidFill>
              </a:rPr>
              <a:t>Evaluation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6260297" y="3158542"/>
            <a:ext cx="2312175" cy="410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dirty="0">
                <a:solidFill>
                  <a:srgbClr val="333333"/>
                </a:solidFill>
              </a:rPr>
              <a:t>Measuring Success Rate and Tool Call Precision.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260297" y="3712852"/>
            <a:ext cx="2312175" cy="410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dirty="0">
                <a:solidFill>
                  <a:srgbClr val="333333"/>
                </a:solidFill>
              </a:rPr>
              <a:t>Rigorous monitoring for safety and policy violations.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891964"/>
            <a:ext cx="3714750" cy="1000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400" b="1" kern="0" spc="-1" dirty="0">
                <a:solidFill>
                  <a:srgbClr val="000000"/>
                </a:solidFill>
              </a:rPr>
              <a:t>Modern frameworks bridge the gap between theory and production</a:t>
            </a:r>
            <a:endParaRPr lang="en-US" sz="2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569294"/>
            <a:ext cx="3571875" cy="2143125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4572000" y="742950"/>
            <a:ext cx="485710" cy="2351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400" b="1" dirty="0">
                <a:solidFill>
                  <a:srgbClr val="0047AB"/>
                </a:solidFill>
              </a:rPr>
              <a:t>n8n</a:t>
            </a:r>
            <a:endParaRPr lang="en-US" sz="2400" dirty="0"/>
          </a:p>
        </p:txBody>
      </p:sp>
      <p:sp>
        <p:nvSpPr>
          <p:cNvPr id="7" name="Text 2"/>
          <p:cNvSpPr/>
          <p:nvPr/>
        </p:nvSpPr>
        <p:spPr>
          <a:xfrm>
            <a:off x="4572000" y="1048345"/>
            <a:ext cx="4000500" cy="583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dirty="0">
                <a:solidFill>
                  <a:srgbClr val="333333"/>
                </a:solidFill>
              </a:rPr>
              <a:t>A low-code powerhouse for integrating agents into existing enterprise workflows via 400+ native integrations.</a:t>
            </a: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4572000" y="1891308"/>
            <a:ext cx="919995" cy="2351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400" b="1" dirty="0">
                <a:solidFill>
                  <a:srgbClr val="0047AB"/>
                </a:solidFill>
              </a:rPr>
              <a:t>CrewAI</a:t>
            </a:r>
            <a:endParaRPr lang="en-US" sz="2400" dirty="0"/>
          </a:p>
        </p:txBody>
      </p:sp>
      <p:sp>
        <p:nvSpPr>
          <p:cNvPr id="9" name="Text 4"/>
          <p:cNvSpPr/>
          <p:nvPr/>
        </p:nvSpPr>
        <p:spPr>
          <a:xfrm>
            <a:off x="4572000" y="2196703"/>
            <a:ext cx="4000500" cy="583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dirty="0">
                <a:solidFill>
                  <a:srgbClr val="333333"/>
                </a:solidFill>
              </a:rPr>
              <a:t>A code-centric framework designed for role-playing and collaborative multi-agent orchestration.</a:t>
            </a: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4572000" y="2868216"/>
            <a:ext cx="4000500" cy="8572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6"/>
          <p:cNvSpPr/>
          <p:nvPr/>
        </p:nvSpPr>
        <p:spPr>
          <a:xfrm>
            <a:off x="4714875" y="3011091"/>
            <a:ext cx="1099468" cy="1272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200" b="1" kern="0" spc="2" dirty="0">
                <a:solidFill>
                  <a:srgbClr val="0047AB"/>
                </a:solidFill>
              </a:rPr>
              <a:t>Selection Criteria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4714875" y="3218259"/>
            <a:ext cx="3714750" cy="390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dirty="0">
                <a:solidFill>
                  <a:srgbClr val="F2F2F2"/>
                </a:solidFill>
              </a:rPr>
              <a:t>Use </a:t>
            </a:r>
            <a:r>
              <a:rPr lang="en-US" sz="1400" b="1" dirty="0">
                <a:solidFill>
                  <a:srgbClr val="F2F2F2"/>
                </a:solidFill>
              </a:rPr>
              <a:t>n8n</a:t>
            </a:r>
            <a:r>
              <a:rPr lang="en-US" sz="1600" dirty="0">
                <a:solidFill>
                  <a:srgbClr val="F2F2F2"/>
                </a:solidFill>
              </a:rPr>
              <a:t> for workflow-heavy tasks; use </a:t>
            </a:r>
            <a:r>
              <a:rPr lang="en-US" sz="1400" b="1" dirty="0">
                <a:solidFill>
                  <a:srgbClr val="F2F2F2"/>
                </a:solidFill>
              </a:rPr>
              <a:t>CrewAI</a:t>
            </a:r>
            <a:r>
              <a:rPr lang="en-US" sz="1600" dirty="0">
                <a:solidFill>
                  <a:srgbClr val="F2F2F2"/>
                </a:solidFill>
              </a:rPr>
              <a:t> for complex, autonomous reasoning tasks.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1132117"/>
            <a:ext cx="4486275" cy="1356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3600" b="1" kern="0" spc="-2" dirty="0">
                <a:solidFill>
                  <a:srgbClr val="000000"/>
                </a:solidFill>
              </a:rPr>
              <a:t>The future of work is a collaborative partnership</a:t>
            </a:r>
            <a:endParaRPr lang="en-US" sz="3600" dirty="0"/>
          </a:p>
        </p:txBody>
      </p:sp>
      <p:sp>
        <p:nvSpPr>
          <p:cNvPr id="5" name="Text 1"/>
          <p:cNvSpPr/>
          <p:nvPr/>
        </p:nvSpPr>
        <p:spPr>
          <a:xfrm>
            <a:off x="571500" y="2737982"/>
            <a:ext cx="4286250" cy="1542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We have moved from simple content generation to autonomous, goal-oriented systems. The goal is not to replace humans, but to augment our capabilities and handle the complexity of modern workflows.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4"/>
          <p:cNvSpPr/>
          <p:nvPr/>
        </p:nvSpPr>
        <p:spPr>
          <a:xfrm>
            <a:off x="5915025" y="714375"/>
            <a:ext cx="2143536" cy="2023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2000" b="1" kern="0" spc="2" dirty="0">
                <a:solidFill>
                  <a:srgbClr val="0047AB"/>
                </a:solidFill>
              </a:rPr>
              <a:t>Strategic Next Steps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5915025" y="1273373"/>
            <a:ext cx="1385957" cy="1763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b="1" dirty="0">
                <a:solidFill>
                  <a:srgbClr val="F2F2F2"/>
                </a:solidFill>
              </a:rPr>
              <a:t>01. Start Small</a:t>
            </a: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915025" y="1562695"/>
            <a:ext cx="2657475" cy="519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dirty="0">
                <a:solidFill>
                  <a:srgbClr val="CCCCCC"/>
                </a:solidFill>
              </a:rPr>
              <a:t>Identify low-risk, high-frequency tasks for initial agentic automation.</a:t>
            </a: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5915025" y="2318482"/>
            <a:ext cx="2111091" cy="1763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b="1" dirty="0">
                <a:solidFill>
                  <a:srgbClr val="F2F2F2"/>
                </a:solidFill>
              </a:rPr>
              <a:t>02. Define Boundaries</a:t>
            </a: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5915025" y="2607804"/>
            <a:ext cx="2657475" cy="519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dirty="0">
                <a:solidFill>
                  <a:srgbClr val="CCCCCC"/>
                </a:solidFill>
              </a:rPr>
              <a:t>Establish clear action scopes and human-in-the-loop checkpoints.</a:t>
            </a: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5915025" y="3363590"/>
            <a:ext cx="1770165" cy="1763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b="1" dirty="0">
                <a:solidFill>
                  <a:srgbClr val="F2F2F2"/>
                </a:solidFill>
              </a:rPr>
              <a:t>03. Focus on Value</a:t>
            </a: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5915025" y="3652912"/>
            <a:ext cx="2657475" cy="686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dirty="0">
                <a:solidFill>
                  <a:srgbClr val="CCCCCC"/>
                </a:solidFill>
              </a:rPr>
              <a:t>Prioritize use cases that deliver measurable efficiency and reliability gains.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CF842A-3E02-4975-5772-3632E196C3F8}"/>
              </a:ext>
            </a:extLst>
          </p:cNvPr>
          <p:cNvSpPr txBox="1"/>
          <p:nvPr/>
        </p:nvSpPr>
        <p:spPr>
          <a:xfrm>
            <a:off x="1230923" y="429065"/>
            <a:ext cx="73996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CRM Exception RAG Workflow – n8n</a:t>
            </a:r>
          </a:p>
        </p:txBody>
      </p:sp>
      <p:pic>
        <p:nvPicPr>
          <p:cNvPr id="1026" name="Picture 2" descr="1111">
            <a:extLst>
              <a:ext uri="{FF2B5EF4-FFF2-40B4-BE49-F238E27FC236}">
                <a16:creationId xmlns:a16="http://schemas.microsoft.com/office/drawing/2014/main" id="{93585A40-A11D-14D4-5DAD-51063194D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85323"/>
            <a:ext cx="8778240" cy="3945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49216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8EB14B-5F04-5AD0-CAC7-80D7C42D920E}"/>
              </a:ext>
            </a:extLst>
          </p:cNvPr>
          <p:cNvSpPr txBox="1"/>
          <p:nvPr/>
        </p:nvSpPr>
        <p:spPr>
          <a:xfrm>
            <a:off x="654148" y="379828"/>
            <a:ext cx="56411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Telegram Assistant – n8n</a:t>
            </a:r>
          </a:p>
        </p:txBody>
      </p:sp>
      <p:pic>
        <p:nvPicPr>
          <p:cNvPr id="2050" name="Picture 2" descr="44">
            <a:extLst>
              <a:ext uri="{FF2B5EF4-FFF2-40B4-BE49-F238E27FC236}">
                <a16:creationId xmlns:a16="http://schemas.microsoft.com/office/drawing/2014/main" id="{1E7E4C70-E1C5-2786-28AC-E236B7EFDC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07" y="1069978"/>
            <a:ext cx="8714935" cy="3939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37458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DE680F-A10F-74ED-6F63-E554F430276C}"/>
              </a:ext>
            </a:extLst>
          </p:cNvPr>
          <p:cNvSpPr txBox="1"/>
          <p:nvPr/>
        </p:nvSpPr>
        <p:spPr>
          <a:xfrm>
            <a:off x="647114" y="436098"/>
            <a:ext cx="7512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/>
              <a:t>SyntaxAcademy</a:t>
            </a:r>
            <a:r>
              <a:rPr lang="en-US" sz="2800" b="1" dirty="0"/>
              <a:t> - Generate Posts Workflow – n8n</a:t>
            </a:r>
          </a:p>
        </p:txBody>
      </p:sp>
      <p:pic>
        <p:nvPicPr>
          <p:cNvPr id="3074" name="Picture 2" descr="33">
            <a:extLst>
              <a:ext uri="{FF2B5EF4-FFF2-40B4-BE49-F238E27FC236}">
                <a16:creationId xmlns:a16="http://schemas.microsoft.com/office/drawing/2014/main" id="{2326ABA3-8ECD-179B-1905-55D43FB397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67" y="1038546"/>
            <a:ext cx="8848581" cy="3981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30765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A08638D2-15D2-81AB-5D40-273FDAF544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620" y="916422"/>
            <a:ext cx="7462911" cy="4073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8D9AD22-CD0A-405C-706F-F57805A3C5EF}"/>
              </a:ext>
            </a:extLst>
          </p:cNvPr>
          <p:cNvSpPr txBox="1"/>
          <p:nvPr/>
        </p:nvSpPr>
        <p:spPr>
          <a:xfrm>
            <a:off x="520505" y="337625"/>
            <a:ext cx="5641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AI Agent Crew AI</a:t>
            </a:r>
          </a:p>
        </p:txBody>
      </p:sp>
    </p:spTree>
    <p:extLst>
      <p:ext uri="{BB962C8B-B14F-4D97-AF65-F5344CB8AC3E}">
        <p14:creationId xmlns:p14="http://schemas.microsoft.com/office/powerpoint/2010/main" val="56873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664</Words>
  <Application>Microsoft Office PowerPoint</Application>
  <PresentationFormat>On-screen Show (16:9)</PresentationFormat>
  <Paragraphs>117</Paragraphs>
  <Slides>15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MOHAMED KHALED IDRIS</cp:lastModifiedBy>
  <cp:revision>10</cp:revision>
  <dcterms:created xsi:type="dcterms:W3CDTF">2025-12-27T01:12:11Z</dcterms:created>
  <dcterms:modified xsi:type="dcterms:W3CDTF">2025-12-27T09:29:44Z</dcterms:modified>
</cp:coreProperties>
</file>