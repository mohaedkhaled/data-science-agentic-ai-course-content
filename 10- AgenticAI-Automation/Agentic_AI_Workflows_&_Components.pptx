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277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the theory, the architecture, and the necessary governance. Now we look at the tools that bridge the gap between agentic theory and production reality. n8n and CrewAI represent two distinct approaches to building agentic systems. n8n is a low-code powerhouse, excellent for integrating agents into existing enterprise workflows. With over 400 native integrations, it's the perfect choice for workflow-heavy tasks that need to connect to your CRM, ERP, or email systems. CrewAI, on the other hand, is a code-centric framework designed specifically for collaborative multi-agent orchestration. It excels at defining roles and creating a virtual department of specialized agents for complex reasoning tasks. Your selection criteria should be clear: use n8n for connecting workflows, and use CrewAI for building autonomous, complex reasoning teams. These tools are what enable the future we've been discussing.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reached the end of our masterclass, and the core takeaway is clear: the future of work is a collaborative partnership between humans and agents. We have moved decisively from simple content generation to autonomous, goal-oriented systems that can plan and execute. The goal is not human replacement, but augmentation, handling the complex drudgery of modern workflows. To start implementing this, you must follow three strategic steps. First, start small by identifying low-risk, high-frequency tasks for initial automation. Second, define clear boundaries and establish human-in-the-loop checkpoints. And third, focus relentlessly on value by prioritizing use cases that deliver measurable efficiency gains. The most successful organizations will be powered by these agentic ecosystems. Thank you for your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1200150"/>
            <a:ext cx="4286250" cy="1538883"/>
          </a:xfrm>
          <a:prstGeom prst="rect">
            <a:avLst/>
          </a:prstGeom>
          <a:noFill/>
          <a:ln/>
        </p:spPr>
        <p:txBody>
          <a:bodyPr wrap="square" lIns="0" tIns="0" rIns="0" bIns="0" rtlCol="0" anchor="t">
            <a:spAutoFit/>
          </a:bodyPr>
          <a:lstStyle/>
          <a:p>
            <a:pPr marL="0" indent="0" algn="l">
              <a:lnSpc>
                <a:spcPts val="4000"/>
              </a:lnSpc>
              <a:buNone/>
            </a:pPr>
            <a:r>
              <a:rPr lang="en-US" sz="3600" b="1" kern="0" spc="-2" dirty="0">
                <a:solidFill>
                  <a:srgbClr val="1A1A1A"/>
                </a:solidFill>
              </a:rPr>
              <a:t>Agentic AI
Workflows &amp;
Components</a:t>
            </a:r>
            <a:endParaRPr lang="en-US" sz="3600" dirty="0"/>
          </a:p>
        </p:txBody>
      </p:sp>
      <p:sp>
        <p:nvSpPr>
          <p:cNvPr id="4" name="Text 1"/>
          <p:cNvSpPr/>
          <p:nvPr/>
        </p:nvSpPr>
        <p:spPr>
          <a:xfrm>
            <a:off x="437857" y="2880327"/>
            <a:ext cx="4134143" cy="861774"/>
          </a:xfrm>
          <a:prstGeom prst="rect">
            <a:avLst/>
          </a:prstGeom>
          <a:noFill/>
          <a:ln/>
        </p:spPr>
        <p:txBody>
          <a:bodyPr wrap="square" lIns="0" tIns="0" rIns="0" bIns="0" rtlCol="0" anchor="t">
            <a:spAutoFit/>
          </a:bodyPr>
          <a:lstStyle/>
          <a:p>
            <a:pPr marL="0" indent="0" algn="l">
              <a:buNone/>
            </a:pPr>
            <a:r>
              <a:rPr lang="en-US" sz="2800" dirty="0">
                <a:solidFill>
                  <a:srgbClr val="333333"/>
                </a:solidFill>
              </a:rPr>
              <a:t>Mastering the Architecture of Autonomous Intelligence</a:t>
            </a:r>
            <a:endParaRPr lang="en-US" sz="2800" dirty="0"/>
          </a:p>
        </p:txBody>
      </p:sp>
      <p:sp>
        <p:nvSpPr>
          <p:cNvPr id="5" name="Text 2"/>
          <p:cNvSpPr/>
          <p:nvPr/>
        </p:nvSpPr>
        <p:spPr>
          <a:xfrm>
            <a:off x="285750" y="4191449"/>
            <a:ext cx="4286250" cy="229422"/>
          </a:xfrm>
          <a:prstGeom prst="rect">
            <a:avLst/>
          </a:prstGeom>
          <a:noFill/>
          <a:ln/>
        </p:spPr>
        <p:txBody>
          <a:bodyPr wrap="square" lIns="0" tIns="0" rIns="0" bIns="0" rtlCol="0" anchor="t">
            <a:spAutoFit/>
          </a:bodyPr>
          <a:lstStyle/>
          <a:p>
            <a:pPr marL="0" indent="0" algn="l">
              <a:lnSpc>
                <a:spcPts val="1400"/>
              </a:lnSpc>
              <a:buNone/>
            </a:pPr>
            <a:r>
              <a:rPr lang="en-US" sz="2800" b="1" kern="0" spc="2" dirty="0">
                <a:solidFill>
                  <a:srgbClr val="0052CC"/>
                </a:solidFill>
              </a:rPr>
              <a:t>Eng/ Mohamed Khaled Idris</a:t>
            </a:r>
            <a:endParaRPr lang="en-US" sz="2800" dirty="0"/>
          </a:p>
        </p:txBody>
      </p:sp>
      <p:sp>
        <p:nvSpPr>
          <p:cNvPr id="6" name="Shape 3"/>
          <p:cNvSpPr/>
          <p:nvPr/>
        </p:nvSpPr>
        <p:spPr>
          <a:xfrm>
            <a:off x="4857750" y="0"/>
            <a:ext cx="4286250" cy="5143500"/>
          </a:xfrm>
          <a:prstGeom prst="rect">
            <a:avLst/>
          </a:prstGeom>
          <a:solidFill>
            <a:srgbClr val="1A1A1A"/>
          </a:solidFill>
          <a:ln/>
        </p:spPr>
      </p:sp>
      <p:pic>
        <p:nvPicPr>
          <p:cNvPr id="7" name="Image 1" descr="preencoded.png"/>
          <p:cNvPicPr>
            <a:picLocks noChangeAspect="1"/>
          </p:cNvPicPr>
          <p:nvPr/>
        </p:nvPicPr>
        <p:blipFill>
          <a:blip r:embed="rId4">
            <a:alphaModFix amt="80000"/>
          </a:blip>
          <a:stretch>
            <a:fillRect/>
          </a:stretch>
        </p:blipFill>
        <p:spPr>
          <a:xfrm>
            <a:off x="4857750" y="0"/>
            <a:ext cx="428625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1218614" y="456239"/>
            <a:ext cx="7143750" cy="984885"/>
          </a:xfrm>
          <a:prstGeom prst="rect">
            <a:avLst/>
          </a:prstGeom>
          <a:noFill/>
          <a:ln/>
        </p:spPr>
        <p:txBody>
          <a:bodyPr wrap="square" lIns="0" tIns="0" rIns="0" bIns="0" rtlCol="0" anchor="t">
            <a:spAutoFit/>
          </a:bodyPr>
          <a:lstStyle/>
          <a:p>
            <a:pPr marL="0" indent="0" algn="l">
              <a:buNone/>
            </a:pPr>
            <a:r>
              <a:rPr lang="en-US" sz="3200" b="1" kern="0" spc="-1" dirty="0">
                <a:solidFill>
                  <a:srgbClr val="1A1A1A"/>
                </a:solidFill>
              </a:rPr>
              <a:t>Agentic Workflows Transform Passive Models into Active Problem Solvers</a:t>
            </a:r>
            <a:endParaRPr lang="en-US" sz="3200" dirty="0"/>
          </a:p>
        </p:txBody>
      </p:sp>
      <p:sp>
        <p:nvSpPr>
          <p:cNvPr id="4" name="Text 1"/>
          <p:cNvSpPr/>
          <p:nvPr/>
        </p:nvSpPr>
        <p:spPr>
          <a:xfrm>
            <a:off x="571500" y="1510903"/>
            <a:ext cx="1693990" cy="182038"/>
          </a:xfrm>
          <a:prstGeom prst="rect">
            <a:avLst/>
          </a:prstGeom>
          <a:noFill/>
          <a:ln/>
        </p:spPr>
        <p:txBody>
          <a:bodyPr wrap="none" lIns="0" tIns="0" rIns="0" bIns="0" rtlCol="0" anchor="t">
            <a:spAutoFit/>
          </a:bodyPr>
          <a:lstStyle/>
          <a:p>
            <a:pPr marL="0" indent="0" algn="l">
              <a:lnSpc>
                <a:spcPts val="1400"/>
              </a:lnSpc>
              <a:buNone/>
            </a:pPr>
            <a:r>
              <a:rPr lang="en-US" sz="1400" b="1" dirty="0">
                <a:solidFill>
                  <a:srgbClr val="0052CC"/>
                </a:solidFill>
              </a:rPr>
              <a:t>Beyond One-and-Done</a:t>
            </a:r>
            <a:endParaRPr lang="en-US" sz="1400" dirty="0"/>
          </a:p>
        </p:txBody>
      </p:sp>
      <p:sp>
        <p:nvSpPr>
          <p:cNvPr id="5" name="Text 2"/>
          <p:cNvSpPr/>
          <p:nvPr/>
        </p:nvSpPr>
        <p:spPr>
          <a:xfrm>
            <a:off x="571500" y="1762720"/>
            <a:ext cx="4000500" cy="538609"/>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333333"/>
                </a:solidFill>
              </a:rPr>
              <a:t>Traditional Generative AI operates on a single-turn basis. Agentic AI introduces autonomy and iteration, allowing systems to reason and plan independently.</a:t>
            </a:r>
            <a:endParaRPr lang="en-US" sz="1200" dirty="0"/>
          </a:p>
        </p:txBody>
      </p:sp>
      <p:sp>
        <p:nvSpPr>
          <p:cNvPr id="6" name="Text 3"/>
          <p:cNvSpPr/>
          <p:nvPr/>
        </p:nvSpPr>
        <p:spPr>
          <a:xfrm>
            <a:off x="571500" y="2539910"/>
            <a:ext cx="1419235" cy="182038"/>
          </a:xfrm>
          <a:prstGeom prst="rect">
            <a:avLst/>
          </a:prstGeom>
          <a:noFill/>
          <a:ln/>
        </p:spPr>
        <p:txBody>
          <a:bodyPr wrap="none" lIns="0" tIns="0" rIns="0" bIns="0" rtlCol="0" anchor="t">
            <a:spAutoFit/>
          </a:bodyPr>
          <a:lstStyle/>
          <a:p>
            <a:pPr marL="0" indent="0" algn="l">
              <a:lnSpc>
                <a:spcPts val="1400"/>
              </a:lnSpc>
              <a:buNone/>
            </a:pPr>
            <a:r>
              <a:rPr lang="en-US" sz="1400" b="1" dirty="0">
                <a:solidFill>
                  <a:srgbClr val="0052CC"/>
                </a:solidFill>
              </a:rPr>
              <a:t>The Feedback Loop</a:t>
            </a:r>
            <a:endParaRPr lang="en-US" sz="1400" dirty="0"/>
          </a:p>
        </p:txBody>
      </p:sp>
      <p:sp>
        <p:nvSpPr>
          <p:cNvPr id="7" name="Text 4"/>
          <p:cNvSpPr/>
          <p:nvPr/>
        </p:nvSpPr>
        <p:spPr>
          <a:xfrm>
            <a:off x="571500" y="2791727"/>
            <a:ext cx="4000500" cy="538609"/>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333333"/>
                </a:solidFill>
              </a:rPr>
              <a:t>The core difference lies in the feedback loop: agents observe the results of their actions and dynamically adjust their strategy to achieve the goal.</a:t>
            </a:r>
            <a:endParaRPr lang="en-US" sz="1200" dirty="0"/>
          </a:p>
        </p:txBody>
      </p:sp>
      <p:sp>
        <p:nvSpPr>
          <p:cNvPr id="8" name="Text 5"/>
          <p:cNvSpPr/>
          <p:nvPr/>
        </p:nvSpPr>
        <p:spPr>
          <a:xfrm>
            <a:off x="571500" y="3386054"/>
            <a:ext cx="1480085" cy="182038"/>
          </a:xfrm>
          <a:prstGeom prst="rect">
            <a:avLst/>
          </a:prstGeom>
          <a:noFill/>
          <a:ln/>
        </p:spPr>
        <p:txBody>
          <a:bodyPr wrap="none" lIns="0" tIns="0" rIns="0" bIns="0" rtlCol="0" anchor="t">
            <a:spAutoFit/>
          </a:bodyPr>
          <a:lstStyle/>
          <a:p>
            <a:pPr marL="0" indent="0" algn="l">
              <a:lnSpc>
                <a:spcPts val="1400"/>
              </a:lnSpc>
              <a:buNone/>
            </a:pPr>
            <a:r>
              <a:rPr lang="en-US" sz="1400" b="1" dirty="0">
                <a:solidFill>
                  <a:srgbClr val="0052CC"/>
                </a:solidFill>
              </a:rPr>
              <a:t>Advisor to Operator</a:t>
            </a:r>
            <a:endParaRPr lang="en-US" sz="1400" dirty="0"/>
          </a:p>
        </p:txBody>
      </p:sp>
      <p:sp>
        <p:nvSpPr>
          <p:cNvPr id="9" name="Text 6"/>
          <p:cNvSpPr/>
          <p:nvPr/>
        </p:nvSpPr>
        <p:spPr>
          <a:xfrm>
            <a:off x="571500" y="3637871"/>
            <a:ext cx="4000500" cy="538609"/>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333333"/>
                </a:solidFill>
              </a:rPr>
              <a:t>This evolution moves AI from a simple "advisor" role to an "operator" capable of completing end-to-end business processes with minimal intervention.</a:t>
            </a:r>
            <a:endParaRPr lang="en-US" sz="1200" dirty="0"/>
          </a:p>
        </p:txBody>
      </p:sp>
      <p:pic>
        <p:nvPicPr>
          <p:cNvPr id="10" name="Image 1" descr="preencoded.png"/>
          <p:cNvPicPr>
            <a:picLocks noChangeAspect="1"/>
          </p:cNvPicPr>
          <p:nvPr/>
        </p:nvPicPr>
        <p:blipFill>
          <a:blip r:embed="rId4"/>
          <a:stretch>
            <a:fillRect/>
          </a:stretch>
        </p:blipFill>
        <p:spPr>
          <a:xfrm>
            <a:off x="5000625" y="1510903"/>
            <a:ext cx="3571875" cy="285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95776"/>
            <a:ext cx="8001000" cy="984885"/>
          </a:xfrm>
          <a:prstGeom prst="rect">
            <a:avLst/>
          </a:prstGeom>
          <a:noFill/>
          <a:ln/>
        </p:spPr>
        <p:txBody>
          <a:bodyPr wrap="square" lIns="0" tIns="0" rIns="0" bIns="0" rtlCol="0" anchor="t">
            <a:spAutoFit/>
          </a:bodyPr>
          <a:lstStyle/>
          <a:p>
            <a:pPr marL="0" indent="0" algn="ctr">
              <a:buNone/>
            </a:pPr>
            <a:r>
              <a:rPr lang="en-US" sz="3200" b="1" kern="0" spc="-1" dirty="0">
                <a:solidFill>
                  <a:srgbClr val="1A1A1A"/>
                </a:solidFill>
              </a:rPr>
              <a:t>A Modular Architecture Enables Autonomous Perception and Action</a:t>
            </a:r>
            <a:endParaRPr lang="en-US" sz="3200" dirty="0"/>
          </a:p>
        </p:txBody>
      </p:sp>
      <p:sp>
        <p:nvSpPr>
          <p:cNvPr id="4" name="Shape 1"/>
          <p:cNvSpPr/>
          <p:nvPr/>
        </p:nvSpPr>
        <p:spPr>
          <a:xfrm>
            <a:off x="571500" y="1510903"/>
            <a:ext cx="2143125" cy="1425178"/>
          </a:xfrm>
          <a:prstGeom prst="rect">
            <a:avLst/>
          </a:prstGeom>
          <a:solidFill>
            <a:srgbClr val="FFFFFF"/>
          </a:solidFill>
          <a:ln w="9144">
            <a:solidFill>
              <a:srgbClr val="333333"/>
            </a:solidFill>
            <a:prstDash val="solid"/>
          </a:ln>
        </p:spPr>
      </p:sp>
      <p:sp>
        <p:nvSpPr>
          <p:cNvPr id="5" name="Text 2"/>
          <p:cNvSpPr/>
          <p:nvPr/>
        </p:nvSpPr>
        <p:spPr>
          <a:xfrm>
            <a:off x="714375" y="1653778"/>
            <a:ext cx="690445" cy="156068"/>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0052CC"/>
                </a:solidFill>
              </a:rPr>
              <a:t>Perception</a:t>
            </a:r>
            <a:endParaRPr lang="en-US" sz="1200" dirty="0"/>
          </a:p>
        </p:txBody>
      </p:sp>
      <p:sp>
        <p:nvSpPr>
          <p:cNvPr id="6" name="Text 3"/>
          <p:cNvSpPr/>
          <p:nvPr/>
        </p:nvSpPr>
        <p:spPr>
          <a:xfrm>
            <a:off x="714375" y="1900238"/>
            <a:ext cx="1857375" cy="615553"/>
          </a:xfrm>
          <a:prstGeom prst="rect">
            <a:avLst/>
          </a:prstGeom>
          <a:noFill/>
          <a:ln/>
        </p:spPr>
        <p:txBody>
          <a:bodyPr wrap="square" lIns="0" tIns="0" rIns="0" bIns="0" rtlCol="0" anchor="t">
            <a:spAutoFit/>
          </a:bodyPr>
          <a:lstStyle/>
          <a:p>
            <a:pPr marL="0" indent="0" algn="l">
              <a:lnSpc>
                <a:spcPts val="1200"/>
              </a:lnSpc>
              <a:buNone/>
            </a:pPr>
            <a:r>
              <a:rPr lang="en-US" sz="1100" dirty="0">
                <a:solidFill>
                  <a:srgbClr val="333333"/>
                </a:solidFill>
              </a:rPr>
              <a:t>The entry point where agents ingest and interpret multi-modal data from user queries, APIs, and sensors.</a:t>
            </a:r>
            <a:endParaRPr lang="en-US" sz="1100" dirty="0"/>
          </a:p>
        </p:txBody>
      </p:sp>
      <p:sp>
        <p:nvSpPr>
          <p:cNvPr id="7" name="Shape 4"/>
          <p:cNvSpPr/>
          <p:nvPr/>
        </p:nvSpPr>
        <p:spPr>
          <a:xfrm>
            <a:off x="2928938" y="1510903"/>
            <a:ext cx="2143125" cy="1425178"/>
          </a:xfrm>
          <a:prstGeom prst="rect">
            <a:avLst/>
          </a:prstGeom>
          <a:solidFill>
            <a:srgbClr val="FFFFFF"/>
          </a:solidFill>
          <a:ln w="9144">
            <a:solidFill>
              <a:srgbClr val="333333"/>
            </a:solidFill>
            <a:prstDash val="solid"/>
          </a:ln>
        </p:spPr>
      </p:sp>
      <p:sp>
        <p:nvSpPr>
          <p:cNvPr id="8" name="Text 5"/>
          <p:cNvSpPr/>
          <p:nvPr/>
        </p:nvSpPr>
        <p:spPr>
          <a:xfrm>
            <a:off x="3071813" y="1653778"/>
            <a:ext cx="1126077" cy="156068"/>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0052CC"/>
                </a:solidFill>
              </a:rPr>
              <a:t>Brain (Reasoning)</a:t>
            </a:r>
            <a:endParaRPr lang="en-US" sz="1200" dirty="0"/>
          </a:p>
        </p:txBody>
      </p:sp>
      <p:sp>
        <p:nvSpPr>
          <p:cNvPr id="9" name="Text 6"/>
          <p:cNvSpPr/>
          <p:nvPr/>
        </p:nvSpPr>
        <p:spPr>
          <a:xfrm>
            <a:off x="3071813" y="1900238"/>
            <a:ext cx="1857375" cy="461665"/>
          </a:xfrm>
          <a:prstGeom prst="rect">
            <a:avLst/>
          </a:prstGeom>
          <a:noFill/>
          <a:ln/>
        </p:spPr>
        <p:txBody>
          <a:bodyPr wrap="square" lIns="0" tIns="0" rIns="0" bIns="0" rtlCol="0" anchor="t">
            <a:spAutoFit/>
          </a:bodyPr>
          <a:lstStyle/>
          <a:p>
            <a:pPr marL="0" indent="0" algn="l">
              <a:lnSpc>
                <a:spcPts val="1200"/>
              </a:lnSpc>
              <a:buNone/>
            </a:pPr>
            <a:r>
              <a:rPr lang="en-US" sz="1100" dirty="0">
                <a:solidFill>
                  <a:srgbClr val="333333"/>
                </a:solidFill>
              </a:rPr>
              <a:t>The central processing unit that evaluates information and makes decisions based on goals.</a:t>
            </a:r>
            <a:endParaRPr lang="en-US" sz="1100" dirty="0"/>
          </a:p>
        </p:txBody>
      </p:sp>
      <p:sp>
        <p:nvSpPr>
          <p:cNvPr id="10" name="Shape 7"/>
          <p:cNvSpPr/>
          <p:nvPr/>
        </p:nvSpPr>
        <p:spPr>
          <a:xfrm>
            <a:off x="571500" y="3143250"/>
            <a:ext cx="2143125" cy="1582341"/>
          </a:xfrm>
          <a:prstGeom prst="rect">
            <a:avLst/>
          </a:prstGeom>
          <a:solidFill>
            <a:srgbClr val="FFFFFF"/>
          </a:solidFill>
          <a:ln w="9144">
            <a:solidFill>
              <a:srgbClr val="333333"/>
            </a:solidFill>
            <a:prstDash val="solid"/>
          </a:ln>
        </p:spPr>
      </p:sp>
      <p:sp>
        <p:nvSpPr>
          <p:cNvPr id="11" name="Text 8"/>
          <p:cNvSpPr/>
          <p:nvPr/>
        </p:nvSpPr>
        <p:spPr>
          <a:xfrm>
            <a:off x="714375" y="3293269"/>
            <a:ext cx="557845" cy="156068"/>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0052CC"/>
                </a:solidFill>
              </a:rPr>
              <a:t>Planning</a:t>
            </a:r>
            <a:endParaRPr lang="en-US" sz="1200" dirty="0"/>
          </a:p>
        </p:txBody>
      </p:sp>
      <p:sp>
        <p:nvSpPr>
          <p:cNvPr id="12" name="Text 9"/>
          <p:cNvSpPr/>
          <p:nvPr/>
        </p:nvSpPr>
        <p:spPr>
          <a:xfrm>
            <a:off x="714375" y="3539728"/>
            <a:ext cx="1857375" cy="615553"/>
          </a:xfrm>
          <a:prstGeom prst="rect">
            <a:avLst/>
          </a:prstGeom>
          <a:noFill/>
          <a:ln/>
        </p:spPr>
        <p:txBody>
          <a:bodyPr wrap="square" lIns="0" tIns="0" rIns="0" bIns="0" rtlCol="0" anchor="t">
            <a:spAutoFit/>
          </a:bodyPr>
          <a:lstStyle/>
          <a:p>
            <a:pPr marL="0" indent="0" algn="l">
              <a:lnSpc>
                <a:spcPts val="1200"/>
              </a:lnSpc>
              <a:buNone/>
            </a:pPr>
            <a:r>
              <a:rPr lang="en-US" sz="1100" dirty="0">
                <a:solidFill>
                  <a:srgbClr val="333333"/>
                </a:solidFill>
              </a:rPr>
              <a:t>The ability to decompose complex objectives into a sequence of manageable sub-tasks and dependencies.</a:t>
            </a:r>
            <a:endParaRPr lang="en-US" sz="1100" dirty="0"/>
          </a:p>
        </p:txBody>
      </p:sp>
      <p:sp>
        <p:nvSpPr>
          <p:cNvPr id="13" name="Shape 10"/>
          <p:cNvSpPr/>
          <p:nvPr/>
        </p:nvSpPr>
        <p:spPr>
          <a:xfrm>
            <a:off x="2928938" y="3150394"/>
            <a:ext cx="2143125" cy="1575197"/>
          </a:xfrm>
          <a:prstGeom prst="rect">
            <a:avLst/>
          </a:prstGeom>
          <a:solidFill>
            <a:srgbClr val="FFFFFF"/>
          </a:solidFill>
          <a:ln w="9144">
            <a:solidFill>
              <a:srgbClr val="333333"/>
            </a:solidFill>
            <a:prstDash val="solid"/>
          </a:ln>
        </p:spPr>
      </p:sp>
      <p:sp>
        <p:nvSpPr>
          <p:cNvPr id="14" name="Text 11"/>
          <p:cNvSpPr/>
          <p:nvPr/>
        </p:nvSpPr>
        <p:spPr>
          <a:xfrm>
            <a:off x="3071813" y="3293269"/>
            <a:ext cx="415178" cy="156068"/>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0052CC"/>
                </a:solidFill>
              </a:rPr>
              <a:t>Action</a:t>
            </a:r>
            <a:endParaRPr lang="en-US" sz="1200" dirty="0"/>
          </a:p>
        </p:txBody>
      </p:sp>
      <p:sp>
        <p:nvSpPr>
          <p:cNvPr id="15" name="Text 12"/>
          <p:cNvSpPr/>
          <p:nvPr/>
        </p:nvSpPr>
        <p:spPr>
          <a:xfrm>
            <a:off x="3071813" y="3539728"/>
            <a:ext cx="1857375" cy="615553"/>
          </a:xfrm>
          <a:prstGeom prst="rect">
            <a:avLst/>
          </a:prstGeom>
          <a:noFill/>
          <a:ln/>
        </p:spPr>
        <p:txBody>
          <a:bodyPr wrap="square" lIns="0" tIns="0" rIns="0" bIns="0" rtlCol="0" anchor="t">
            <a:spAutoFit/>
          </a:bodyPr>
          <a:lstStyle/>
          <a:p>
            <a:pPr marL="0" indent="0" algn="l">
              <a:lnSpc>
                <a:spcPts val="1200"/>
              </a:lnSpc>
              <a:buNone/>
            </a:pPr>
            <a:r>
              <a:rPr lang="en-US" sz="1100" dirty="0">
                <a:solidFill>
                  <a:srgbClr val="333333"/>
                </a:solidFill>
              </a:rPr>
              <a:t>The execution layer where the agent interacts with the digital or physical world via tool calling and APIs.</a:t>
            </a:r>
            <a:endParaRPr lang="en-US" sz="1100" dirty="0"/>
          </a:p>
        </p:txBody>
      </p:sp>
      <p:pic>
        <p:nvPicPr>
          <p:cNvPr id="16" name="Image 1" descr="preencoded.png"/>
          <p:cNvPicPr>
            <a:picLocks noChangeAspect="1"/>
          </p:cNvPicPr>
          <p:nvPr/>
        </p:nvPicPr>
        <p:blipFill>
          <a:blip r:embed="rId4"/>
          <a:stretch>
            <a:fillRect/>
          </a:stretch>
        </p:blipFill>
        <p:spPr>
          <a:xfrm>
            <a:off x="5357813" y="1510903"/>
            <a:ext cx="3214688" cy="32146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00075"/>
            <a:ext cx="7858125" cy="588494"/>
          </a:xfrm>
          <a:prstGeom prst="rect">
            <a:avLst/>
          </a:prstGeom>
          <a:noFill/>
          <a:ln/>
        </p:spPr>
        <p:txBody>
          <a:bodyPr wrap="square" lIns="0" tIns="0" rIns="0" bIns="0" rtlCol="0" anchor="t">
            <a:spAutoFit/>
          </a:bodyPr>
          <a:lstStyle/>
          <a:p>
            <a:pPr marL="0" indent="0" algn="l">
              <a:lnSpc>
                <a:spcPts val="2200"/>
              </a:lnSpc>
              <a:buNone/>
            </a:pPr>
            <a:r>
              <a:rPr lang="en-US" sz="2800" b="1" kern="0" spc="-1" dirty="0">
                <a:solidFill>
                  <a:srgbClr val="1A1A1A"/>
                </a:solidFill>
              </a:rPr>
              <a:t>Persistent Memory Provides Contextual Continuity and Long-term Learning</a:t>
            </a:r>
            <a:endParaRPr lang="en-US" sz="2800" b="1" dirty="0"/>
          </a:p>
        </p:txBody>
      </p:sp>
      <p:sp>
        <p:nvSpPr>
          <p:cNvPr id="4" name="Text 1"/>
          <p:cNvSpPr/>
          <p:nvPr/>
        </p:nvSpPr>
        <p:spPr>
          <a:xfrm>
            <a:off x="571500" y="1582341"/>
            <a:ext cx="1286186" cy="179536"/>
          </a:xfrm>
          <a:prstGeom prst="rect">
            <a:avLst/>
          </a:prstGeom>
          <a:noFill/>
          <a:ln/>
        </p:spPr>
        <p:txBody>
          <a:bodyPr wrap="none" lIns="0" tIns="0" rIns="0" bIns="0" rtlCol="0" anchor="t">
            <a:spAutoFit/>
          </a:bodyPr>
          <a:lstStyle/>
          <a:p>
            <a:pPr marL="0" indent="0" algn="l">
              <a:lnSpc>
                <a:spcPts val="1400"/>
              </a:lnSpc>
              <a:buNone/>
            </a:pPr>
            <a:r>
              <a:rPr lang="en-US" sz="1200" b="1" kern="0" spc="1" dirty="0">
                <a:solidFill>
                  <a:srgbClr val="0052CC"/>
                </a:solidFill>
              </a:rPr>
              <a:t>Short-term Memory</a:t>
            </a:r>
            <a:endParaRPr lang="en-US" sz="1200" b="1" dirty="0"/>
          </a:p>
        </p:txBody>
      </p:sp>
      <p:sp>
        <p:nvSpPr>
          <p:cNvPr id="5" name="Text 2"/>
          <p:cNvSpPr/>
          <p:nvPr/>
        </p:nvSpPr>
        <p:spPr>
          <a:xfrm>
            <a:off x="571500" y="1848445"/>
            <a:ext cx="3643313" cy="530979"/>
          </a:xfrm>
          <a:prstGeom prst="rect">
            <a:avLst/>
          </a:prstGeom>
          <a:noFill/>
          <a:ln/>
        </p:spPr>
        <p:txBody>
          <a:bodyPr wrap="square" lIns="0" tIns="0" rIns="0" bIns="0" rtlCol="0" anchor="t">
            <a:spAutoFit/>
          </a:bodyPr>
          <a:lstStyle/>
          <a:p>
            <a:pPr marL="0" indent="0" algn="l">
              <a:lnSpc>
                <a:spcPts val="1400"/>
              </a:lnSpc>
              <a:buNone/>
            </a:pPr>
            <a:r>
              <a:rPr lang="en-US" sz="1100" b="1" dirty="0">
                <a:solidFill>
                  <a:srgbClr val="333333"/>
                </a:solidFill>
              </a:rPr>
              <a:t>Utilizes the model's context window to maintain session-based coherence and "in-context learning" for immediate tasks.</a:t>
            </a:r>
            <a:endParaRPr lang="en-US" sz="1100" b="1" dirty="0"/>
          </a:p>
        </p:txBody>
      </p:sp>
      <p:sp>
        <p:nvSpPr>
          <p:cNvPr id="6" name="Text 3"/>
          <p:cNvSpPr/>
          <p:nvPr/>
        </p:nvSpPr>
        <p:spPr>
          <a:xfrm>
            <a:off x="571500" y="2464203"/>
            <a:ext cx="1245982" cy="179536"/>
          </a:xfrm>
          <a:prstGeom prst="rect">
            <a:avLst/>
          </a:prstGeom>
          <a:noFill/>
          <a:ln/>
        </p:spPr>
        <p:txBody>
          <a:bodyPr wrap="none" lIns="0" tIns="0" rIns="0" bIns="0" rtlCol="0" anchor="t">
            <a:spAutoFit/>
          </a:bodyPr>
          <a:lstStyle/>
          <a:p>
            <a:pPr marL="0" indent="0" algn="l">
              <a:lnSpc>
                <a:spcPts val="1400"/>
              </a:lnSpc>
              <a:buNone/>
            </a:pPr>
            <a:r>
              <a:rPr lang="en-US" sz="1200" b="1" kern="0" spc="1" dirty="0">
                <a:solidFill>
                  <a:srgbClr val="0052CC"/>
                </a:solidFill>
              </a:rPr>
              <a:t>Long-term Memory</a:t>
            </a:r>
            <a:endParaRPr lang="en-US" sz="1200" b="1" dirty="0"/>
          </a:p>
        </p:txBody>
      </p:sp>
      <p:sp>
        <p:nvSpPr>
          <p:cNvPr id="7" name="Text 4"/>
          <p:cNvSpPr/>
          <p:nvPr/>
        </p:nvSpPr>
        <p:spPr>
          <a:xfrm>
            <a:off x="571500" y="2730308"/>
            <a:ext cx="3643313" cy="348044"/>
          </a:xfrm>
          <a:prstGeom prst="rect">
            <a:avLst/>
          </a:prstGeom>
          <a:noFill/>
          <a:ln/>
        </p:spPr>
        <p:txBody>
          <a:bodyPr wrap="square" lIns="0" tIns="0" rIns="0" bIns="0" rtlCol="0" anchor="t">
            <a:spAutoFit/>
          </a:bodyPr>
          <a:lstStyle/>
          <a:p>
            <a:pPr marL="0" indent="0" algn="l">
              <a:lnSpc>
                <a:spcPts val="1400"/>
              </a:lnSpc>
              <a:buNone/>
            </a:pPr>
            <a:r>
              <a:rPr lang="en-US" sz="1100" b="1" dirty="0">
                <a:solidFill>
                  <a:srgbClr val="333333"/>
                </a:solidFill>
              </a:rPr>
              <a:t>Leverages vector databases and external knowledge bases to store and retrieve historical data across multiple sessions.</a:t>
            </a:r>
            <a:endParaRPr lang="en-US" sz="1100" b="1" dirty="0"/>
          </a:p>
        </p:txBody>
      </p:sp>
      <p:sp>
        <p:nvSpPr>
          <p:cNvPr id="8" name="Text 5"/>
          <p:cNvSpPr/>
          <p:nvPr/>
        </p:nvSpPr>
        <p:spPr>
          <a:xfrm>
            <a:off x="571500" y="3346066"/>
            <a:ext cx="1434047" cy="179536"/>
          </a:xfrm>
          <a:prstGeom prst="rect">
            <a:avLst/>
          </a:prstGeom>
          <a:noFill/>
          <a:ln/>
        </p:spPr>
        <p:txBody>
          <a:bodyPr wrap="none" lIns="0" tIns="0" rIns="0" bIns="0" rtlCol="0" anchor="t">
            <a:spAutoFit/>
          </a:bodyPr>
          <a:lstStyle/>
          <a:p>
            <a:pPr marL="0" indent="0" algn="l">
              <a:lnSpc>
                <a:spcPts val="1400"/>
              </a:lnSpc>
              <a:buNone/>
            </a:pPr>
            <a:r>
              <a:rPr lang="en-US" sz="1200" b="1" kern="0" spc="1" dirty="0">
                <a:solidFill>
                  <a:srgbClr val="0052CC"/>
                </a:solidFill>
              </a:rPr>
              <a:t>Contextual Awareness</a:t>
            </a:r>
            <a:endParaRPr lang="en-US" sz="1200" b="1" dirty="0"/>
          </a:p>
        </p:txBody>
      </p:sp>
      <p:sp>
        <p:nvSpPr>
          <p:cNvPr id="9" name="Text 6"/>
          <p:cNvSpPr/>
          <p:nvPr/>
        </p:nvSpPr>
        <p:spPr>
          <a:xfrm>
            <a:off x="571500" y="3612170"/>
            <a:ext cx="3643313" cy="527580"/>
          </a:xfrm>
          <a:prstGeom prst="rect">
            <a:avLst/>
          </a:prstGeom>
          <a:noFill/>
          <a:ln/>
        </p:spPr>
        <p:txBody>
          <a:bodyPr wrap="square" lIns="0" tIns="0" rIns="0" bIns="0" rtlCol="0" anchor="t">
            <a:spAutoFit/>
          </a:bodyPr>
          <a:lstStyle/>
          <a:p>
            <a:pPr marL="0" indent="0" algn="l">
              <a:lnSpc>
                <a:spcPts val="1400"/>
              </a:lnSpc>
              <a:buNone/>
            </a:pPr>
            <a:r>
              <a:rPr lang="en-US" sz="1100" b="1" dirty="0">
                <a:solidFill>
                  <a:srgbClr val="333333"/>
                </a:solidFill>
              </a:rPr>
              <a:t>Memory allows agents to recall past user preferences, previous errors, and successful strategies, moving beyond stateless interactions.</a:t>
            </a:r>
            <a:endParaRPr lang="en-US" sz="1100" b="1" dirty="0"/>
          </a:p>
        </p:txBody>
      </p:sp>
      <p:pic>
        <p:nvPicPr>
          <p:cNvPr id="10" name="Image 1" descr="preencoded.png"/>
          <p:cNvPicPr>
            <a:picLocks noChangeAspect="1"/>
          </p:cNvPicPr>
          <p:nvPr/>
        </p:nvPicPr>
        <p:blipFill>
          <a:blip r:embed="rId4"/>
          <a:stretch>
            <a:fillRect/>
          </a:stretch>
        </p:blipFill>
        <p:spPr>
          <a:xfrm>
            <a:off x="4643438" y="1582341"/>
            <a:ext cx="3929063" cy="32146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68516"/>
          </a:xfrm>
          <a:prstGeom prst="rect">
            <a:avLst/>
          </a:prstGeom>
        </p:spPr>
      </p:pic>
      <p:sp>
        <p:nvSpPr>
          <p:cNvPr id="3" name="Text 0"/>
          <p:cNvSpPr/>
          <p:nvPr/>
        </p:nvSpPr>
        <p:spPr>
          <a:xfrm>
            <a:off x="571500" y="600075"/>
            <a:ext cx="7858125" cy="861774"/>
          </a:xfrm>
          <a:prstGeom prst="rect">
            <a:avLst/>
          </a:prstGeom>
          <a:noFill/>
          <a:ln/>
        </p:spPr>
        <p:txBody>
          <a:bodyPr wrap="square" lIns="0" tIns="0" rIns="0" bIns="0" rtlCol="0" anchor="t">
            <a:spAutoFit/>
          </a:bodyPr>
          <a:lstStyle/>
          <a:p>
            <a:pPr marL="0" indent="0" algn="ctr">
              <a:buNone/>
            </a:pPr>
            <a:r>
              <a:rPr lang="en-US" sz="2800" b="1" kern="0" spc="-1" dirty="0">
                <a:solidFill>
                  <a:srgbClr val="1A1A1A"/>
                </a:solidFill>
              </a:rPr>
              <a:t>ReAct Interleaves Reasoning and Action for Dynamic Problem Solving</a:t>
            </a:r>
            <a:endParaRPr lang="en-US" sz="2800" dirty="0"/>
          </a:p>
        </p:txBody>
      </p:sp>
      <p:sp>
        <p:nvSpPr>
          <p:cNvPr id="4" name="Text 1"/>
          <p:cNvSpPr/>
          <p:nvPr/>
        </p:nvSpPr>
        <p:spPr>
          <a:xfrm>
            <a:off x="571500" y="1632347"/>
            <a:ext cx="1562544" cy="162801"/>
          </a:xfrm>
          <a:prstGeom prst="rect">
            <a:avLst/>
          </a:prstGeom>
          <a:noFill/>
          <a:ln/>
        </p:spPr>
        <p:txBody>
          <a:bodyPr wrap="none" lIns="0" tIns="0" rIns="0" bIns="0" rtlCol="0" anchor="t">
            <a:spAutoFit/>
          </a:bodyPr>
          <a:lstStyle/>
          <a:p>
            <a:pPr marL="0" indent="0" algn="l">
              <a:lnSpc>
                <a:spcPts val="1200"/>
              </a:lnSpc>
              <a:buNone/>
            </a:pPr>
            <a:r>
              <a:rPr lang="en-US" sz="1400" b="1" dirty="0">
                <a:solidFill>
                  <a:srgbClr val="0052CC"/>
                </a:solidFill>
              </a:rPr>
              <a:t>The Core Mechanism</a:t>
            </a:r>
            <a:endParaRPr lang="en-US" sz="1400" dirty="0"/>
          </a:p>
        </p:txBody>
      </p:sp>
      <p:sp>
        <p:nvSpPr>
          <p:cNvPr id="5" name="Text 2"/>
          <p:cNvSpPr/>
          <p:nvPr/>
        </p:nvSpPr>
        <p:spPr>
          <a:xfrm>
            <a:off x="571500" y="1864519"/>
            <a:ext cx="4143375" cy="538609"/>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333333"/>
                </a:solidFill>
              </a:rPr>
              <a:t>The agent follows a "Think -&gt; Act -&gt; Observe" loop, generating explicit reasoning (Thought) before executing a tool call (Action) and receiving feedback (Observation).</a:t>
            </a:r>
            <a:endParaRPr lang="en-US" sz="1200" dirty="0"/>
          </a:p>
        </p:txBody>
      </p:sp>
      <p:sp>
        <p:nvSpPr>
          <p:cNvPr id="6" name="Text 3"/>
          <p:cNvSpPr/>
          <p:nvPr/>
        </p:nvSpPr>
        <p:spPr>
          <a:xfrm>
            <a:off x="571500" y="2700338"/>
            <a:ext cx="1407821" cy="162801"/>
          </a:xfrm>
          <a:prstGeom prst="rect">
            <a:avLst/>
          </a:prstGeom>
          <a:noFill/>
          <a:ln/>
        </p:spPr>
        <p:txBody>
          <a:bodyPr wrap="none" lIns="0" tIns="0" rIns="0" bIns="0" rtlCol="0" anchor="t">
            <a:spAutoFit/>
          </a:bodyPr>
          <a:lstStyle/>
          <a:p>
            <a:pPr marL="0" indent="0" algn="l">
              <a:lnSpc>
                <a:spcPts val="1200"/>
              </a:lnSpc>
              <a:buNone/>
            </a:pPr>
            <a:r>
              <a:rPr lang="en-US" sz="1400" b="1" dirty="0">
                <a:solidFill>
                  <a:srgbClr val="0052CC"/>
                </a:solidFill>
              </a:rPr>
              <a:t>Dynamic Flexibility</a:t>
            </a:r>
            <a:endParaRPr lang="en-US" sz="1400" dirty="0"/>
          </a:p>
        </p:txBody>
      </p:sp>
      <p:sp>
        <p:nvSpPr>
          <p:cNvPr id="7" name="Text 4"/>
          <p:cNvSpPr/>
          <p:nvPr/>
        </p:nvSpPr>
        <p:spPr>
          <a:xfrm>
            <a:off x="571500" y="2932509"/>
            <a:ext cx="4143375" cy="538609"/>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333333"/>
                </a:solidFill>
              </a:rPr>
              <a:t>Highly adaptive to real-time feedback; the agent can pivot its strategy or correct errors based on the immediate observation of a tool's output.</a:t>
            </a:r>
            <a:endParaRPr lang="en-US" sz="1200" dirty="0"/>
          </a:p>
        </p:txBody>
      </p:sp>
      <p:sp>
        <p:nvSpPr>
          <p:cNvPr id="8" name="Text 5"/>
          <p:cNvSpPr/>
          <p:nvPr/>
        </p:nvSpPr>
        <p:spPr>
          <a:xfrm>
            <a:off x="571500" y="3596878"/>
            <a:ext cx="1379480" cy="162801"/>
          </a:xfrm>
          <a:prstGeom prst="rect">
            <a:avLst/>
          </a:prstGeom>
          <a:noFill/>
          <a:ln/>
        </p:spPr>
        <p:txBody>
          <a:bodyPr wrap="none" lIns="0" tIns="0" rIns="0" bIns="0" rtlCol="0" anchor="t">
            <a:spAutoFit/>
          </a:bodyPr>
          <a:lstStyle/>
          <a:p>
            <a:pPr marL="0" indent="0" algn="l">
              <a:lnSpc>
                <a:spcPts val="1200"/>
              </a:lnSpc>
              <a:buNone/>
            </a:pPr>
            <a:r>
              <a:rPr lang="en-US" sz="1400" b="1" dirty="0">
                <a:solidFill>
                  <a:srgbClr val="0052CC"/>
                </a:solidFill>
              </a:rPr>
              <a:t>Optimal Use Cases</a:t>
            </a:r>
            <a:endParaRPr lang="en-US" sz="1400" dirty="0"/>
          </a:p>
        </p:txBody>
      </p:sp>
      <p:sp>
        <p:nvSpPr>
          <p:cNvPr id="9" name="Text 6"/>
          <p:cNvSpPr/>
          <p:nvPr/>
        </p:nvSpPr>
        <p:spPr>
          <a:xfrm>
            <a:off x="571500" y="3829050"/>
            <a:ext cx="4143375" cy="538609"/>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333333"/>
                </a:solidFill>
              </a:rPr>
              <a:t>Ideal for interactive tasks where the environment is unpredictable or requires step-by-step validation, such as complex research or troubleshooting.</a:t>
            </a:r>
            <a:endParaRPr lang="en-US" sz="1200" dirty="0"/>
          </a:p>
        </p:txBody>
      </p:sp>
      <p:sp>
        <p:nvSpPr>
          <p:cNvPr id="10" name="Text 7"/>
          <p:cNvSpPr/>
          <p:nvPr/>
        </p:nvSpPr>
        <p:spPr>
          <a:xfrm>
            <a:off x="571500" y="4493419"/>
            <a:ext cx="1673792" cy="162801"/>
          </a:xfrm>
          <a:prstGeom prst="rect">
            <a:avLst/>
          </a:prstGeom>
          <a:noFill/>
          <a:ln/>
        </p:spPr>
        <p:txBody>
          <a:bodyPr wrap="none" lIns="0" tIns="0" rIns="0" bIns="0" rtlCol="0" anchor="t">
            <a:spAutoFit/>
          </a:bodyPr>
          <a:lstStyle/>
          <a:p>
            <a:pPr marL="0" indent="0" algn="l">
              <a:lnSpc>
                <a:spcPts val="1200"/>
              </a:lnSpc>
              <a:buNone/>
            </a:pPr>
            <a:r>
              <a:rPr lang="en-US" sz="1400" b="1" dirty="0">
                <a:solidFill>
                  <a:srgbClr val="0052CC"/>
                </a:solidFill>
              </a:rPr>
              <a:t>Operational Trade-offs</a:t>
            </a:r>
            <a:endParaRPr lang="en-US" sz="1400" dirty="0"/>
          </a:p>
        </p:txBody>
      </p:sp>
      <p:sp>
        <p:nvSpPr>
          <p:cNvPr id="11" name="Text 8"/>
          <p:cNvSpPr/>
          <p:nvPr/>
        </p:nvSpPr>
        <p:spPr>
          <a:xfrm>
            <a:off x="571500" y="4725591"/>
            <a:ext cx="4143375" cy="538609"/>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333333"/>
                </a:solidFill>
              </a:rPr>
              <a:t>The sequential nature of the loops results in higher latency and increased token consumption compared to non-iterative approaches.</a:t>
            </a:r>
            <a:endParaRPr lang="en-US" sz="1200" dirty="0"/>
          </a:p>
        </p:txBody>
      </p:sp>
      <p:pic>
        <p:nvPicPr>
          <p:cNvPr id="12" name="Image 1" descr="preencoded.png"/>
          <p:cNvPicPr>
            <a:picLocks noChangeAspect="1"/>
          </p:cNvPicPr>
          <p:nvPr/>
        </p:nvPicPr>
        <p:blipFill>
          <a:blip r:embed="rId4"/>
          <a:stretch>
            <a:fillRect/>
          </a:stretch>
        </p:blipFill>
        <p:spPr>
          <a:xfrm>
            <a:off x="5143500" y="1510903"/>
            <a:ext cx="3429000" cy="3429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00075"/>
            <a:ext cx="8001000" cy="861774"/>
          </a:xfrm>
          <a:prstGeom prst="rect">
            <a:avLst/>
          </a:prstGeom>
          <a:noFill/>
          <a:ln/>
        </p:spPr>
        <p:txBody>
          <a:bodyPr wrap="square" lIns="0" tIns="0" rIns="0" bIns="0" rtlCol="0" anchor="t">
            <a:spAutoFit/>
          </a:bodyPr>
          <a:lstStyle/>
          <a:p>
            <a:pPr marL="0" indent="0" algn="ctr">
              <a:buNone/>
            </a:pPr>
            <a:r>
              <a:rPr lang="en-US" sz="2800" b="1" kern="0" spc="-1" dirty="0">
                <a:solidFill>
                  <a:srgbClr val="1A1A1A"/>
                </a:solidFill>
              </a:rPr>
              <a:t>ReWOO Optimizes Efficiency by Decoupling Reasoning from Observation</a:t>
            </a:r>
            <a:endParaRPr lang="en-US" sz="2800" dirty="0"/>
          </a:p>
        </p:txBody>
      </p:sp>
      <p:sp>
        <p:nvSpPr>
          <p:cNvPr id="4" name="Shape 1"/>
          <p:cNvSpPr/>
          <p:nvPr/>
        </p:nvSpPr>
        <p:spPr>
          <a:xfrm>
            <a:off x="571500" y="1434443"/>
            <a:ext cx="1309706" cy="192881"/>
          </a:xfrm>
          <a:prstGeom prst="rect">
            <a:avLst/>
          </a:prstGeom>
          <a:solidFill>
            <a:srgbClr val="0052CC"/>
          </a:solidFill>
          <a:ln/>
        </p:spPr>
      </p:sp>
      <p:sp>
        <p:nvSpPr>
          <p:cNvPr id="5" name="Text 2"/>
          <p:cNvSpPr/>
          <p:nvPr/>
        </p:nvSpPr>
        <p:spPr>
          <a:xfrm>
            <a:off x="571500" y="1434443"/>
            <a:ext cx="1309706" cy="307969"/>
          </a:xfrm>
          <a:prstGeom prst="rect">
            <a:avLst/>
          </a:prstGeom>
          <a:noFill/>
          <a:ln/>
        </p:spPr>
        <p:txBody>
          <a:bodyPr wrap="square" lIns="102108" tIns="34036" rIns="102108" bIns="34036" rtlCol="0" anchor="t">
            <a:spAutoFit/>
          </a:bodyPr>
          <a:lstStyle/>
          <a:p>
            <a:pPr marL="0" indent="0" algn="l">
              <a:lnSpc>
                <a:spcPts val="900"/>
              </a:lnSpc>
              <a:buNone/>
            </a:pPr>
            <a:r>
              <a:rPr lang="en-US" sz="1100" b="1" dirty="0">
                <a:solidFill>
                  <a:srgbClr val="FFFFFF"/>
                </a:solidFill>
              </a:rPr>
              <a:t>Efficiency Paradigm</a:t>
            </a:r>
            <a:endParaRPr lang="en-US" sz="1100" dirty="0"/>
          </a:p>
        </p:txBody>
      </p:sp>
      <p:sp>
        <p:nvSpPr>
          <p:cNvPr id="6" name="Text 3"/>
          <p:cNvSpPr/>
          <p:nvPr/>
        </p:nvSpPr>
        <p:spPr>
          <a:xfrm>
            <a:off x="571500" y="1734480"/>
            <a:ext cx="3643313" cy="500137"/>
          </a:xfrm>
          <a:prstGeom prst="rect">
            <a:avLst/>
          </a:prstGeom>
          <a:noFill/>
          <a:ln/>
        </p:spPr>
        <p:txBody>
          <a:bodyPr wrap="square" lIns="0" tIns="0" rIns="0" bIns="0" rtlCol="0" anchor="t">
            <a:spAutoFit/>
          </a:bodyPr>
          <a:lstStyle/>
          <a:p>
            <a:pPr marL="0" indent="0" algn="l">
              <a:lnSpc>
                <a:spcPts val="1300"/>
              </a:lnSpc>
              <a:buNone/>
            </a:pPr>
            <a:r>
              <a:rPr lang="en-US" sz="1100" b="1" dirty="0">
                <a:solidFill>
                  <a:srgbClr val="333333"/>
                </a:solidFill>
              </a:rPr>
              <a:t>The "Reasoning WithOut Observation" paradigm plans the entire execution blueprint upfront with placeholders for results, enabling parallel tool execution.</a:t>
            </a:r>
            <a:endParaRPr lang="en-US" sz="1100" dirty="0"/>
          </a:p>
        </p:txBody>
      </p:sp>
      <p:sp>
        <p:nvSpPr>
          <p:cNvPr id="7" name="Text 4"/>
          <p:cNvSpPr/>
          <p:nvPr/>
        </p:nvSpPr>
        <p:spPr>
          <a:xfrm>
            <a:off x="742950" y="2395277"/>
            <a:ext cx="493725" cy="156068"/>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A1A1A"/>
                </a:solidFill>
              </a:rPr>
              <a:t>Planner</a:t>
            </a:r>
            <a:endParaRPr lang="en-US" sz="1200" dirty="0"/>
          </a:p>
        </p:txBody>
      </p:sp>
      <p:sp>
        <p:nvSpPr>
          <p:cNvPr id="8" name="Text 5"/>
          <p:cNvSpPr/>
          <p:nvPr/>
        </p:nvSpPr>
        <p:spPr>
          <a:xfrm>
            <a:off x="742950" y="2613161"/>
            <a:ext cx="3471863" cy="333425"/>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333333"/>
                </a:solidFill>
              </a:rPr>
              <a:t>Generates a comprehensive blueprint of steps and tool calls without waiting for intermediate outputs.</a:t>
            </a:r>
            <a:endParaRPr lang="en-US" sz="1100" dirty="0"/>
          </a:p>
        </p:txBody>
      </p:sp>
      <p:sp>
        <p:nvSpPr>
          <p:cNvPr id="9" name="Text 6"/>
          <p:cNvSpPr/>
          <p:nvPr/>
        </p:nvSpPr>
        <p:spPr>
          <a:xfrm>
            <a:off x="742950" y="3141799"/>
            <a:ext cx="472245" cy="156068"/>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A1A1A"/>
                </a:solidFill>
              </a:rPr>
              <a:t>Worker</a:t>
            </a:r>
            <a:endParaRPr lang="en-US" sz="1200" dirty="0"/>
          </a:p>
        </p:txBody>
      </p:sp>
      <p:sp>
        <p:nvSpPr>
          <p:cNvPr id="10" name="Text 7"/>
          <p:cNvSpPr/>
          <p:nvPr/>
        </p:nvSpPr>
        <p:spPr>
          <a:xfrm>
            <a:off x="742950" y="3359683"/>
            <a:ext cx="3471863" cy="333425"/>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333333"/>
                </a:solidFill>
              </a:rPr>
              <a:t>Executes all planned tool calls in parallel, significantly reducing total system latency.</a:t>
            </a:r>
            <a:endParaRPr lang="en-US" sz="1100" dirty="0"/>
          </a:p>
        </p:txBody>
      </p:sp>
      <p:sp>
        <p:nvSpPr>
          <p:cNvPr id="11" name="Text 8"/>
          <p:cNvSpPr/>
          <p:nvPr/>
        </p:nvSpPr>
        <p:spPr>
          <a:xfrm>
            <a:off x="742950" y="3888321"/>
            <a:ext cx="396134" cy="156068"/>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A1A1A"/>
                </a:solidFill>
              </a:rPr>
              <a:t>Solver</a:t>
            </a:r>
            <a:endParaRPr lang="en-US" sz="1200" dirty="0"/>
          </a:p>
        </p:txBody>
      </p:sp>
      <p:sp>
        <p:nvSpPr>
          <p:cNvPr id="12" name="Text 9"/>
          <p:cNvSpPr/>
          <p:nvPr/>
        </p:nvSpPr>
        <p:spPr>
          <a:xfrm>
            <a:off x="742950" y="4106205"/>
            <a:ext cx="3471863" cy="333425"/>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333333"/>
                </a:solidFill>
              </a:rPr>
              <a:t>Synthesizes the final response by populating the initial plan with the collected tool results.</a:t>
            </a:r>
            <a:endParaRPr lang="en-US" sz="1100" dirty="0"/>
          </a:p>
        </p:txBody>
      </p:sp>
      <p:pic>
        <p:nvPicPr>
          <p:cNvPr id="13" name="Image 1" descr="preencoded.png"/>
          <p:cNvPicPr>
            <a:picLocks noChangeAspect="1"/>
          </p:cNvPicPr>
          <p:nvPr/>
        </p:nvPicPr>
        <p:blipFill>
          <a:blip r:embed="rId4"/>
          <a:stretch>
            <a:fillRect/>
          </a:stretch>
        </p:blipFill>
        <p:spPr>
          <a:xfrm>
            <a:off x="4643438" y="1434443"/>
            <a:ext cx="3929063" cy="2857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00075"/>
            <a:ext cx="8001000" cy="588494"/>
          </a:xfrm>
          <a:prstGeom prst="rect">
            <a:avLst/>
          </a:prstGeom>
          <a:noFill/>
          <a:ln/>
        </p:spPr>
        <p:txBody>
          <a:bodyPr wrap="square" lIns="0" tIns="0" rIns="0" bIns="0" rtlCol="0" anchor="t">
            <a:spAutoFit/>
          </a:bodyPr>
          <a:lstStyle/>
          <a:p>
            <a:pPr marL="0" indent="0" algn="l">
              <a:lnSpc>
                <a:spcPts val="2200"/>
              </a:lnSpc>
              <a:buNone/>
            </a:pPr>
            <a:r>
              <a:rPr lang="en-US" sz="2800" b="1" kern="0" spc="-1" dirty="0">
                <a:solidFill>
                  <a:srgbClr val="1A1A1A"/>
                </a:solidFill>
              </a:rPr>
              <a:t>Standardized Patterns Drive Reliability in Autonomous Workflows</a:t>
            </a:r>
            <a:endParaRPr lang="en-US" sz="2800" dirty="0"/>
          </a:p>
        </p:txBody>
      </p:sp>
      <p:sp>
        <p:nvSpPr>
          <p:cNvPr id="4" name="Text 1"/>
          <p:cNvSpPr/>
          <p:nvPr/>
        </p:nvSpPr>
        <p:spPr>
          <a:xfrm>
            <a:off x="571500" y="1632347"/>
            <a:ext cx="752642" cy="162801"/>
          </a:xfrm>
          <a:prstGeom prst="rect">
            <a:avLst/>
          </a:prstGeom>
          <a:noFill/>
          <a:ln/>
        </p:spPr>
        <p:txBody>
          <a:bodyPr wrap="none" lIns="0" tIns="0" rIns="0" bIns="0" rtlCol="0" anchor="t">
            <a:spAutoFit/>
          </a:bodyPr>
          <a:lstStyle/>
          <a:p>
            <a:pPr marL="0" indent="0" algn="l">
              <a:lnSpc>
                <a:spcPts val="1200"/>
              </a:lnSpc>
              <a:buNone/>
            </a:pPr>
            <a:r>
              <a:rPr lang="en-US" sz="1400" b="1" dirty="0">
                <a:solidFill>
                  <a:srgbClr val="0052CC"/>
                </a:solidFill>
              </a:rPr>
              <a:t>Reflection</a:t>
            </a:r>
            <a:endParaRPr lang="en-US" sz="1400" dirty="0"/>
          </a:p>
        </p:txBody>
      </p:sp>
      <p:sp>
        <p:nvSpPr>
          <p:cNvPr id="5" name="Text 2"/>
          <p:cNvSpPr/>
          <p:nvPr/>
        </p:nvSpPr>
        <p:spPr>
          <a:xfrm>
            <a:off x="571500" y="1864519"/>
            <a:ext cx="4000500" cy="307777"/>
          </a:xfrm>
          <a:prstGeom prst="rect">
            <a:avLst/>
          </a:prstGeom>
          <a:noFill/>
          <a:ln/>
        </p:spPr>
        <p:txBody>
          <a:bodyPr wrap="square" lIns="0" tIns="0" rIns="0" bIns="0" rtlCol="0" anchor="t">
            <a:spAutoFit/>
          </a:bodyPr>
          <a:lstStyle/>
          <a:p>
            <a:pPr marL="0" indent="0" algn="l">
              <a:lnSpc>
                <a:spcPts val="1200"/>
              </a:lnSpc>
              <a:buNone/>
            </a:pPr>
            <a:r>
              <a:rPr lang="en-US" sz="1200" dirty="0">
                <a:solidFill>
                  <a:srgbClr val="333333"/>
                </a:solidFill>
              </a:rPr>
              <a:t>A self-correction pattern where the agent critiques its own output and iterates to improve quality and accuracy.</a:t>
            </a:r>
            <a:endParaRPr lang="en-US" sz="1200" dirty="0"/>
          </a:p>
        </p:txBody>
      </p:sp>
      <p:sp>
        <p:nvSpPr>
          <p:cNvPr id="6" name="Text 3"/>
          <p:cNvSpPr/>
          <p:nvPr/>
        </p:nvSpPr>
        <p:spPr>
          <a:xfrm>
            <a:off x="571500" y="2457450"/>
            <a:ext cx="628890" cy="162801"/>
          </a:xfrm>
          <a:prstGeom prst="rect">
            <a:avLst/>
          </a:prstGeom>
          <a:noFill/>
          <a:ln/>
        </p:spPr>
        <p:txBody>
          <a:bodyPr wrap="none" lIns="0" tIns="0" rIns="0" bIns="0" rtlCol="0" anchor="t">
            <a:spAutoFit/>
          </a:bodyPr>
          <a:lstStyle/>
          <a:p>
            <a:pPr marL="0" indent="0" algn="l">
              <a:lnSpc>
                <a:spcPts val="1200"/>
              </a:lnSpc>
              <a:buNone/>
            </a:pPr>
            <a:r>
              <a:rPr lang="en-US" sz="1400" b="1" dirty="0">
                <a:solidFill>
                  <a:srgbClr val="0052CC"/>
                </a:solidFill>
              </a:rPr>
              <a:t>Tool Use</a:t>
            </a:r>
            <a:endParaRPr lang="en-US" sz="1400" dirty="0"/>
          </a:p>
        </p:txBody>
      </p:sp>
      <p:sp>
        <p:nvSpPr>
          <p:cNvPr id="7" name="Text 4"/>
          <p:cNvSpPr/>
          <p:nvPr/>
        </p:nvSpPr>
        <p:spPr>
          <a:xfrm>
            <a:off x="571500" y="2689622"/>
            <a:ext cx="4000500" cy="307777"/>
          </a:xfrm>
          <a:prstGeom prst="rect">
            <a:avLst/>
          </a:prstGeom>
          <a:noFill/>
          <a:ln/>
        </p:spPr>
        <p:txBody>
          <a:bodyPr wrap="square" lIns="0" tIns="0" rIns="0" bIns="0" rtlCol="0" anchor="t">
            <a:spAutoFit/>
          </a:bodyPr>
          <a:lstStyle/>
          <a:p>
            <a:pPr marL="0" indent="0" algn="l">
              <a:lnSpc>
                <a:spcPts val="1200"/>
              </a:lnSpc>
              <a:buNone/>
            </a:pPr>
            <a:r>
              <a:rPr lang="en-US" sz="1200" dirty="0">
                <a:solidFill>
                  <a:srgbClr val="333333"/>
                </a:solidFill>
              </a:rPr>
              <a:t>Equipping agents with specialized APIs (search, calculators, databases) to extend capabilities beyond native knowledge.</a:t>
            </a:r>
            <a:endParaRPr lang="en-US" sz="1200" dirty="0"/>
          </a:p>
        </p:txBody>
      </p:sp>
      <p:sp>
        <p:nvSpPr>
          <p:cNvPr id="8" name="Text 5"/>
          <p:cNvSpPr/>
          <p:nvPr/>
        </p:nvSpPr>
        <p:spPr>
          <a:xfrm>
            <a:off x="571500" y="3282553"/>
            <a:ext cx="65" cy="290529"/>
          </a:xfrm>
          <a:prstGeom prst="rect">
            <a:avLst/>
          </a:prstGeom>
          <a:noFill/>
          <a:ln/>
        </p:spPr>
        <p:txBody>
          <a:bodyPr wrap="none" lIns="0" tIns="136017" rIns="0" bIns="0" rtlCol="0" anchor="t">
            <a:spAutoFit/>
          </a:bodyPr>
          <a:lstStyle/>
          <a:p>
            <a:pPr marL="0" indent="0" algn="l">
              <a:lnSpc>
                <a:spcPts val="1100"/>
              </a:lnSpc>
              <a:buNone/>
            </a:pPr>
            <a:endParaRPr lang="en-US" sz="1400" dirty="0"/>
          </a:p>
        </p:txBody>
      </p:sp>
      <p:sp>
        <p:nvSpPr>
          <p:cNvPr id="9" name="Text 6"/>
          <p:cNvSpPr/>
          <p:nvPr/>
        </p:nvSpPr>
        <p:spPr>
          <a:xfrm>
            <a:off x="571500" y="3403997"/>
            <a:ext cx="647613" cy="162801"/>
          </a:xfrm>
          <a:prstGeom prst="rect">
            <a:avLst/>
          </a:prstGeom>
          <a:noFill/>
          <a:ln/>
        </p:spPr>
        <p:txBody>
          <a:bodyPr wrap="none" lIns="0" tIns="0" rIns="0" bIns="0" rtlCol="0" anchor="t">
            <a:spAutoFit/>
          </a:bodyPr>
          <a:lstStyle/>
          <a:p>
            <a:pPr marL="0" indent="0" algn="l">
              <a:lnSpc>
                <a:spcPts val="1200"/>
              </a:lnSpc>
              <a:buNone/>
            </a:pPr>
            <a:r>
              <a:rPr lang="en-US" sz="1400" b="1" dirty="0">
                <a:solidFill>
                  <a:srgbClr val="0052CC"/>
                </a:solidFill>
              </a:rPr>
              <a:t>Planning</a:t>
            </a:r>
            <a:endParaRPr lang="en-US" sz="1400" dirty="0"/>
          </a:p>
        </p:txBody>
      </p:sp>
      <p:sp>
        <p:nvSpPr>
          <p:cNvPr id="10" name="Text 7"/>
          <p:cNvSpPr/>
          <p:nvPr/>
        </p:nvSpPr>
        <p:spPr>
          <a:xfrm>
            <a:off x="571500" y="3636169"/>
            <a:ext cx="4000500" cy="307777"/>
          </a:xfrm>
          <a:prstGeom prst="rect">
            <a:avLst/>
          </a:prstGeom>
          <a:noFill/>
          <a:ln/>
        </p:spPr>
        <p:txBody>
          <a:bodyPr wrap="square" lIns="0" tIns="0" rIns="0" bIns="0" rtlCol="0" anchor="t">
            <a:spAutoFit/>
          </a:bodyPr>
          <a:lstStyle/>
          <a:p>
            <a:pPr marL="0" indent="0" algn="l">
              <a:lnSpc>
                <a:spcPts val="1200"/>
              </a:lnSpc>
              <a:buNone/>
            </a:pPr>
            <a:r>
              <a:rPr lang="en-US" sz="1200" dirty="0">
                <a:solidFill>
                  <a:srgbClr val="333333"/>
                </a:solidFill>
              </a:rPr>
              <a:t>Focuses on goal decomposition and dynamic re-planning when obstacles or new information are encountered.</a:t>
            </a:r>
            <a:endParaRPr lang="en-US" sz="1200" dirty="0"/>
          </a:p>
        </p:txBody>
      </p:sp>
      <p:sp>
        <p:nvSpPr>
          <p:cNvPr id="11" name="Text 8"/>
          <p:cNvSpPr/>
          <p:nvPr/>
        </p:nvSpPr>
        <p:spPr>
          <a:xfrm>
            <a:off x="571500" y="4229100"/>
            <a:ext cx="1946430" cy="162801"/>
          </a:xfrm>
          <a:prstGeom prst="rect">
            <a:avLst/>
          </a:prstGeom>
          <a:noFill/>
          <a:ln/>
        </p:spPr>
        <p:txBody>
          <a:bodyPr wrap="none" lIns="0" tIns="0" rIns="0" bIns="0" rtlCol="0" anchor="t">
            <a:spAutoFit/>
          </a:bodyPr>
          <a:lstStyle/>
          <a:p>
            <a:pPr marL="0" indent="0" algn="l">
              <a:lnSpc>
                <a:spcPts val="1200"/>
              </a:lnSpc>
              <a:buNone/>
            </a:pPr>
            <a:r>
              <a:rPr lang="en-US" sz="1400" b="1" dirty="0">
                <a:solidFill>
                  <a:srgbClr val="0052CC"/>
                </a:solidFill>
              </a:rPr>
              <a:t>Multi-Agent Collaboration</a:t>
            </a:r>
            <a:endParaRPr lang="en-US" sz="1400" dirty="0"/>
          </a:p>
        </p:txBody>
      </p:sp>
      <p:sp>
        <p:nvSpPr>
          <p:cNvPr id="12" name="Text 9"/>
          <p:cNvSpPr/>
          <p:nvPr/>
        </p:nvSpPr>
        <p:spPr>
          <a:xfrm>
            <a:off x="571500" y="4461272"/>
            <a:ext cx="4000500" cy="307777"/>
          </a:xfrm>
          <a:prstGeom prst="rect">
            <a:avLst/>
          </a:prstGeom>
          <a:noFill/>
          <a:ln/>
        </p:spPr>
        <p:txBody>
          <a:bodyPr wrap="square" lIns="0" tIns="0" rIns="0" bIns="0" rtlCol="0" anchor="t">
            <a:spAutoFit/>
          </a:bodyPr>
          <a:lstStyle/>
          <a:p>
            <a:pPr marL="0" indent="0" algn="l">
              <a:lnSpc>
                <a:spcPts val="1200"/>
              </a:lnSpc>
              <a:buNone/>
            </a:pPr>
            <a:r>
              <a:rPr lang="en-US" sz="1200" dirty="0">
                <a:solidFill>
                  <a:srgbClr val="333333"/>
                </a:solidFill>
              </a:rPr>
              <a:t>Distributing complex tasks across specialized agents (e.g., Researcher and Writer) to maximize performance.</a:t>
            </a:r>
            <a:endParaRPr lang="en-US" sz="1200" dirty="0"/>
          </a:p>
        </p:txBody>
      </p:sp>
      <p:pic>
        <p:nvPicPr>
          <p:cNvPr id="13" name="Image 1" descr="preencoded.png"/>
          <p:cNvPicPr>
            <a:picLocks noChangeAspect="1"/>
          </p:cNvPicPr>
          <p:nvPr/>
        </p:nvPicPr>
        <p:blipFill>
          <a:blip r:embed="rId4"/>
          <a:stretch>
            <a:fillRect/>
          </a:stretch>
        </p:blipFill>
        <p:spPr>
          <a:xfrm>
            <a:off x="5000625" y="1510903"/>
            <a:ext cx="3571875" cy="3429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00075"/>
            <a:ext cx="7858125" cy="588494"/>
          </a:xfrm>
          <a:prstGeom prst="rect">
            <a:avLst/>
          </a:prstGeom>
          <a:noFill/>
          <a:ln/>
        </p:spPr>
        <p:txBody>
          <a:bodyPr wrap="square" lIns="0" tIns="0" rIns="0" bIns="0" rtlCol="0" anchor="t">
            <a:spAutoFit/>
          </a:bodyPr>
          <a:lstStyle/>
          <a:p>
            <a:pPr marL="0" indent="0" algn="l">
              <a:lnSpc>
                <a:spcPts val="2200"/>
              </a:lnSpc>
              <a:buNone/>
            </a:pPr>
            <a:r>
              <a:rPr lang="en-US" sz="2800" b="1" kern="0" spc="-1" dirty="0">
                <a:solidFill>
                  <a:srgbClr val="1A1A1A"/>
                </a:solidFill>
              </a:rPr>
              <a:t>Specialized Agent Collectives Outperform Single Monolithic Models</a:t>
            </a:r>
            <a:endParaRPr lang="en-US" sz="2800" dirty="0"/>
          </a:p>
        </p:txBody>
      </p:sp>
      <p:sp>
        <p:nvSpPr>
          <p:cNvPr id="4" name="Text 1"/>
          <p:cNvSpPr/>
          <p:nvPr/>
        </p:nvSpPr>
        <p:spPr>
          <a:xfrm>
            <a:off x="571500" y="1696641"/>
            <a:ext cx="1204689" cy="156068"/>
          </a:xfrm>
          <a:prstGeom prst="rect">
            <a:avLst/>
          </a:prstGeom>
          <a:noFill/>
          <a:ln/>
        </p:spPr>
        <p:txBody>
          <a:bodyPr wrap="none" lIns="0" tIns="0" rIns="0" bIns="0" rtlCol="0" anchor="t">
            <a:spAutoFit/>
          </a:bodyPr>
          <a:lstStyle/>
          <a:p>
            <a:pPr marL="0" indent="0" algn="l">
              <a:lnSpc>
                <a:spcPts val="1200"/>
              </a:lnSpc>
              <a:buNone/>
            </a:pPr>
            <a:r>
              <a:rPr lang="en-US" sz="1200" b="1" kern="0" spc="1" dirty="0">
                <a:solidFill>
                  <a:srgbClr val="0052CC"/>
                </a:solidFill>
              </a:rPr>
              <a:t>Role Specialization</a:t>
            </a:r>
            <a:endParaRPr lang="en-US" sz="1200" dirty="0"/>
          </a:p>
        </p:txBody>
      </p:sp>
      <p:sp>
        <p:nvSpPr>
          <p:cNvPr id="5" name="Text 2"/>
          <p:cNvSpPr/>
          <p:nvPr/>
        </p:nvSpPr>
        <p:spPr>
          <a:xfrm>
            <a:off x="571500" y="1943100"/>
            <a:ext cx="3643313" cy="529247"/>
          </a:xfrm>
          <a:prstGeom prst="rect">
            <a:avLst/>
          </a:prstGeom>
          <a:noFill/>
          <a:ln/>
        </p:spPr>
        <p:txBody>
          <a:bodyPr wrap="square" lIns="0" tIns="0" rIns="0" bIns="0" rtlCol="0" anchor="t">
            <a:spAutoFit/>
          </a:bodyPr>
          <a:lstStyle/>
          <a:p>
            <a:pPr marL="0" indent="0" algn="l">
              <a:lnSpc>
                <a:spcPts val="1400"/>
              </a:lnSpc>
              <a:buNone/>
            </a:pPr>
            <a:r>
              <a:rPr lang="en-US" sz="1100" dirty="0">
                <a:solidFill>
                  <a:srgbClr val="333333"/>
                </a:solidFill>
              </a:rPr>
              <a:t>Assigning specific personas and tools to different agents minimizes "distraction" and maximizes accuracy for complex, multi-domain tasks.</a:t>
            </a:r>
            <a:endParaRPr lang="en-US" sz="1100" dirty="0"/>
          </a:p>
        </p:txBody>
      </p:sp>
      <p:sp>
        <p:nvSpPr>
          <p:cNvPr id="6" name="Text 3"/>
          <p:cNvSpPr/>
          <p:nvPr/>
        </p:nvSpPr>
        <p:spPr>
          <a:xfrm>
            <a:off x="571500" y="2650331"/>
            <a:ext cx="1909562" cy="156068"/>
          </a:xfrm>
          <a:prstGeom prst="rect">
            <a:avLst/>
          </a:prstGeom>
          <a:noFill/>
          <a:ln/>
        </p:spPr>
        <p:txBody>
          <a:bodyPr wrap="none" lIns="0" tIns="0" rIns="0" bIns="0" rtlCol="0" anchor="t">
            <a:spAutoFit/>
          </a:bodyPr>
          <a:lstStyle/>
          <a:p>
            <a:pPr marL="0" indent="0" algn="l">
              <a:lnSpc>
                <a:spcPts val="1200"/>
              </a:lnSpc>
              <a:buNone/>
            </a:pPr>
            <a:r>
              <a:rPr lang="en-US" sz="1200" b="1" kern="0" spc="1" dirty="0">
                <a:solidFill>
                  <a:srgbClr val="0052CC"/>
                </a:solidFill>
              </a:rPr>
              <a:t>Orchestration &amp; Coordination</a:t>
            </a:r>
            <a:endParaRPr lang="en-US" sz="1200" dirty="0"/>
          </a:p>
        </p:txBody>
      </p:sp>
      <p:sp>
        <p:nvSpPr>
          <p:cNvPr id="7" name="Text 4"/>
          <p:cNvSpPr/>
          <p:nvPr/>
        </p:nvSpPr>
        <p:spPr>
          <a:xfrm>
            <a:off x="571500" y="2896791"/>
            <a:ext cx="3643313" cy="527580"/>
          </a:xfrm>
          <a:prstGeom prst="rect">
            <a:avLst/>
          </a:prstGeom>
          <a:noFill/>
          <a:ln/>
        </p:spPr>
        <p:txBody>
          <a:bodyPr wrap="square" lIns="0" tIns="0" rIns="0" bIns="0" rtlCol="0" anchor="t">
            <a:spAutoFit/>
          </a:bodyPr>
          <a:lstStyle/>
          <a:p>
            <a:pPr marL="0" indent="0" algn="l">
              <a:lnSpc>
                <a:spcPts val="1400"/>
              </a:lnSpc>
              <a:buNone/>
            </a:pPr>
            <a:r>
              <a:rPr lang="en-US" sz="1100" dirty="0">
                <a:solidFill>
                  <a:srgbClr val="333333"/>
                </a:solidFill>
              </a:rPr>
              <a:t>A lead agent or manager coordinates the workflow, delegating tasks to specialized sub-agents and synthesizing their outputs into a cohesive result.</a:t>
            </a:r>
            <a:endParaRPr lang="en-US" sz="1100" dirty="0"/>
          </a:p>
        </p:txBody>
      </p:sp>
      <p:sp>
        <p:nvSpPr>
          <p:cNvPr id="8" name="Text 5"/>
          <p:cNvSpPr/>
          <p:nvPr/>
        </p:nvSpPr>
        <p:spPr>
          <a:xfrm>
            <a:off x="571500" y="3775472"/>
            <a:ext cx="1638397" cy="156068"/>
          </a:xfrm>
          <a:prstGeom prst="rect">
            <a:avLst/>
          </a:prstGeom>
          <a:noFill/>
          <a:ln/>
        </p:spPr>
        <p:txBody>
          <a:bodyPr wrap="none" lIns="0" tIns="0" rIns="0" bIns="0" rtlCol="0" anchor="t">
            <a:spAutoFit/>
          </a:bodyPr>
          <a:lstStyle/>
          <a:p>
            <a:pPr marL="0" indent="0" algn="l">
              <a:lnSpc>
                <a:spcPts val="1200"/>
              </a:lnSpc>
              <a:buNone/>
            </a:pPr>
            <a:r>
              <a:rPr lang="en-US" sz="1200" b="1" kern="0" spc="1" dirty="0">
                <a:solidFill>
                  <a:srgbClr val="0052CC"/>
                </a:solidFill>
              </a:rPr>
              <a:t>Collaborative Intelligence</a:t>
            </a:r>
            <a:endParaRPr lang="en-US" sz="1200" dirty="0"/>
          </a:p>
        </p:txBody>
      </p:sp>
      <p:sp>
        <p:nvSpPr>
          <p:cNvPr id="9" name="Text 6"/>
          <p:cNvSpPr/>
          <p:nvPr/>
        </p:nvSpPr>
        <p:spPr>
          <a:xfrm>
            <a:off x="571500" y="4021931"/>
            <a:ext cx="3643313" cy="527580"/>
          </a:xfrm>
          <a:prstGeom prst="rect">
            <a:avLst/>
          </a:prstGeom>
          <a:noFill/>
          <a:ln/>
        </p:spPr>
        <p:txBody>
          <a:bodyPr wrap="square" lIns="0" tIns="0" rIns="0" bIns="0" rtlCol="0" anchor="t">
            <a:spAutoFit/>
          </a:bodyPr>
          <a:lstStyle/>
          <a:p>
            <a:pPr marL="0" indent="0" algn="l">
              <a:lnSpc>
                <a:spcPts val="1400"/>
              </a:lnSpc>
              <a:buNone/>
            </a:pPr>
            <a:r>
              <a:rPr lang="en-US" sz="1100" dirty="0">
                <a:solidFill>
                  <a:srgbClr val="333333"/>
                </a:solidFill>
              </a:rPr>
              <a:t>Agents can peer-review each other's work, leading to higher quality, reduced hallucination rates, and more robust problem-solving capabilities.</a:t>
            </a:r>
            <a:endParaRPr lang="en-US" sz="1100" dirty="0"/>
          </a:p>
        </p:txBody>
      </p:sp>
      <p:pic>
        <p:nvPicPr>
          <p:cNvPr id="10" name="Image 1" descr="preencoded.png"/>
          <p:cNvPicPr>
            <a:picLocks noChangeAspect="1"/>
          </p:cNvPicPr>
          <p:nvPr/>
        </p:nvPicPr>
        <p:blipFill>
          <a:blip r:embed="rId4"/>
          <a:stretch>
            <a:fillRect/>
          </a:stretch>
        </p:blipFill>
        <p:spPr>
          <a:xfrm>
            <a:off x="4643438" y="1582341"/>
            <a:ext cx="3929063" cy="2714625"/>
          </a:xfrm>
          <a:prstGeom prst="rect">
            <a:avLst/>
          </a:prstGeom>
        </p:spPr>
      </p:pic>
      <p:sp>
        <p:nvSpPr>
          <p:cNvPr id="11" name="Text 7"/>
          <p:cNvSpPr/>
          <p:nvPr/>
        </p:nvSpPr>
        <p:spPr>
          <a:xfrm>
            <a:off x="5275380" y="4296966"/>
            <a:ext cx="2665177" cy="239553"/>
          </a:xfrm>
          <a:prstGeom prst="rect">
            <a:avLst/>
          </a:prstGeom>
          <a:noFill/>
          <a:ln/>
        </p:spPr>
        <p:txBody>
          <a:bodyPr wrap="square" lIns="0" tIns="127508" rIns="0" bIns="0" rtlCol="0" anchor="t">
            <a:spAutoFit/>
          </a:bodyPr>
          <a:lstStyle/>
          <a:p>
            <a:pPr marL="0" indent="0" algn="l">
              <a:lnSpc>
                <a:spcPts val="800"/>
              </a:lnSpc>
              <a:buNone/>
            </a:pPr>
            <a:r>
              <a:rPr lang="en-US" sz="1050" b="1" kern="0" spc="1" dirty="0">
                <a:solidFill>
                  <a:srgbClr val="333333"/>
                </a:solidFill>
              </a:rPr>
              <a:t>Fig 1.0: Multi-Agent Orchestration Architecture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00075"/>
            <a:ext cx="8001000" cy="588494"/>
          </a:xfrm>
          <a:prstGeom prst="rect">
            <a:avLst/>
          </a:prstGeom>
          <a:noFill/>
          <a:ln/>
        </p:spPr>
        <p:txBody>
          <a:bodyPr wrap="square" lIns="0" tIns="0" rIns="0" bIns="0" rtlCol="0" anchor="t">
            <a:spAutoFit/>
          </a:bodyPr>
          <a:lstStyle/>
          <a:p>
            <a:pPr marL="0" indent="0" algn="l">
              <a:lnSpc>
                <a:spcPts val="2200"/>
              </a:lnSpc>
              <a:buNone/>
            </a:pPr>
            <a:r>
              <a:rPr lang="en-US" sz="2800" b="1" kern="0" spc="-1" dirty="0">
                <a:solidFill>
                  <a:srgbClr val="1A1A1A"/>
                </a:solidFill>
              </a:rPr>
              <a:t>Agentic RAG Dynamically Navigates Knowledge for Precision Answers</a:t>
            </a:r>
            <a:endParaRPr lang="en-US" sz="2800" dirty="0"/>
          </a:p>
        </p:txBody>
      </p:sp>
      <p:sp>
        <p:nvSpPr>
          <p:cNvPr id="4" name="Shape 1"/>
          <p:cNvSpPr/>
          <p:nvPr/>
        </p:nvSpPr>
        <p:spPr>
          <a:xfrm>
            <a:off x="571499" y="1434443"/>
            <a:ext cx="2509325" cy="192881"/>
          </a:xfrm>
          <a:prstGeom prst="rect">
            <a:avLst/>
          </a:prstGeom>
          <a:solidFill>
            <a:srgbClr val="0052CC"/>
          </a:solidFill>
          <a:ln/>
        </p:spPr>
      </p:sp>
      <p:sp>
        <p:nvSpPr>
          <p:cNvPr id="5" name="Text 2"/>
          <p:cNvSpPr/>
          <p:nvPr/>
        </p:nvSpPr>
        <p:spPr>
          <a:xfrm>
            <a:off x="571499" y="1434443"/>
            <a:ext cx="2396783" cy="190821"/>
          </a:xfrm>
          <a:prstGeom prst="rect">
            <a:avLst/>
          </a:prstGeom>
          <a:noFill/>
          <a:ln/>
        </p:spPr>
        <p:txBody>
          <a:bodyPr wrap="square" lIns="102108" tIns="34036" rIns="102108" bIns="34036" rtlCol="0" anchor="t">
            <a:spAutoFit/>
          </a:bodyPr>
          <a:lstStyle/>
          <a:p>
            <a:pPr marL="0" indent="0" algn="l">
              <a:lnSpc>
                <a:spcPts val="900"/>
              </a:lnSpc>
              <a:buNone/>
            </a:pPr>
            <a:r>
              <a:rPr lang="en-US" sz="1050" b="1" dirty="0">
                <a:solidFill>
                  <a:srgbClr val="FFFFFF"/>
                </a:solidFill>
              </a:rPr>
              <a:t>Beyond Simple Retrieval</a:t>
            </a:r>
            <a:endParaRPr lang="en-US" sz="1050" dirty="0"/>
          </a:p>
        </p:txBody>
      </p:sp>
      <p:sp>
        <p:nvSpPr>
          <p:cNvPr id="6" name="Text 3"/>
          <p:cNvSpPr/>
          <p:nvPr/>
        </p:nvSpPr>
        <p:spPr>
          <a:xfrm>
            <a:off x="571500" y="1734480"/>
            <a:ext cx="3643313" cy="492314"/>
          </a:xfrm>
          <a:prstGeom prst="rect">
            <a:avLst/>
          </a:prstGeom>
          <a:noFill/>
          <a:ln/>
        </p:spPr>
        <p:txBody>
          <a:bodyPr wrap="square" lIns="0" tIns="0" rIns="0" bIns="0" rtlCol="0" anchor="t">
            <a:spAutoFit/>
          </a:bodyPr>
          <a:lstStyle/>
          <a:p>
            <a:pPr marL="0" indent="0" algn="l">
              <a:lnSpc>
                <a:spcPts val="1300"/>
              </a:lnSpc>
              <a:buNone/>
            </a:pPr>
            <a:r>
              <a:rPr lang="en-US" sz="1050" b="1" dirty="0">
                <a:solidFill>
                  <a:srgbClr val="333333"/>
                </a:solidFill>
              </a:rPr>
              <a:t>Traditional RAG is a linear process that often fails on complex queries. Agentic RAG introduces dynamic decision-making into the retrieval loop.</a:t>
            </a:r>
            <a:endParaRPr lang="en-US" sz="1050" dirty="0"/>
          </a:p>
        </p:txBody>
      </p:sp>
      <p:sp>
        <p:nvSpPr>
          <p:cNvPr id="7" name="Text 4"/>
          <p:cNvSpPr/>
          <p:nvPr/>
        </p:nvSpPr>
        <p:spPr>
          <a:xfrm>
            <a:off x="742950" y="2395277"/>
            <a:ext cx="1455527"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1A1A1A"/>
                </a:solidFill>
              </a:rPr>
              <a:t>Dynamic Search Strategy</a:t>
            </a:r>
            <a:endParaRPr lang="en-US" sz="1100" dirty="0"/>
          </a:p>
        </p:txBody>
      </p:sp>
      <p:sp>
        <p:nvSpPr>
          <p:cNvPr id="8" name="Text 5"/>
          <p:cNvSpPr/>
          <p:nvPr/>
        </p:nvSpPr>
        <p:spPr>
          <a:xfrm>
            <a:off x="742950" y="2613161"/>
            <a:ext cx="3471863" cy="492314"/>
          </a:xfrm>
          <a:prstGeom prst="rect">
            <a:avLst/>
          </a:prstGeom>
          <a:noFill/>
          <a:ln/>
        </p:spPr>
        <p:txBody>
          <a:bodyPr wrap="square" lIns="0" tIns="0" rIns="0" bIns="0" rtlCol="0" anchor="t">
            <a:spAutoFit/>
          </a:bodyPr>
          <a:lstStyle/>
          <a:p>
            <a:pPr marL="0" indent="0" algn="l">
              <a:lnSpc>
                <a:spcPts val="1300"/>
              </a:lnSpc>
              <a:buNone/>
            </a:pPr>
            <a:r>
              <a:rPr lang="en-US" sz="1050" dirty="0">
                <a:solidFill>
                  <a:srgbClr val="333333"/>
                </a:solidFill>
              </a:rPr>
              <a:t>The agent decides what to search for, where to search, and whether the retrieved information is sufficient to answer the query.</a:t>
            </a:r>
            <a:endParaRPr lang="en-US" sz="1050" dirty="0"/>
          </a:p>
        </p:txBody>
      </p:sp>
      <p:sp>
        <p:nvSpPr>
          <p:cNvPr id="9" name="Text 6"/>
          <p:cNvSpPr/>
          <p:nvPr/>
        </p:nvSpPr>
        <p:spPr>
          <a:xfrm>
            <a:off x="742950" y="3141799"/>
            <a:ext cx="1239122"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1A1A1A"/>
                </a:solidFill>
              </a:rPr>
              <a:t>Multi-Hop Reasoning</a:t>
            </a:r>
            <a:endParaRPr lang="en-US" sz="1100" dirty="0"/>
          </a:p>
        </p:txBody>
      </p:sp>
      <p:sp>
        <p:nvSpPr>
          <p:cNvPr id="10" name="Text 7"/>
          <p:cNvSpPr/>
          <p:nvPr/>
        </p:nvSpPr>
        <p:spPr>
          <a:xfrm>
            <a:off x="742950" y="3359683"/>
            <a:ext cx="3471863" cy="492314"/>
          </a:xfrm>
          <a:prstGeom prst="rect">
            <a:avLst/>
          </a:prstGeom>
          <a:noFill/>
          <a:ln/>
        </p:spPr>
        <p:txBody>
          <a:bodyPr wrap="square" lIns="0" tIns="0" rIns="0" bIns="0" rtlCol="0" anchor="t">
            <a:spAutoFit/>
          </a:bodyPr>
          <a:lstStyle/>
          <a:p>
            <a:pPr marL="0" indent="0" algn="l">
              <a:lnSpc>
                <a:spcPts val="1300"/>
              </a:lnSpc>
              <a:buNone/>
            </a:pPr>
            <a:r>
              <a:rPr lang="en-US" sz="1050" dirty="0">
                <a:solidFill>
                  <a:srgbClr val="333333"/>
                </a:solidFill>
              </a:rPr>
              <a:t>The agent can perform iterative searches, using findings from one step to inform the next, effectively connecting disparate pieces of information.</a:t>
            </a:r>
            <a:endParaRPr lang="en-US" sz="1050" dirty="0"/>
          </a:p>
        </p:txBody>
      </p:sp>
      <p:sp>
        <p:nvSpPr>
          <p:cNvPr id="11" name="Text 8"/>
          <p:cNvSpPr/>
          <p:nvPr/>
        </p:nvSpPr>
        <p:spPr>
          <a:xfrm>
            <a:off x="742950" y="4049055"/>
            <a:ext cx="1115690" cy="153888"/>
          </a:xfrm>
          <a:prstGeom prst="rect">
            <a:avLst/>
          </a:prstGeom>
          <a:noFill/>
          <a:ln/>
        </p:spPr>
        <p:txBody>
          <a:bodyPr wrap="none" lIns="0" tIns="0" rIns="0" bIns="0" rtlCol="0" anchor="t">
            <a:spAutoFit/>
          </a:bodyPr>
          <a:lstStyle/>
          <a:p>
            <a:pPr marL="0" indent="0" algn="l">
              <a:lnSpc>
                <a:spcPts val="1200"/>
              </a:lnSpc>
              <a:buNone/>
            </a:pPr>
            <a:r>
              <a:rPr lang="en-US" sz="1100" b="1" dirty="0">
                <a:solidFill>
                  <a:srgbClr val="1A1A1A"/>
                </a:solidFill>
              </a:rPr>
              <a:t>Verified Grounding</a:t>
            </a:r>
            <a:endParaRPr lang="en-US" sz="1100" dirty="0"/>
          </a:p>
        </p:txBody>
      </p:sp>
      <p:sp>
        <p:nvSpPr>
          <p:cNvPr id="12" name="Text 9"/>
          <p:cNvSpPr/>
          <p:nvPr/>
        </p:nvSpPr>
        <p:spPr>
          <a:xfrm>
            <a:off x="742950" y="4266940"/>
            <a:ext cx="3471863" cy="493981"/>
          </a:xfrm>
          <a:prstGeom prst="rect">
            <a:avLst/>
          </a:prstGeom>
          <a:noFill/>
          <a:ln/>
        </p:spPr>
        <p:txBody>
          <a:bodyPr wrap="square" lIns="0" tIns="0" rIns="0" bIns="0" rtlCol="0" anchor="t">
            <a:spAutoFit/>
          </a:bodyPr>
          <a:lstStyle/>
          <a:p>
            <a:pPr marL="0" indent="0" algn="l">
              <a:lnSpc>
                <a:spcPts val="1300"/>
              </a:lnSpc>
              <a:buNone/>
            </a:pPr>
            <a:r>
              <a:rPr lang="en-US" sz="1050" dirty="0">
                <a:solidFill>
                  <a:srgbClr val="333333"/>
                </a:solidFill>
              </a:rPr>
              <a:t>Ensures the final generation is grounded in the most relevant and verified data available, significantly reducing hallucination rates.</a:t>
            </a:r>
            <a:endParaRPr lang="en-US" sz="1050" dirty="0"/>
          </a:p>
        </p:txBody>
      </p:sp>
      <p:pic>
        <p:nvPicPr>
          <p:cNvPr id="13" name="Image 1" descr="preencoded.png"/>
          <p:cNvPicPr>
            <a:picLocks noChangeAspect="1"/>
          </p:cNvPicPr>
          <p:nvPr/>
        </p:nvPicPr>
        <p:blipFill>
          <a:blip r:embed="rId4"/>
          <a:stretch>
            <a:fillRect/>
          </a:stretch>
        </p:blipFill>
        <p:spPr>
          <a:xfrm>
            <a:off x="4643438" y="1434443"/>
            <a:ext cx="3929063" cy="32146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1357313" y="1200150"/>
            <a:ext cx="6429375" cy="808683"/>
          </a:xfrm>
          <a:prstGeom prst="rect">
            <a:avLst/>
          </a:prstGeom>
          <a:noFill/>
          <a:ln/>
        </p:spPr>
        <p:txBody>
          <a:bodyPr wrap="square" lIns="0" tIns="0" rIns="0" bIns="0" rtlCol="0" anchor="t">
            <a:spAutoFit/>
          </a:bodyPr>
          <a:lstStyle/>
          <a:p>
            <a:pPr marL="0" indent="0" algn="ctr">
              <a:lnSpc>
                <a:spcPts val="3000"/>
              </a:lnSpc>
              <a:buNone/>
            </a:pPr>
            <a:r>
              <a:rPr lang="en-US" sz="4000" b="1" kern="0" spc="-2" dirty="0">
                <a:solidFill>
                  <a:srgbClr val="1A1A1A"/>
                </a:solidFill>
              </a:rPr>
              <a:t>The Future of AI is Agentic, Autonomous, and Integrated</a:t>
            </a:r>
            <a:endParaRPr lang="en-US" sz="4000" dirty="0"/>
          </a:p>
        </p:txBody>
      </p:sp>
      <p:sp>
        <p:nvSpPr>
          <p:cNvPr id="4" name="Text 1"/>
          <p:cNvSpPr/>
          <p:nvPr/>
        </p:nvSpPr>
        <p:spPr>
          <a:xfrm>
            <a:off x="1000125" y="2711723"/>
            <a:ext cx="1048942" cy="153888"/>
          </a:xfrm>
          <a:prstGeom prst="rect">
            <a:avLst/>
          </a:prstGeom>
          <a:noFill/>
          <a:ln/>
        </p:spPr>
        <p:txBody>
          <a:bodyPr wrap="none" lIns="0" tIns="0" rIns="0" bIns="0" rtlCol="0" anchor="t">
            <a:spAutoFit/>
          </a:bodyPr>
          <a:lstStyle/>
          <a:p>
            <a:pPr marL="0" indent="0" algn="l">
              <a:lnSpc>
                <a:spcPts val="1200"/>
              </a:lnSpc>
              <a:buNone/>
            </a:pPr>
            <a:r>
              <a:rPr lang="en-US" sz="1100" b="1" kern="0" spc="1" dirty="0">
                <a:solidFill>
                  <a:srgbClr val="0052CC"/>
                </a:solidFill>
              </a:rPr>
              <a:t>Digital Employees</a:t>
            </a:r>
            <a:endParaRPr lang="en-US" sz="1100" dirty="0"/>
          </a:p>
        </p:txBody>
      </p:sp>
      <p:sp>
        <p:nvSpPr>
          <p:cNvPr id="5" name="Text 2"/>
          <p:cNvSpPr/>
          <p:nvPr/>
        </p:nvSpPr>
        <p:spPr>
          <a:xfrm>
            <a:off x="1000125" y="2972470"/>
            <a:ext cx="2095491" cy="731453"/>
          </a:xfrm>
          <a:prstGeom prst="rect">
            <a:avLst/>
          </a:prstGeom>
          <a:noFill/>
          <a:ln/>
        </p:spPr>
        <p:txBody>
          <a:bodyPr wrap="square" lIns="0" tIns="0" rIns="0" bIns="0" rtlCol="0" anchor="t">
            <a:spAutoFit/>
          </a:bodyPr>
          <a:lstStyle/>
          <a:p>
            <a:pPr marL="0" indent="0" algn="l">
              <a:lnSpc>
                <a:spcPts val="1400"/>
              </a:lnSpc>
              <a:buNone/>
            </a:pPr>
            <a:r>
              <a:rPr lang="en-US" sz="1100" dirty="0">
                <a:solidFill>
                  <a:srgbClr val="333333"/>
                </a:solidFill>
              </a:rPr>
              <a:t>Agentic workflows are the key to moving AI from simple "chatbots" to capable "digital employees" that execute end-to-end processes.</a:t>
            </a:r>
            <a:endParaRPr lang="en-US" sz="1100" dirty="0"/>
          </a:p>
        </p:txBody>
      </p:sp>
      <p:sp>
        <p:nvSpPr>
          <p:cNvPr id="6" name="Text 3"/>
          <p:cNvSpPr/>
          <p:nvPr/>
        </p:nvSpPr>
        <p:spPr>
          <a:xfrm>
            <a:off x="3524241" y="2711723"/>
            <a:ext cx="1172500" cy="153888"/>
          </a:xfrm>
          <a:prstGeom prst="rect">
            <a:avLst/>
          </a:prstGeom>
          <a:noFill/>
          <a:ln/>
        </p:spPr>
        <p:txBody>
          <a:bodyPr wrap="none" lIns="0" tIns="0" rIns="0" bIns="0" rtlCol="0" anchor="t">
            <a:spAutoFit/>
          </a:bodyPr>
          <a:lstStyle/>
          <a:p>
            <a:pPr marL="0" indent="0" algn="l">
              <a:lnSpc>
                <a:spcPts val="1200"/>
              </a:lnSpc>
              <a:buNone/>
            </a:pPr>
            <a:r>
              <a:rPr lang="en-US" sz="1100" b="1" kern="0" spc="1" dirty="0">
                <a:solidFill>
                  <a:srgbClr val="0052CC"/>
                </a:solidFill>
              </a:rPr>
              <a:t>Robust Foundations</a:t>
            </a:r>
            <a:endParaRPr lang="en-US" sz="1100" dirty="0"/>
          </a:p>
        </p:txBody>
      </p:sp>
      <p:sp>
        <p:nvSpPr>
          <p:cNvPr id="7" name="Text 4"/>
          <p:cNvSpPr/>
          <p:nvPr/>
        </p:nvSpPr>
        <p:spPr>
          <a:xfrm>
            <a:off x="3524241" y="2972470"/>
            <a:ext cx="2095491" cy="888320"/>
          </a:xfrm>
          <a:prstGeom prst="rect">
            <a:avLst/>
          </a:prstGeom>
          <a:noFill/>
          <a:ln/>
        </p:spPr>
        <p:txBody>
          <a:bodyPr wrap="square" lIns="0" tIns="0" rIns="0" bIns="0" rtlCol="0" anchor="t">
            <a:spAutoFit/>
          </a:bodyPr>
          <a:lstStyle/>
          <a:p>
            <a:pPr marL="0" indent="0" algn="l">
              <a:lnSpc>
                <a:spcPts val="1400"/>
              </a:lnSpc>
              <a:buNone/>
            </a:pPr>
            <a:r>
              <a:rPr lang="en-US" sz="1100" dirty="0">
                <a:solidFill>
                  <a:srgbClr val="333333"/>
                </a:solidFill>
              </a:rPr>
              <a:t>Success depends on the integration of robust planning, sophisticated memory management, and specialized reasoning paradigms like ReAct and ReWOO.</a:t>
            </a:r>
            <a:endParaRPr lang="en-US" sz="1100" dirty="0"/>
          </a:p>
        </p:txBody>
      </p:sp>
      <p:sp>
        <p:nvSpPr>
          <p:cNvPr id="8" name="Text 5"/>
          <p:cNvSpPr/>
          <p:nvPr/>
        </p:nvSpPr>
        <p:spPr>
          <a:xfrm>
            <a:off x="6048356" y="2711723"/>
            <a:ext cx="1151662" cy="153888"/>
          </a:xfrm>
          <a:prstGeom prst="rect">
            <a:avLst/>
          </a:prstGeom>
          <a:noFill/>
          <a:ln/>
        </p:spPr>
        <p:txBody>
          <a:bodyPr wrap="none" lIns="0" tIns="0" rIns="0" bIns="0" rtlCol="0" anchor="t">
            <a:spAutoFit/>
          </a:bodyPr>
          <a:lstStyle/>
          <a:p>
            <a:pPr marL="0" indent="0" algn="l">
              <a:lnSpc>
                <a:spcPts val="1200"/>
              </a:lnSpc>
              <a:buNone/>
            </a:pPr>
            <a:r>
              <a:rPr lang="en-US" sz="1100" b="1" kern="0" spc="1" dirty="0">
                <a:solidFill>
                  <a:srgbClr val="0052CC"/>
                </a:solidFill>
              </a:rPr>
              <a:t>Agentic Ecosystems</a:t>
            </a:r>
            <a:endParaRPr lang="en-US" sz="1100" dirty="0"/>
          </a:p>
        </p:txBody>
      </p:sp>
      <p:sp>
        <p:nvSpPr>
          <p:cNvPr id="9" name="Text 6"/>
          <p:cNvSpPr/>
          <p:nvPr/>
        </p:nvSpPr>
        <p:spPr>
          <a:xfrm>
            <a:off x="6048356" y="2972470"/>
            <a:ext cx="2095491" cy="886653"/>
          </a:xfrm>
          <a:prstGeom prst="rect">
            <a:avLst/>
          </a:prstGeom>
          <a:noFill/>
          <a:ln/>
        </p:spPr>
        <p:txBody>
          <a:bodyPr wrap="square" lIns="0" tIns="0" rIns="0" bIns="0" rtlCol="0" anchor="t">
            <a:spAutoFit/>
          </a:bodyPr>
          <a:lstStyle/>
          <a:p>
            <a:pPr marL="0" indent="0" algn="l">
              <a:lnSpc>
                <a:spcPts val="1400"/>
              </a:lnSpc>
              <a:buNone/>
            </a:pPr>
            <a:r>
              <a:rPr lang="en-US" sz="1100" dirty="0">
                <a:solidFill>
                  <a:srgbClr val="333333"/>
                </a:solidFill>
              </a:rPr>
              <a:t>The next frontier lies in seamless multi-agent ecosystems that operate autonomously across entire organizations, driving unprecedented efficiency.</a:t>
            </a:r>
            <a:endParaRPr lang="en-US" sz="1100" dirty="0"/>
          </a:p>
        </p:txBody>
      </p:sp>
      <p:sp>
        <p:nvSpPr>
          <p:cNvPr id="10" name="Text 7"/>
          <p:cNvSpPr/>
          <p:nvPr/>
        </p:nvSpPr>
        <p:spPr>
          <a:xfrm>
            <a:off x="2214758" y="3886786"/>
            <a:ext cx="4714456" cy="1113766"/>
          </a:xfrm>
          <a:prstGeom prst="rect">
            <a:avLst/>
          </a:prstGeom>
          <a:noFill/>
          <a:ln/>
        </p:spPr>
        <p:txBody>
          <a:bodyPr wrap="square" lIns="0" tIns="680339" rIns="0" bIns="0" rtlCol="0" anchor="t">
            <a:spAutoFit/>
          </a:bodyPr>
          <a:lstStyle/>
          <a:p>
            <a:pPr marL="0" indent="0" algn="ctr">
              <a:lnSpc>
                <a:spcPts val="1600"/>
              </a:lnSpc>
              <a:buNone/>
            </a:pPr>
            <a:r>
              <a:rPr lang="en-US" sz="2000" dirty="0">
                <a:solidFill>
                  <a:srgbClr val="1A1A1A"/>
                </a:solidFill>
              </a:rPr>
              <a:t>Transforming </a:t>
            </a:r>
            <a:r>
              <a:rPr lang="en-US" b="1" dirty="0">
                <a:solidFill>
                  <a:srgbClr val="0052CC"/>
                </a:solidFill>
              </a:rPr>
              <a:t>passive intelligence</a:t>
            </a:r>
            <a:r>
              <a:rPr lang="en-US" sz="2000" dirty="0">
                <a:solidFill>
                  <a:srgbClr val="1A1A1A"/>
                </a:solidFill>
              </a:rPr>
              <a:t> into </a:t>
            </a:r>
            <a:r>
              <a:rPr lang="en-US" b="1" dirty="0">
                <a:solidFill>
                  <a:srgbClr val="0052CC"/>
                </a:solidFill>
              </a:rPr>
              <a:t>active autonomy</a:t>
            </a:r>
            <a:r>
              <a:rPr lang="en-US" sz="2000" dirty="0">
                <a:solidFill>
                  <a:srgbClr val="1A1A1A"/>
                </a:solidFill>
              </a:rPr>
              <a:t>.</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891964"/>
            <a:ext cx="3714750" cy="1000274"/>
          </a:xfrm>
          <a:prstGeom prst="rect">
            <a:avLst/>
          </a:prstGeom>
          <a:noFill/>
          <a:ln/>
        </p:spPr>
        <p:txBody>
          <a:bodyPr wrap="square" lIns="0" tIns="0" rIns="0" bIns="0" rtlCol="0" anchor="t">
            <a:spAutoFit/>
          </a:bodyPr>
          <a:lstStyle/>
          <a:p>
            <a:pPr marL="0" indent="0" algn="l">
              <a:lnSpc>
                <a:spcPts val="2600"/>
              </a:lnSpc>
              <a:buNone/>
            </a:pPr>
            <a:r>
              <a:rPr lang="en-US" sz="2400" b="1" kern="0" spc="-1" dirty="0">
                <a:solidFill>
                  <a:srgbClr val="000000"/>
                </a:solidFill>
              </a:rPr>
              <a:t>Modern frameworks bridge the gap between theory and production</a:t>
            </a:r>
            <a:endParaRPr lang="en-US" sz="2400" dirty="0"/>
          </a:p>
        </p:txBody>
      </p:sp>
      <p:pic>
        <p:nvPicPr>
          <p:cNvPr id="5" name="Image 1" descr="preencoded.png"/>
          <p:cNvPicPr>
            <a:picLocks noChangeAspect="1"/>
          </p:cNvPicPr>
          <p:nvPr/>
        </p:nvPicPr>
        <p:blipFill>
          <a:blip r:embed="rId4"/>
          <a:stretch>
            <a:fillRect/>
          </a:stretch>
        </p:blipFill>
        <p:spPr>
          <a:xfrm>
            <a:off x="571500" y="2569294"/>
            <a:ext cx="3571875" cy="2143125"/>
          </a:xfrm>
          <a:prstGeom prst="rect">
            <a:avLst/>
          </a:prstGeom>
        </p:spPr>
      </p:pic>
      <p:sp>
        <p:nvSpPr>
          <p:cNvPr id="6" name="Text 1"/>
          <p:cNvSpPr/>
          <p:nvPr/>
        </p:nvSpPr>
        <p:spPr>
          <a:xfrm>
            <a:off x="4572000" y="742950"/>
            <a:ext cx="485710" cy="235129"/>
          </a:xfrm>
          <a:prstGeom prst="rect">
            <a:avLst/>
          </a:prstGeom>
          <a:noFill/>
          <a:ln/>
        </p:spPr>
        <p:txBody>
          <a:bodyPr wrap="none" lIns="0" tIns="0" rIns="0" bIns="0" rtlCol="0" anchor="t">
            <a:spAutoFit/>
          </a:bodyPr>
          <a:lstStyle/>
          <a:p>
            <a:pPr marL="0" indent="0" algn="l">
              <a:lnSpc>
                <a:spcPts val="1600"/>
              </a:lnSpc>
              <a:buNone/>
            </a:pPr>
            <a:r>
              <a:rPr lang="en-US" sz="2400" b="1" dirty="0">
                <a:solidFill>
                  <a:srgbClr val="0047AB"/>
                </a:solidFill>
              </a:rPr>
              <a:t>n8n</a:t>
            </a:r>
            <a:endParaRPr lang="en-US" sz="2400" dirty="0"/>
          </a:p>
        </p:txBody>
      </p:sp>
      <p:sp>
        <p:nvSpPr>
          <p:cNvPr id="7" name="Text 2"/>
          <p:cNvSpPr/>
          <p:nvPr/>
        </p:nvSpPr>
        <p:spPr>
          <a:xfrm>
            <a:off x="4572000" y="1048345"/>
            <a:ext cx="4000500" cy="583108"/>
          </a:xfrm>
          <a:prstGeom prst="rect">
            <a:avLst/>
          </a:prstGeom>
          <a:noFill/>
          <a:ln/>
        </p:spPr>
        <p:txBody>
          <a:bodyPr wrap="square" lIns="0" tIns="0" rIns="0" bIns="0" rtlCol="0" anchor="t">
            <a:spAutoFit/>
          </a:bodyPr>
          <a:lstStyle/>
          <a:p>
            <a:pPr marL="0" indent="0" algn="l">
              <a:lnSpc>
                <a:spcPts val="1500"/>
              </a:lnSpc>
              <a:buNone/>
            </a:pPr>
            <a:r>
              <a:rPr lang="en-US" sz="1600" dirty="0">
                <a:solidFill>
                  <a:srgbClr val="333333"/>
                </a:solidFill>
              </a:rPr>
              <a:t>A low-code powerhouse for integrating agents into existing enterprise workflows via 400+ native integrations.</a:t>
            </a:r>
            <a:endParaRPr lang="en-US" sz="1600" dirty="0"/>
          </a:p>
        </p:txBody>
      </p:sp>
      <p:sp>
        <p:nvSpPr>
          <p:cNvPr id="8" name="Text 3"/>
          <p:cNvSpPr/>
          <p:nvPr/>
        </p:nvSpPr>
        <p:spPr>
          <a:xfrm>
            <a:off x="4572000" y="1891308"/>
            <a:ext cx="919995" cy="235129"/>
          </a:xfrm>
          <a:prstGeom prst="rect">
            <a:avLst/>
          </a:prstGeom>
          <a:noFill/>
          <a:ln/>
        </p:spPr>
        <p:txBody>
          <a:bodyPr wrap="none" lIns="0" tIns="0" rIns="0" bIns="0" rtlCol="0" anchor="t">
            <a:spAutoFit/>
          </a:bodyPr>
          <a:lstStyle/>
          <a:p>
            <a:pPr marL="0" indent="0" algn="l">
              <a:lnSpc>
                <a:spcPts val="1600"/>
              </a:lnSpc>
              <a:buNone/>
            </a:pPr>
            <a:r>
              <a:rPr lang="en-US" sz="2400" b="1" dirty="0">
                <a:solidFill>
                  <a:srgbClr val="0047AB"/>
                </a:solidFill>
              </a:rPr>
              <a:t>CrewAI</a:t>
            </a:r>
            <a:endParaRPr lang="en-US" sz="2400" dirty="0"/>
          </a:p>
        </p:txBody>
      </p:sp>
      <p:sp>
        <p:nvSpPr>
          <p:cNvPr id="9" name="Text 4"/>
          <p:cNvSpPr/>
          <p:nvPr/>
        </p:nvSpPr>
        <p:spPr>
          <a:xfrm>
            <a:off x="4572000" y="2196703"/>
            <a:ext cx="4000500" cy="583108"/>
          </a:xfrm>
          <a:prstGeom prst="rect">
            <a:avLst/>
          </a:prstGeom>
          <a:noFill/>
          <a:ln/>
        </p:spPr>
        <p:txBody>
          <a:bodyPr wrap="square" lIns="0" tIns="0" rIns="0" bIns="0" rtlCol="0" anchor="t">
            <a:spAutoFit/>
          </a:bodyPr>
          <a:lstStyle/>
          <a:p>
            <a:pPr marL="0" indent="0" algn="l">
              <a:lnSpc>
                <a:spcPts val="1500"/>
              </a:lnSpc>
              <a:buNone/>
            </a:pPr>
            <a:r>
              <a:rPr lang="en-US" sz="1600" dirty="0">
                <a:solidFill>
                  <a:srgbClr val="333333"/>
                </a:solidFill>
              </a:rPr>
              <a:t>A code-centric framework designed for role-playing and collaborative multi-agent orchestration.</a:t>
            </a:r>
            <a:endParaRPr lang="en-US" sz="1600" dirty="0"/>
          </a:p>
        </p:txBody>
      </p:sp>
      <p:sp>
        <p:nvSpPr>
          <p:cNvPr id="10" name="Shape 5"/>
          <p:cNvSpPr/>
          <p:nvPr/>
        </p:nvSpPr>
        <p:spPr>
          <a:xfrm>
            <a:off x="4572000" y="2868216"/>
            <a:ext cx="4000500" cy="857250"/>
          </a:xfrm>
          <a:prstGeom prst="rect">
            <a:avLst/>
          </a:prstGeom>
          <a:solidFill>
            <a:srgbClr val="000000"/>
          </a:solidFill>
          <a:ln/>
        </p:spPr>
      </p:sp>
      <p:sp>
        <p:nvSpPr>
          <p:cNvPr id="11" name="Text 6"/>
          <p:cNvSpPr/>
          <p:nvPr/>
        </p:nvSpPr>
        <p:spPr>
          <a:xfrm>
            <a:off x="4714875" y="3011091"/>
            <a:ext cx="1099468" cy="127214"/>
          </a:xfrm>
          <a:prstGeom prst="rect">
            <a:avLst/>
          </a:prstGeom>
          <a:noFill/>
          <a:ln/>
        </p:spPr>
        <p:txBody>
          <a:bodyPr wrap="none" lIns="0" tIns="0" rIns="0" bIns="0" rtlCol="0" anchor="t">
            <a:spAutoFit/>
          </a:bodyPr>
          <a:lstStyle/>
          <a:p>
            <a:pPr marL="0" indent="0" algn="l">
              <a:lnSpc>
                <a:spcPts val="900"/>
              </a:lnSpc>
              <a:buNone/>
            </a:pPr>
            <a:r>
              <a:rPr lang="en-US" sz="1200" b="1" kern="0" spc="2" dirty="0">
                <a:solidFill>
                  <a:srgbClr val="0047AB"/>
                </a:solidFill>
              </a:rPr>
              <a:t>Selection Criteria</a:t>
            </a:r>
            <a:endParaRPr lang="en-US" sz="1200" dirty="0"/>
          </a:p>
        </p:txBody>
      </p:sp>
      <p:sp>
        <p:nvSpPr>
          <p:cNvPr id="12" name="Text 7"/>
          <p:cNvSpPr/>
          <p:nvPr/>
        </p:nvSpPr>
        <p:spPr>
          <a:xfrm>
            <a:off x="4714875" y="3218259"/>
            <a:ext cx="3714750" cy="390748"/>
          </a:xfrm>
          <a:prstGeom prst="rect">
            <a:avLst/>
          </a:prstGeom>
          <a:noFill/>
          <a:ln/>
        </p:spPr>
        <p:txBody>
          <a:bodyPr wrap="square" lIns="0" tIns="0" rIns="0" bIns="0" rtlCol="0" anchor="t">
            <a:spAutoFit/>
          </a:bodyPr>
          <a:lstStyle/>
          <a:p>
            <a:pPr marL="0" indent="0" algn="l">
              <a:lnSpc>
                <a:spcPts val="1500"/>
              </a:lnSpc>
              <a:buNone/>
            </a:pPr>
            <a:r>
              <a:rPr lang="en-US" sz="1600" dirty="0">
                <a:solidFill>
                  <a:srgbClr val="F2F2F2"/>
                </a:solidFill>
              </a:rPr>
              <a:t>Use </a:t>
            </a:r>
            <a:r>
              <a:rPr lang="en-US" sz="1400" b="1" dirty="0">
                <a:solidFill>
                  <a:srgbClr val="F2F2F2"/>
                </a:solidFill>
              </a:rPr>
              <a:t>n8n</a:t>
            </a:r>
            <a:r>
              <a:rPr lang="en-US" sz="1600" dirty="0">
                <a:solidFill>
                  <a:srgbClr val="F2F2F2"/>
                </a:solidFill>
              </a:rPr>
              <a:t> for workflow-heavy tasks; use </a:t>
            </a:r>
            <a:r>
              <a:rPr lang="en-US" sz="1400" b="1" dirty="0">
                <a:solidFill>
                  <a:srgbClr val="F2F2F2"/>
                </a:solidFill>
              </a:rPr>
              <a:t>CrewAI</a:t>
            </a:r>
            <a:r>
              <a:rPr lang="en-US" sz="1600" dirty="0">
                <a:solidFill>
                  <a:srgbClr val="F2F2F2"/>
                </a:solidFill>
              </a:rPr>
              <a:t> for complex, autonomous reasoning tasks.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1132117"/>
            <a:ext cx="4486275" cy="1356205"/>
          </a:xfrm>
          <a:prstGeom prst="rect">
            <a:avLst/>
          </a:prstGeom>
          <a:noFill/>
          <a:ln/>
        </p:spPr>
        <p:txBody>
          <a:bodyPr wrap="square" lIns="0" tIns="0" rIns="0" bIns="0" rtlCol="0" anchor="t">
            <a:spAutoFit/>
          </a:bodyPr>
          <a:lstStyle/>
          <a:p>
            <a:pPr marL="0" indent="0" algn="l">
              <a:lnSpc>
                <a:spcPts val="3500"/>
              </a:lnSpc>
              <a:buNone/>
            </a:pPr>
            <a:r>
              <a:rPr lang="en-US" sz="3600" b="1" kern="0" spc="-2" dirty="0">
                <a:solidFill>
                  <a:srgbClr val="000000"/>
                </a:solidFill>
              </a:rPr>
              <a:t>The future of work is a collaborative partnership</a:t>
            </a:r>
            <a:endParaRPr lang="en-US" sz="3600" dirty="0"/>
          </a:p>
        </p:txBody>
      </p:sp>
      <p:sp>
        <p:nvSpPr>
          <p:cNvPr id="5" name="Text 1"/>
          <p:cNvSpPr/>
          <p:nvPr/>
        </p:nvSpPr>
        <p:spPr>
          <a:xfrm>
            <a:off x="571500" y="2737982"/>
            <a:ext cx="4286250" cy="1542474"/>
          </a:xfrm>
          <a:prstGeom prst="rect">
            <a:avLst/>
          </a:prstGeom>
          <a:noFill/>
          <a:ln/>
        </p:spPr>
        <p:txBody>
          <a:bodyPr wrap="square" lIns="0" tIns="0" rIns="0" bIns="0" rtlCol="0" anchor="t">
            <a:spAutoFit/>
          </a:bodyPr>
          <a:lstStyle/>
          <a:p>
            <a:pPr marL="0" indent="0" algn="l">
              <a:lnSpc>
                <a:spcPts val="2000"/>
              </a:lnSpc>
              <a:buNone/>
            </a:pPr>
            <a:r>
              <a:rPr lang="en-US" sz="2000" dirty="0">
                <a:solidFill>
                  <a:srgbClr val="333333"/>
                </a:solidFill>
              </a:rPr>
              <a:t>We have moved from simple content generation to autonomous, goal-oriented systems. The goal is not to replace humans, but to augment our capabilities and handle the complexity of modern workflows.</a:t>
            </a:r>
            <a:endParaRPr lang="en-US" sz="2000" dirty="0"/>
          </a:p>
        </p:txBody>
      </p:sp>
      <p:sp>
        <p:nvSpPr>
          <p:cNvPr id="6" name="Text 2"/>
          <p:cNvSpPr/>
          <p:nvPr/>
        </p:nvSpPr>
        <p:spPr>
          <a:xfrm>
            <a:off x="571500" y="4579144"/>
            <a:ext cx="3963714" cy="140680"/>
          </a:xfrm>
          <a:prstGeom prst="rect">
            <a:avLst/>
          </a:prstGeom>
          <a:noFill/>
          <a:ln/>
        </p:spPr>
        <p:txBody>
          <a:bodyPr wrap="none" lIns="0" tIns="0" rIns="0" bIns="0" rtlCol="0" anchor="t">
            <a:spAutoFit/>
          </a:bodyPr>
          <a:lstStyle/>
          <a:p>
            <a:pPr marL="0" indent="0" algn="l">
              <a:lnSpc>
                <a:spcPts val="900"/>
              </a:lnSpc>
              <a:buNone/>
            </a:pPr>
            <a:r>
              <a:rPr lang="en-US" sz="1600" b="1" kern="0" spc="1" dirty="0">
                <a:solidFill>
                  <a:srgbClr val="333333"/>
                </a:solidFill>
              </a:rPr>
              <a:t>Agentic AI Masterclass • 2025 • End of Session</a:t>
            </a:r>
            <a:endParaRPr lang="en-US" sz="1600" dirty="0"/>
          </a:p>
        </p:txBody>
      </p:sp>
      <p:sp>
        <p:nvSpPr>
          <p:cNvPr id="7" name="Shape 3"/>
          <p:cNvSpPr/>
          <p:nvPr/>
        </p:nvSpPr>
        <p:spPr>
          <a:xfrm>
            <a:off x="5486400" y="0"/>
            <a:ext cx="3657600" cy="5143500"/>
          </a:xfrm>
          <a:prstGeom prst="rect">
            <a:avLst/>
          </a:prstGeom>
          <a:solidFill>
            <a:srgbClr val="000000"/>
          </a:solidFill>
          <a:ln/>
        </p:spPr>
      </p:sp>
      <p:sp>
        <p:nvSpPr>
          <p:cNvPr id="8" name="Text 4"/>
          <p:cNvSpPr/>
          <p:nvPr/>
        </p:nvSpPr>
        <p:spPr>
          <a:xfrm>
            <a:off x="5915025" y="714375"/>
            <a:ext cx="2143536" cy="202363"/>
          </a:xfrm>
          <a:prstGeom prst="rect">
            <a:avLst/>
          </a:prstGeom>
          <a:noFill/>
          <a:ln/>
        </p:spPr>
        <p:txBody>
          <a:bodyPr wrap="none" lIns="0" tIns="0" rIns="0" bIns="0" rtlCol="0" anchor="t">
            <a:spAutoFit/>
          </a:bodyPr>
          <a:lstStyle/>
          <a:p>
            <a:pPr marL="0" indent="0" algn="l">
              <a:lnSpc>
                <a:spcPts val="1400"/>
              </a:lnSpc>
              <a:buNone/>
            </a:pPr>
            <a:r>
              <a:rPr lang="en-US" sz="2000" b="1" kern="0" spc="2" dirty="0">
                <a:solidFill>
                  <a:srgbClr val="0047AB"/>
                </a:solidFill>
              </a:rPr>
              <a:t>Strategic Next Steps</a:t>
            </a:r>
            <a:endParaRPr lang="en-US" sz="2000" dirty="0"/>
          </a:p>
        </p:txBody>
      </p:sp>
      <p:sp>
        <p:nvSpPr>
          <p:cNvPr id="9" name="Text 5"/>
          <p:cNvSpPr/>
          <p:nvPr/>
        </p:nvSpPr>
        <p:spPr>
          <a:xfrm>
            <a:off x="5915025" y="1273373"/>
            <a:ext cx="1385957" cy="176330"/>
          </a:xfrm>
          <a:prstGeom prst="rect">
            <a:avLst/>
          </a:prstGeom>
          <a:noFill/>
          <a:ln/>
        </p:spPr>
        <p:txBody>
          <a:bodyPr wrap="none" lIns="0" tIns="0" rIns="0" bIns="0" rtlCol="0" anchor="t">
            <a:spAutoFit/>
          </a:bodyPr>
          <a:lstStyle/>
          <a:p>
            <a:pPr marL="0" indent="0" algn="l">
              <a:lnSpc>
                <a:spcPts val="1200"/>
              </a:lnSpc>
              <a:buNone/>
            </a:pPr>
            <a:r>
              <a:rPr lang="en-US" b="1" dirty="0">
                <a:solidFill>
                  <a:srgbClr val="F2F2F2"/>
                </a:solidFill>
              </a:rPr>
              <a:t>01. Start Small</a:t>
            </a:r>
            <a:endParaRPr lang="en-US" dirty="0"/>
          </a:p>
        </p:txBody>
      </p:sp>
      <p:sp>
        <p:nvSpPr>
          <p:cNvPr id="10" name="Text 6"/>
          <p:cNvSpPr/>
          <p:nvPr/>
        </p:nvSpPr>
        <p:spPr>
          <a:xfrm>
            <a:off x="5915025" y="1562695"/>
            <a:ext cx="2657475" cy="519373"/>
          </a:xfrm>
          <a:prstGeom prst="rect">
            <a:avLst/>
          </a:prstGeom>
          <a:noFill/>
          <a:ln/>
        </p:spPr>
        <p:txBody>
          <a:bodyPr wrap="square" lIns="0" tIns="0" rIns="0" bIns="0" rtlCol="0" anchor="t">
            <a:spAutoFit/>
          </a:bodyPr>
          <a:lstStyle/>
          <a:p>
            <a:pPr marL="0" indent="0" algn="l">
              <a:lnSpc>
                <a:spcPts val="1300"/>
              </a:lnSpc>
              <a:buNone/>
            </a:pPr>
            <a:r>
              <a:rPr lang="en-US" dirty="0">
                <a:solidFill>
                  <a:srgbClr val="CCCCCC"/>
                </a:solidFill>
              </a:rPr>
              <a:t>Identify low-risk, high-frequency tasks for initial agentic automation.</a:t>
            </a:r>
            <a:endParaRPr lang="en-US" dirty="0"/>
          </a:p>
        </p:txBody>
      </p:sp>
      <p:sp>
        <p:nvSpPr>
          <p:cNvPr id="11" name="Text 7"/>
          <p:cNvSpPr/>
          <p:nvPr/>
        </p:nvSpPr>
        <p:spPr>
          <a:xfrm>
            <a:off x="5915025" y="2318482"/>
            <a:ext cx="2111091" cy="176330"/>
          </a:xfrm>
          <a:prstGeom prst="rect">
            <a:avLst/>
          </a:prstGeom>
          <a:noFill/>
          <a:ln/>
        </p:spPr>
        <p:txBody>
          <a:bodyPr wrap="none" lIns="0" tIns="0" rIns="0" bIns="0" rtlCol="0" anchor="t">
            <a:spAutoFit/>
          </a:bodyPr>
          <a:lstStyle/>
          <a:p>
            <a:pPr marL="0" indent="0" algn="l">
              <a:lnSpc>
                <a:spcPts val="1200"/>
              </a:lnSpc>
              <a:buNone/>
            </a:pPr>
            <a:r>
              <a:rPr lang="en-US" b="1" dirty="0">
                <a:solidFill>
                  <a:srgbClr val="F2F2F2"/>
                </a:solidFill>
              </a:rPr>
              <a:t>02. Define Boundaries</a:t>
            </a:r>
            <a:endParaRPr lang="en-US" dirty="0"/>
          </a:p>
        </p:txBody>
      </p:sp>
      <p:sp>
        <p:nvSpPr>
          <p:cNvPr id="12" name="Text 8"/>
          <p:cNvSpPr/>
          <p:nvPr/>
        </p:nvSpPr>
        <p:spPr>
          <a:xfrm>
            <a:off x="5915025" y="2607804"/>
            <a:ext cx="2657475" cy="519373"/>
          </a:xfrm>
          <a:prstGeom prst="rect">
            <a:avLst/>
          </a:prstGeom>
          <a:noFill/>
          <a:ln/>
        </p:spPr>
        <p:txBody>
          <a:bodyPr wrap="square" lIns="0" tIns="0" rIns="0" bIns="0" rtlCol="0" anchor="t">
            <a:spAutoFit/>
          </a:bodyPr>
          <a:lstStyle/>
          <a:p>
            <a:pPr marL="0" indent="0" algn="l">
              <a:lnSpc>
                <a:spcPts val="1300"/>
              </a:lnSpc>
              <a:buNone/>
            </a:pPr>
            <a:r>
              <a:rPr lang="en-US" dirty="0">
                <a:solidFill>
                  <a:srgbClr val="CCCCCC"/>
                </a:solidFill>
              </a:rPr>
              <a:t>Establish clear action scopes and human-in-the-loop checkpoints.</a:t>
            </a:r>
            <a:endParaRPr lang="en-US" dirty="0"/>
          </a:p>
        </p:txBody>
      </p:sp>
      <p:sp>
        <p:nvSpPr>
          <p:cNvPr id="13" name="Text 9"/>
          <p:cNvSpPr/>
          <p:nvPr/>
        </p:nvSpPr>
        <p:spPr>
          <a:xfrm>
            <a:off x="5915025" y="3363590"/>
            <a:ext cx="1770165" cy="176330"/>
          </a:xfrm>
          <a:prstGeom prst="rect">
            <a:avLst/>
          </a:prstGeom>
          <a:noFill/>
          <a:ln/>
        </p:spPr>
        <p:txBody>
          <a:bodyPr wrap="none" lIns="0" tIns="0" rIns="0" bIns="0" rtlCol="0" anchor="t">
            <a:spAutoFit/>
          </a:bodyPr>
          <a:lstStyle/>
          <a:p>
            <a:pPr marL="0" indent="0" algn="l">
              <a:lnSpc>
                <a:spcPts val="1200"/>
              </a:lnSpc>
              <a:buNone/>
            </a:pPr>
            <a:r>
              <a:rPr lang="en-US" b="1" dirty="0">
                <a:solidFill>
                  <a:srgbClr val="F2F2F2"/>
                </a:solidFill>
              </a:rPr>
              <a:t>03. Focus on Value</a:t>
            </a:r>
            <a:endParaRPr lang="en-US" dirty="0"/>
          </a:p>
        </p:txBody>
      </p:sp>
      <p:sp>
        <p:nvSpPr>
          <p:cNvPr id="14" name="Text 10"/>
          <p:cNvSpPr/>
          <p:nvPr/>
        </p:nvSpPr>
        <p:spPr>
          <a:xfrm>
            <a:off x="5915025" y="3652912"/>
            <a:ext cx="2657475" cy="686085"/>
          </a:xfrm>
          <a:prstGeom prst="rect">
            <a:avLst/>
          </a:prstGeom>
          <a:noFill/>
          <a:ln/>
        </p:spPr>
        <p:txBody>
          <a:bodyPr wrap="square" lIns="0" tIns="0" rIns="0" bIns="0" rtlCol="0" anchor="t">
            <a:spAutoFit/>
          </a:bodyPr>
          <a:lstStyle/>
          <a:p>
            <a:pPr marL="0" indent="0" algn="l">
              <a:lnSpc>
                <a:spcPts val="1300"/>
              </a:lnSpc>
              <a:buNone/>
            </a:pPr>
            <a:r>
              <a:rPr lang="en-US" dirty="0">
                <a:solidFill>
                  <a:srgbClr val="CCCCCC"/>
                </a:solidFill>
              </a:rPr>
              <a:t>Prioritize use cases that deliver measurable efficiency and reliability gains.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CF842A-3E02-4975-5772-3632E196C3F8}"/>
              </a:ext>
            </a:extLst>
          </p:cNvPr>
          <p:cNvSpPr txBox="1"/>
          <p:nvPr/>
        </p:nvSpPr>
        <p:spPr>
          <a:xfrm>
            <a:off x="1230923" y="429065"/>
            <a:ext cx="7399606" cy="523220"/>
          </a:xfrm>
          <a:prstGeom prst="rect">
            <a:avLst/>
          </a:prstGeom>
          <a:noFill/>
        </p:spPr>
        <p:txBody>
          <a:bodyPr wrap="square" rtlCol="0">
            <a:spAutoFit/>
          </a:bodyPr>
          <a:lstStyle/>
          <a:p>
            <a:r>
              <a:rPr lang="en-US" sz="2800" b="1" dirty="0"/>
              <a:t>CRM Exception RAG Workflow – n8n</a:t>
            </a:r>
          </a:p>
        </p:txBody>
      </p:sp>
      <p:pic>
        <p:nvPicPr>
          <p:cNvPr id="1026" name="Picture 2" descr="1111">
            <a:extLst>
              <a:ext uri="{FF2B5EF4-FFF2-40B4-BE49-F238E27FC236}">
                <a16:creationId xmlns:a16="http://schemas.microsoft.com/office/drawing/2014/main" id="{93585A40-A11D-14D4-5DAD-51063194D3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5323"/>
            <a:ext cx="8778240" cy="3945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921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8EB14B-5F04-5AD0-CAC7-80D7C42D920E}"/>
              </a:ext>
            </a:extLst>
          </p:cNvPr>
          <p:cNvSpPr txBox="1"/>
          <p:nvPr/>
        </p:nvSpPr>
        <p:spPr>
          <a:xfrm>
            <a:off x="654148" y="379828"/>
            <a:ext cx="5641144" cy="584775"/>
          </a:xfrm>
          <a:prstGeom prst="rect">
            <a:avLst/>
          </a:prstGeom>
          <a:noFill/>
        </p:spPr>
        <p:txBody>
          <a:bodyPr wrap="square" rtlCol="0">
            <a:spAutoFit/>
          </a:bodyPr>
          <a:lstStyle/>
          <a:p>
            <a:r>
              <a:rPr lang="en-US" sz="3200" b="1" dirty="0"/>
              <a:t>Telegram Assistant – n8n</a:t>
            </a:r>
          </a:p>
        </p:txBody>
      </p:sp>
      <p:pic>
        <p:nvPicPr>
          <p:cNvPr id="2050" name="Picture 2" descr="44">
            <a:extLst>
              <a:ext uri="{FF2B5EF4-FFF2-40B4-BE49-F238E27FC236}">
                <a16:creationId xmlns:a16="http://schemas.microsoft.com/office/drawing/2014/main" id="{1E7E4C70-E1C5-2786-28AC-E236B7EFD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07" y="1069978"/>
            <a:ext cx="8714935" cy="3939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3745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DE680F-A10F-74ED-6F63-E554F430276C}"/>
              </a:ext>
            </a:extLst>
          </p:cNvPr>
          <p:cNvSpPr txBox="1"/>
          <p:nvPr/>
        </p:nvSpPr>
        <p:spPr>
          <a:xfrm>
            <a:off x="647114" y="436098"/>
            <a:ext cx="7512148" cy="523220"/>
          </a:xfrm>
          <a:prstGeom prst="rect">
            <a:avLst/>
          </a:prstGeom>
          <a:noFill/>
        </p:spPr>
        <p:txBody>
          <a:bodyPr wrap="square" rtlCol="0">
            <a:spAutoFit/>
          </a:bodyPr>
          <a:lstStyle/>
          <a:p>
            <a:r>
              <a:rPr lang="en-US" sz="2800" b="1" dirty="0" err="1"/>
              <a:t>SyntaxAcademy</a:t>
            </a:r>
            <a:r>
              <a:rPr lang="en-US" sz="2800" b="1" dirty="0"/>
              <a:t> - Generate Posts Workflow – n8n</a:t>
            </a:r>
          </a:p>
        </p:txBody>
      </p:sp>
      <p:pic>
        <p:nvPicPr>
          <p:cNvPr id="3074" name="Picture 2" descr="33">
            <a:extLst>
              <a:ext uri="{FF2B5EF4-FFF2-40B4-BE49-F238E27FC236}">
                <a16:creationId xmlns:a16="http://schemas.microsoft.com/office/drawing/2014/main" id="{2326ABA3-8ECD-179B-1905-55D43FB39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67" y="1038546"/>
            <a:ext cx="8848581" cy="3981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3076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A08638D2-15D2-81AB-5D40-273FDAF54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20" y="916422"/>
            <a:ext cx="7462911" cy="407350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8D9AD22-CD0A-405C-706F-F57805A3C5EF}"/>
              </a:ext>
            </a:extLst>
          </p:cNvPr>
          <p:cNvSpPr txBox="1"/>
          <p:nvPr/>
        </p:nvSpPr>
        <p:spPr>
          <a:xfrm>
            <a:off x="520505" y="337625"/>
            <a:ext cx="5641144" cy="523220"/>
          </a:xfrm>
          <a:prstGeom prst="rect">
            <a:avLst/>
          </a:prstGeom>
          <a:noFill/>
        </p:spPr>
        <p:txBody>
          <a:bodyPr wrap="square" rtlCol="0">
            <a:spAutoFit/>
          </a:bodyPr>
          <a:lstStyle/>
          <a:p>
            <a:r>
              <a:rPr lang="en-US" sz="2800" b="1" dirty="0"/>
              <a:t>AI Agent Crew AI</a:t>
            </a:r>
          </a:p>
        </p:txBody>
      </p:sp>
    </p:spTree>
    <p:extLst>
      <p:ext uri="{BB962C8B-B14F-4D97-AF65-F5344CB8AC3E}">
        <p14:creationId xmlns:p14="http://schemas.microsoft.com/office/powerpoint/2010/main" val="56873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1303</Words>
  <Application>Microsoft Office PowerPoint</Application>
  <PresentationFormat>On-screen Show (16:9)</PresentationFormat>
  <Paragraphs>113</Paragraphs>
  <Slides>16</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MOHAMED KHALED IDRIS</cp:lastModifiedBy>
  <cp:revision>4</cp:revision>
  <dcterms:created xsi:type="dcterms:W3CDTF">2025-12-27T07:47:33Z</dcterms:created>
  <dcterms:modified xsi:type="dcterms:W3CDTF">2025-12-27T07:52:01Z</dcterms:modified>
</cp:coreProperties>
</file>