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here today to talk about the next major evolution in artificial intelligence: Agentic AI. This isn't just about generating content anymore; it's about achieving goals autonomously. We're moving beyond simple content creation to mastering proactive workflows and orchestrating complex, multi-agent systems. This shift is fundamental. It changes how we think about AI's role, transforming it from a tool that answers questions into a system that executes entire projects. Over the next few minutes, we'll break down exactly what Agentic AI is and how you can start building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dive in, let me quickly introduce myself. My background is rooted deeply in AI engineering and system architecture, focusing on building scalable enterprise solutions. But more importantly, I am an educator. I believe in bridging the gap between complex AI theory and practical, real-world application. My specialization lies in building autonomous workflows and multi-agent systems using modern frameworks. My goal today is to empower you to make that critical transition from reactive Generative AI to truly proactive Agentic systems. Now let's define what we mean by Agentic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just talked about the need to move from reactive to proactive AI. Agentic AI is the mechanism for that shift. Agentic AI systems are proactive; they don't just wait for a prompt. They plan, they reason, and they execute complex tasks autonomously to achieve a specific objective. This is the core philosophy: we are moving beyond asking "What can you write?" to asking "What can you achieve?" These systems are defined by their autonomy, their ability to use external tools, their capacity for self-correction, and their long-term planning skills. But how does this differ from the Generative AI we are all familiar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difference between Agentic AI and Generative AI is one of nature: proactive agency versus reactive generation. Generative AI is reactive; it follows a single prompt and focuses on creating content, whether that's text, images, or code. Agentic AI, however, is proactive and goal-oriented. Its focus is task completion, often involving complex, multi-step workflows. Look at the tools they use. Generative AI relies primarily on its internal knowledge base. Agentic AI, on the other hand, uses external APIs and tools—it has hands to interact with the real world. This capability for multi-step, tool-using execution is what makes it a true agent. This evolution didn't happen overnight; it's built on decades of AI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 of an AI agent is not new; it has evolved significantly over time. We can categorize agents into four main levels of sophistication. At the simplest level, we have Simple Reflex Agents. They take immediate actions based only on their current perception, like a thermostat. Next, Model-based Agents maintain an internal state, allowing them to track changes in the environment over time. The real power comes with Goal and Utility Agents. These agents don't just react; they plan their actions to achieve specific objectives and optimize for the best possible outcome. Finally, Learning Agents continuously improve their performance through feedback and experience, making them truly autonomous. Understanding these levels helps us appreciate the complexity of the modern agent. Now, let's look inside and see what makes these sophisticated agents 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looked at the different types of agents, but now let's break down what's inside them. The autonomous agent isn't a monolith; it's a system of interconnected components. The LLM is the Brain, providing the core reasoning and logic that drives everything else. But a brain needs a plan. Planning is the critical function that breaks a complex goal into manageable, sequential sub-tasks. We also need Memory, both short-term context for the immediate task and long-term storage in vector databases for persistent knowledge. Finally, Tools are the agent's hands. These are the APIs, web searches, and code execution environments that let the agent interact with the real world. So, how do we get these individual agents to work together? That's where orchestration comes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 have a well-defined agent, the next step is scaling its intelligence through collaboration. This is the heart of Multi-Agent Systems, or MAS. Orchestration is the process of managing the lifecycle, state, and communication between these specialized agents. Think of it like a project team: you have a Researcher agent feeding data to a Writer agent, who then passes the draft to an Editor agent. This collaboration brings huge benefits. We see enhanced scalability, specialized expertise for complex problems, and critically, reduced hallucination because agents can cross-verify information. This collaborative architecture is what truly unlocks complex, autonomous workflows. But even within a single agent or a team, we need a core reasoning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choice of reasoning framework fundamentally dictates how an agent approaches a problem. We're comparing two major strategies here: ReAct and ReWOO. ReAct, or Reasoning plus Acting, is an iterative approach. The agent thinks, acts, observes the result, and then repeats the loop. This is perfect for dynamic environments where the information changes after every action. But sometimes, you need speed and efficiency. ReWOO, Reasoning Without Observation, decouples the planning from the execution. A Planner agent creates a full execution graph upfront, and then the agent executes it without stopping to observe. This is great for predictable, multi-step tasks where you want to reduce latency and token usage. These frameworks are the engine, but we need standards to build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move from bespoke projects to a robust ecosystem, we need standards and frameworks. The Model Context Protocol, or MCP, is a key open standard aiming to connect AI models seamlessly to their data sources and tools. This standardization is vital for interoperability. On the implementation side, we see leading frameworks like CrewAI, which focuses on role-playing, collaborative agents using a program-flow approach. Then you have n8n, which is a low-code, visual workflow automation tool, ideal for enterprise integration. And of course, LangChain remains the foundational library, providing the modular components for building these LLM applications. These tools give us the structure to build safe and accountable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discussed the power of these systems, but with great power comes the need for strong governance. Building autonomous systems requires us to prioritize safety, accountability, and ethical design from the start. This involves addressing the black box problem and ensuring algorithmic integrity so we can trust the decisions our agents make. We must also implement robust governance, meaning we need Human-in-the-Loop checkpoints and clear guardrails to maintain operational safety in complex workflows. Finally, we need to evaluate these systems using metrics like RAGAS to quantitatively measure faithfulness and relevance, ensuring the outputs are reliable. Now let's look at how we can apply this agentic mindset to a common problem like Retrieval Augmented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from general governance, let's see how the agentic mindset transforms a core LLM application: RAG. Standard RAG is often passive, but Agentic RAG introduces autonomous decision-making and iterative refinement to the process. We introduce two key agents here: the Retriever Router and the Answer Critic. The Retriever Router intelligently analyzes the query and decides which data source is optimal, whether it's a vector database or a web search. The Answer Critic then evaluates the generated response for accuracy and completeness, and if it finds gaps, it triggers further retrieval. This iterative loop is what moves us beyond simple retrieval to true knowledge refinement. This kind of sophisticated workflow requires the right tools, which brings us to our final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covered the theory, the frameworks, and the ethics, so now we ask: which tool do you use to build this? The choice depends entirely on your mission and your team's expertise. On one hand, you have n8n, which is a visual, low-code platform perfect for enterprise integrations and complex logic flows where you need a visual representation of the workflow. On the other hand, you have CrewAI, which is Python-centric and excels at orchestrating autonomous, role-playing agents for complex reasoning tasks. We'll now demonstrate how we can use both of these approaches to automate a multi-step research and reporting pipeline, showing you the strengths of each tool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714375"/>
            <a:ext cx="3228975" cy="1080102"/>
          </a:xfrm>
          <a:prstGeom prst="rect">
            <a:avLst/>
          </a:prstGeom>
          <a:noFill/>
          <a:ln/>
        </p:spPr>
        <p:txBody>
          <a:bodyPr wrap="square" lIns="0" tIns="0" rIns="0" bIns="0" rtlCol="0" anchor="t">
            <a:spAutoFit/>
          </a:bodyPr>
          <a:lstStyle/>
          <a:p>
            <a:pPr algn="l" indent="0" marL="0">
              <a:lnSpc>
                <a:spcPts val="4300"/>
              </a:lnSpc>
              <a:buNone/>
            </a:pPr>
            <a:r>
              <a:rPr lang="en-US" sz="4353" b="1" spc="-2" kern="0" dirty="0">
                <a:solidFill>
                  <a:srgbClr val="1A1A1A"/>
                </a:solidFill>
              </a:rPr>
              <a:t>Agentic</a:t>
            </a:r>
            <a:pPr algn="l" indent="0" marL="0">
              <a:lnSpc>
                <a:spcPts val="4300"/>
              </a:lnSpc>
              <a:buNone/>
            </a:pPr>
            <a:r>
              <a:rPr lang="en-US" sz="4353" b="1" spc="-2" kern="0" dirty="0">
                <a:solidFill>
                  <a:srgbClr val="1A1A1A"/>
                </a:solidFill>
              </a:rPr>
              <a:t>
</a:t>
            </a:r>
            <a:pPr algn="l" indent="0" marL="0">
              <a:lnSpc>
                <a:spcPts val="4300"/>
              </a:lnSpc>
              <a:buNone/>
            </a:pPr>
            <a:r>
              <a:rPr lang="en-US" sz="4353" b="1" spc="-2" kern="0" dirty="0">
                <a:solidFill>
                  <a:srgbClr val="1A1A1A"/>
                </a:solidFill>
              </a:rPr>
              <a:t>AI</a:t>
            </a:r>
            <a:endParaRPr lang="en-US" sz="4353" dirty="0"/>
          </a:p>
        </p:txBody>
      </p:sp>
      <p:sp>
        <p:nvSpPr>
          <p:cNvPr id="5" name="Text 1"/>
          <p:cNvSpPr/>
          <p:nvPr/>
        </p:nvSpPr>
        <p:spPr>
          <a:xfrm>
            <a:off x="4229100" y="1000125"/>
            <a:ext cx="3571875" cy="1097235"/>
          </a:xfrm>
          <a:prstGeom prst="rect">
            <a:avLst/>
          </a:prstGeom>
          <a:noFill/>
          <a:ln/>
        </p:spPr>
        <p:txBody>
          <a:bodyPr wrap="square" lIns="0" tIns="0" rIns="0" bIns="0" rtlCol="0" anchor="t">
            <a:spAutoFit/>
          </a:bodyPr>
          <a:lstStyle/>
          <a:p>
            <a:pPr algn="l" indent="0" marL="0">
              <a:lnSpc>
                <a:spcPts val="2200"/>
              </a:lnSpc>
              <a:buNone/>
            </a:pPr>
            <a:r>
              <a:rPr lang="en-US" sz="1704" dirty="0">
                <a:solidFill>
                  <a:srgbClr val="333333"/>
                </a:solidFill>
              </a:rPr>
              <a:t>The Next Frontier of Autonomous Intelligence: Mastering Proactive Workflows and Multi-Agent Orchestration</a:t>
            </a:r>
            <a:endParaRPr lang="en-US" sz="1704" dirty="0"/>
          </a:p>
        </p:txBody>
      </p:sp>
      <p:sp>
        <p:nvSpPr>
          <p:cNvPr id="6" name="Text 2"/>
          <p:cNvSpPr/>
          <p:nvPr/>
        </p:nvSpPr>
        <p:spPr>
          <a:xfrm>
            <a:off x="4229100" y="3948708"/>
            <a:ext cx="4914900"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A1A1A"/>
                </a:solidFill>
              </a:rPr>
              <a:t>Mr. Mohamed</a:t>
            </a:r>
            <a:endParaRPr lang="en-US" sz="1193" dirty="0"/>
          </a:p>
        </p:txBody>
      </p:sp>
      <p:sp>
        <p:nvSpPr>
          <p:cNvPr id="7" name="Text 3"/>
          <p:cNvSpPr/>
          <p:nvPr/>
        </p:nvSpPr>
        <p:spPr>
          <a:xfrm>
            <a:off x="4229100" y="4254103"/>
            <a:ext cx="4914900"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4500"/>
                </a:solidFill>
              </a:rPr>
              <a:t>December 27, 2025</a:t>
            </a:r>
            <a:endParaRPr lang="en-US" sz="885" dirty="0"/>
          </a:p>
        </p:txBody>
      </p:sp>
      <p:sp>
        <p:nvSpPr>
          <p:cNvPr id="8" name="Text 4"/>
          <p:cNvSpPr/>
          <p:nvPr/>
        </p:nvSpPr>
        <p:spPr>
          <a:xfrm>
            <a:off x="7370480" y="4741664"/>
            <a:ext cx="1487770"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1A1A1A">
                    <a:alpha val="50000"/>
                  </a:srgbClr>
                </a:solidFill>
              </a:rPr>
              <a:t>SYS_REF: AGENTIC_V1.0 // 2025.12.27</a:t>
            </a:r>
            <a:endParaRPr lang="en-US" sz="62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0"/>
            <a:ext cx="8715375" cy="1182960"/>
          </a:xfrm>
          <a:prstGeom prst="rect">
            <a:avLst/>
          </a:prstGeom>
          <a:solidFill>
            <a:srgbClr val="000000">
              <a:alpha val="0"/>
            </a:srgbClr>
          </a:solidFill>
          <a:ln/>
        </p:spPr>
      </p:sp>
      <p:sp>
        <p:nvSpPr>
          <p:cNvPr id="5" name="Shape 1"/>
          <p:cNvSpPr/>
          <p:nvPr/>
        </p:nvSpPr>
        <p:spPr>
          <a:xfrm>
            <a:off x="428625" y="0"/>
            <a:ext cx="57150" cy="1182960"/>
          </a:xfrm>
          <a:prstGeom prst="rect">
            <a:avLst/>
          </a:prstGeom>
          <a:solidFill>
            <a:srgbClr val="FF4500"/>
          </a:solidFill>
          <a:ln/>
        </p:spPr>
      </p:sp>
      <p:sp>
        <p:nvSpPr>
          <p:cNvPr id="6" name="Text 2"/>
          <p:cNvSpPr/>
          <p:nvPr/>
        </p:nvSpPr>
        <p:spPr>
          <a:xfrm>
            <a:off x="857250" y="428625"/>
            <a:ext cx="8286750" cy="754335"/>
          </a:xfrm>
          <a:prstGeom prst="rect">
            <a:avLst/>
          </a:prstGeom>
          <a:noFill/>
          <a:ln/>
        </p:spPr>
        <p:txBody>
          <a:bodyPr wrap="square" lIns="0" tIns="0" rIns="0" bIns="0" rtlCol="0" anchor="t">
            <a:spAutoFit/>
          </a:bodyPr>
          <a:lstStyle/>
          <a:p>
            <a:pPr algn="l" indent="0" marL="0">
              <a:lnSpc>
                <a:spcPts val="3000"/>
              </a:lnSpc>
              <a:buNone/>
            </a:pPr>
            <a:r>
              <a:rPr lang="en-US" sz="2436" b="1" spc="-1" kern="0" dirty="0">
                <a:solidFill>
                  <a:srgbClr val="1A1A1A"/>
                </a:solidFill>
              </a:rPr>
              <a:t>Expertise in AI Engineering</a:t>
            </a:r>
            <a:pPr algn="l" indent="0" marL="0">
              <a:lnSpc>
                <a:spcPts val="3000"/>
              </a:lnSpc>
              <a:buNone/>
            </a:pPr>
            <a:r>
              <a:rPr lang="en-US" sz="2436" b="1" spc="-1" kern="0" dirty="0">
                <a:solidFill>
                  <a:srgbClr val="1A1A1A"/>
                </a:solidFill>
              </a:rPr>
              <a:t>
</a:t>
            </a:r>
            <a:pPr algn="l" indent="0" marL="0">
              <a:lnSpc>
                <a:spcPts val="3000"/>
              </a:lnSpc>
              <a:buNone/>
            </a:pPr>
            <a:r>
              <a:rPr lang="en-US" sz="2436" b="1" spc="-1" kern="0" dirty="0">
                <a:solidFill>
                  <a:srgbClr val="1A1A1A"/>
                </a:solidFill>
              </a:rPr>
              <a:t>and Instructional Leadership</a:t>
            </a:r>
            <a:endParaRPr lang="en-US" sz="2436" dirty="0"/>
          </a:p>
        </p:txBody>
      </p:sp>
      <p:sp>
        <p:nvSpPr>
          <p:cNvPr id="7" name="Text 3"/>
          <p:cNvSpPr/>
          <p:nvPr/>
        </p:nvSpPr>
        <p:spPr>
          <a:xfrm>
            <a:off x="857250" y="1897335"/>
            <a:ext cx="3714750" cy="135731"/>
          </a:xfrm>
          <a:prstGeom prst="rect">
            <a:avLst/>
          </a:prstGeom>
          <a:noFill/>
          <a:ln/>
        </p:spPr>
        <p:txBody>
          <a:bodyPr wrap="none" lIns="0" tIns="0" rIns="0" bIns="0" rtlCol="0" anchor="t">
            <a:spAutoFit/>
          </a:bodyPr>
          <a:lstStyle/>
          <a:p>
            <a:pPr algn="l" indent="0" marL="0">
              <a:lnSpc>
                <a:spcPts val="900"/>
              </a:lnSpc>
              <a:buNone/>
            </a:pPr>
            <a:r>
              <a:rPr lang="en-US" sz="683" b="1" spc="2" kern="0" dirty="0">
                <a:solidFill>
                  <a:srgbClr val="FF4500"/>
                </a:solidFill>
              </a:rPr>
              <a:t>Professional Background</a:t>
            </a:r>
            <a:endParaRPr lang="en-US" sz="683" dirty="0"/>
          </a:p>
        </p:txBody>
      </p:sp>
      <p:sp>
        <p:nvSpPr>
          <p:cNvPr id="8" name="Text 4"/>
          <p:cNvSpPr/>
          <p:nvPr/>
        </p:nvSpPr>
        <p:spPr>
          <a:xfrm>
            <a:off x="857250" y="2140223"/>
            <a:ext cx="3714750" cy="660016"/>
          </a:xfrm>
          <a:prstGeom prst="rect">
            <a:avLst/>
          </a:prstGeom>
          <a:noFill/>
          <a:ln/>
        </p:spPr>
        <p:txBody>
          <a:bodyPr wrap="square" lIns="0" tIns="0" rIns="0" bIns="0" rtlCol="0" anchor="t">
            <a:spAutoFit/>
          </a:bodyPr>
          <a:lstStyle/>
          <a:p>
            <a:pPr algn="l" indent="0" marL="0">
              <a:lnSpc>
                <a:spcPts val="1700"/>
              </a:lnSpc>
              <a:buNone/>
            </a:pPr>
            <a:r>
              <a:rPr lang="en-US" sz="1159" dirty="0">
                <a:solidFill>
                  <a:srgbClr val="333333"/>
                </a:solidFill>
              </a:rPr>
              <a:t>Extensive experience in AI development and system architecture, focusing on scalable enterprise solutions.</a:t>
            </a:r>
            <a:endParaRPr lang="en-US" sz="1159" dirty="0"/>
          </a:p>
        </p:txBody>
      </p:sp>
      <p:sp>
        <p:nvSpPr>
          <p:cNvPr id="9" name="Text 5"/>
          <p:cNvSpPr/>
          <p:nvPr/>
        </p:nvSpPr>
        <p:spPr>
          <a:xfrm>
            <a:off x="5000625" y="1897335"/>
            <a:ext cx="3714750" cy="135731"/>
          </a:xfrm>
          <a:prstGeom prst="rect">
            <a:avLst/>
          </a:prstGeom>
          <a:noFill/>
          <a:ln/>
        </p:spPr>
        <p:txBody>
          <a:bodyPr wrap="none" lIns="0" tIns="0" rIns="0" bIns="0" rtlCol="0" anchor="t">
            <a:spAutoFit/>
          </a:bodyPr>
          <a:lstStyle/>
          <a:p>
            <a:pPr algn="l" indent="0" marL="0">
              <a:lnSpc>
                <a:spcPts val="900"/>
              </a:lnSpc>
              <a:buNone/>
            </a:pPr>
            <a:r>
              <a:rPr lang="en-US" sz="683" b="1" spc="2" kern="0" dirty="0">
                <a:solidFill>
                  <a:srgbClr val="FF4500"/>
                </a:solidFill>
              </a:rPr>
              <a:t>Teaching Experience</a:t>
            </a:r>
            <a:endParaRPr lang="en-US" sz="683" dirty="0"/>
          </a:p>
        </p:txBody>
      </p:sp>
      <p:sp>
        <p:nvSpPr>
          <p:cNvPr id="10" name="Text 6"/>
          <p:cNvSpPr/>
          <p:nvPr/>
        </p:nvSpPr>
        <p:spPr>
          <a:xfrm>
            <a:off x="5000625" y="2140223"/>
            <a:ext cx="3714750" cy="660016"/>
          </a:xfrm>
          <a:prstGeom prst="rect">
            <a:avLst/>
          </a:prstGeom>
          <a:noFill/>
          <a:ln/>
        </p:spPr>
        <p:txBody>
          <a:bodyPr wrap="square" lIns="0" tIns="0" rIns="0" bIns="0" rtlCol="0" anchor="t">
            <a:spAutoFit/>
          </a:bodyPr>
          <a:lstStyle/>
          <a:p>
            <a:pPr algn="l" indent="0" marL="0">
              <a:lnSpc>
                <a:spcPts val="1700"/>
              </a:lnSpc>
              <a:buNone/>
            </a:pPr>
            <a:r>
              <a:rPr lang="en-US" sz="1159" dirty="0">
                <a:solidFill>
                  <a:srgbClr val="333333"/>
                </a:solidFill>
              </a:rPr>
              <a:t>Dedicated educator bridging the gap between complex AI theory and practical, real-world application.</a:t>
            </a:r>
            <a:endParaRPr lang="en-US" sz="1159" dirty="0"/>
          </a:p>
        </p:txBody>
      </p:sp>
      <p:sp>
        <p:nvSpPr>
          <p:cNvPr id="11" name="Shape 7"/>
          <p:cNvSpPr/>
          <p:nvPr/>
        </p:nvSpPr>
        <p:spPr>
          <a:xfrm>
            <a:off x="857250" y="3514613"/>
            <a:ext cx="7858125" cy="1285875"/>
          </a:xfrm>
          <a:prstGeom prst="rect">
            <a:avLst/>
          </a:prstGeom>
          <a:solidFill>
            <a:srgbClr val="1A1A1A"/>
          </a:solidFill>
          <a:ln/>
        </p:spPr>
      </p:sp>
      <p:sp>
        <p:nvSpPr>
          <p:cNvPr id="12" name="Text 8"/>
          <p:cNvSpPr/>
          <p:nvPr/>
        </p:nvSpPr>
        <p:spPr>
          <a:xfrm>
            <a:off x="1143000" y="3800363"/>
            <a:ext cx="7286625" cy="135731"/>
          </a:xfrm>
          <a:prstGeom prst="rect">
            <a:avLst/>
          </a:prstGeom>
          <a:noFill/>
          <a:ln/>
        </p:spPr>
        <p:txBody>
          <a:bodyPr wrap="none" lIns="0" tIns="0" rIns="0" bIns="0" rtlCol="0" anchor="t">
            <a:spAutoFit/>
          </a:bodyPr>
          <a:lstStyle/>
          <a:p>
            <a:pPr algn="l" indent="0" marL="0">
              <a:lnSpc>
                <a:spcPts val="900"/>
              </a:lnSpc>
              <a:buNone/>
            </a:pPr>
            <a:r>
              <a:rPr lang="en-US" sz="683" b="1" spc="2" kern="0" dirty="0">
                <a:solidFill>
                  <a:srgbClr val="FF4500"/>
                </a:solidFill>
              </a:rPr>
              <a:t>Agentic AI Expertise</a:t>
            </a:r>
            <a:endParaRPr lang="en-US" sz="683" dirty="0"/>
          </a:p>
        </p:txBody>
      </p:sp>
      <p:sp>
        <p:nvSpPr>
          <p:cNvPr id="13" name="Text 9"/>
          <p:cNvSpPr/>
          <p:nvPr/>
        </p:nvSpPr>
        <p:spPr>
          <a:xfrm>
            <a:off x="1143000" y="4043251"/>
            <a:ext cx="7286625" cy="520043"/>
          </a:xfrm>
          <a:prstGeom prst="rect">
            <a:avLst/>
          </a:prstGeom>
          <a:noFill/>
          <a:ln/>
        </p:spPr>
        <p:txBody>
          <a:bodyPr wrap="square" lIns="0" tIns="0" rIns="0" bIns="0" rtlCol="0" anchor="t">
            <a:spAutoFit/>
          </a:bodyPr>
          <a:lstStyle/>
          <a:p>
            <a:pPr algn="l" indent="0" marL="0">
              <a:lnSpc>
                <a:spcPts val="2000"/>
              </a:lnSpc>
              <a:buNone/>
            </a:pPr>
            <a:r>
              <a:rPr lang="en-US" sz="1397" b="1" dirty="0">
                <a:solidFill>
                  <a:srgbClr val="F2F2F2"/>
                </a:solidFill>
              </a:rPr>
              <a:t>Specialized in building autonomous workflows and multi-agent systems using modern frameworks to transition from reactive to proactive AI.</a:t>
            </a:r>
            <a:endParaRPr lang="en-US" sz="139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814388"/>
            <a:ext cx="4000500" cy="660071"/>
          </a:xfrm>
          <a:prstGeom prst="rect">
            <a:avLst/>
          </a:prstGeom>
          <a:noFill/>
          <a:ln/>
        </p:spPr>
        <p:txBody>
          <a:bodyPr wrap="square" lIns="0" tIns="0" rIns="0" bIns="0" rtlCol="0" anchor="t">
            <a:spAutoFit/>
          </a:bodyPr>
          <a:lstStyle/>
          <a:p>
            <a:pPr algn="l" indent="0" marL="0">
              <a:lnSpc>
                <a:spcPts val="2600"/>
              </a:lnSpc>
              <a:buNone/>
            </a:pPr>
            <a:r>
              <a:rPr lang="en-US" sz="2121" b="1" dirty="0">
                <a:solidFill>
                  <a:srgbClr val="1A1A1A"/>
                </a:solidFill>
              </a:rPr>
              <a:t>Agentic AI: The Paradigm Shift</a:t>
            </a:r>
            <a:endParaRPr lang="en-US" sz="2121" dirty="0"/>
          </a:p>
        </p:txBody>
      </p:sp>
      <p:sp>
        <p:nvSpPr>
          <p:cNvPr id="5" name="Text 1"/>
          <p:cNvSpPr/>
          <p:nvPr/>
        </p:nvSpPr>
        <p:spPr>
          <a:xfrm>
            <a:off x="571500" y="1981665"/>
            <a:ext cx="4000500" cy="135731"/>
          </a:xfrm>
          <a:prstGeom prst="rect">
            <a:avLst/>
          </a:prstGeom>
          <a:noFill/>
          <a:ln/>
        </p:spPr>
        <p:txBody>
          <a:bodyPr wrap="none" lIns="0" tIns="0" rIns="0" bIns="0" rtlCol="0" anchor="t">
            <a:spAutoFit/>
          </a:bodyPr>
          <a:lstStyle/>
          <a:p>
            <a:pPr algn="l" indent="0" marL="0">
              <a:lnSpc>
                <a:spcPts val="900"/>
              </a:lnSpc>
              <a:buNone/>
            </a:pPr>
            <a:r>
              <a:rPr lang="en-US" sz="683" b="1" spc="2" kern="0" dirty="0">
                <a:solidFill>
                  <a:srgbClr val="FF4500"/>
                </a:solidFill>
              </a:rPr>
              <a:t>Definition</a:t>
            </a:r>
            <a:endParaRPr lang="en-US" sz="683" dirty="0"/>
          </a:p>
        </p:txBody>
      </p:sp>
      <p:sp>
        <p:nvSpPr>
          <p:cNvPr id="6" name="Text 2"/>
          <p:cNvSpPr/>
          <p:nvPr/>
        </p:nvSpPr>
        <p:spPr>
          <a:xfrm>
            <a:off x="571500" y="2224553"/>
            <a:ext cx="4000500" cy="720040"/>
          </a:xfrm>
          <a:prstGeom prst="rect">
            <a:avLst/>
          </a:prstGeom>
          <a:noFill/>
          <a:ln/>
        </p:spPr>
        <p:txBody>
          <a:bodyPr wrap="square" lIns="0" tIns="0" rIns="0" bIns="0" rtlCol="0" anchor="t">
            <a:spAutoFit/>
          </a:bodyPr>
          <a:lstStyle/>
          <a:p>
            <a:pPr algn="l" indent="0" marL="0">
              <a:lnSpc>
                <a:spcPts val="1900"/>
              </a:lnSpc>
              <a:buNone/>
            </a:pPr>
            <a:r>
              <a:rPr lang="en-US" sz="1269" dirty="0">
                <a:solidFill>
                  <a:srgbClr val="333333"/>
                </a:solidFill>
              </a:rPr>
              <a:t>Proactive AI systems that plan, reason, and execute tasks autonomously to achieve specific goals.</a:t>
            </a:r>
            <a:endParaRPr lang="en-US" sz="1269" dirty="0"/>
          </a:p>
        </p:txBody>
      </p:sp>
      <p:sp>
        <p:nvSpPr>
          <p:cNvPr id="7" name="Text 3"/>
          <p:cNvSpPr/>
          <p:nvPr/>
        </p:nvSpPr>
        <p:spPr>
          <a:xfrm>
            <a:off x="571500" y="3230342"/>
            <a:ext cx="4000500" cy="135731"/>
          </a:xfrm>
          <a:prstGeom prst="rect">
            <a:avLst/>
          </a:prstGeom>
          <a:noFill/>
          <a:ln/>
        </p:spPr>
        <p:txBody>
          <a:bodyPr wrap="none" lIns="0" tIns="0" rIns="0" bIns="0" rtlCol="0" anchor="t">
            <a:spAutoFit/>
          </a:bodyPr>
          <a:lstStyle/>
          <a:p>
            <a:pPr algn="l" indent="0" marL="0">
              <a:lnSpc>
                <a:spcPts val="900"/>
              </a:lnSpc>
              <a:buNone/>
            </a:pPr>
            <a:r>
              <a:rPr lang="en-US" sz="683" b="1" spc="2" kern="0" dirty="0">
                <a:solidFill>
                  <a:srgbClr val="FF4500"/>
                </a:solidFill>
              </a:rPr>
              <a:t>Key Characteristics</a:t>
            </a:r>
            <a:endParaRPr lang="en-US" sz="683" dirty="0"/>
          </a:p>
        </p:txBody>
      </p:sp>
      <p:sp>
        <p:nvSpPr>
          <p:cNvPr id="8" name="Text 4"/>
          <p:cNvSpPr/>
          <p:nvPr/>
        </p:nvSpPr>
        <p:spPr>
          <a:xfrm>
            <a:off x="571500" y="3616105"/>
            <a:ext cx="4000500"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1A1A1A"/>
                </a:solidFill>
              </a:rPr>
              <a:t>AUTONOMY &amp; AGENCY</a:t>
            </a:r>
            <a:endParaRPr lang="en-US" sz="885" dirty="0"/>
          </a:p>
        </p:txBody>
      </p:sp>
      <p:sp>
        <p:nvSpPr>
          <p:cNvPr id="9" name="Text 5"/>
          <p:cNvSpPr/>
          <p:nvPr/>
        </p:nvSpPr>
        <p:spPr>
          <a:xfrm>
            <a:off x="571500" y="3862564"/>
            <a:ext cx="4000500"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1A1A1A"/>
                </a:solidFill>
              </a:rPr>
              <a:t>TOOL-USE CAPABILITY</a:t>
            </a:r>
            <a:endParaRPr lang="en-US" sz="885" dirty="0"/>
          </a:p>
        </p:txBody>
      </p:sp>
      <p:sp>
        <p:nvSpPr>
          <p:cNvPr id="10" name="Text 6"/>
          <p:cNvSpPr/>
          <p:nvPr/>
        </p:nvSpPr>
        <p:spPr>
          <a:xfrm>
            <a:off x="571500" y="4109024"/>
            <a:ext cx="4000500"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1A1A1A"/>
                </a:solidFill>
              </a:rPr>
              <a:t>SELF-CORRECTION</a:t>
            </a:r>
            <a:endParaRPr lang="en-US" sz="885" dirty="0"/>
          </a:p>
        </p:txBody>
      </p:sp>
      <p:sp>
        <p:nvSpPr>
          <p:cNvPr id="11" name="Text 7"/>
          <p:cNvSpPr/>
          <p:nvPr/>
        </p:nvSpPr>
        <p:spPr>
          <a:xfrm>
            <a:off x="571500" y="4355483"/>
            <a:ext cx="4000500"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1A1A1A"/>
                </a:solidFill>
              </a:rPr>
              <a:t>LONG-TERM PLANNING</a:t>
            </a:r>
            <a:endParaRPr lang="en-US" sz="885" dirty="0"/>
          </a:p>
        </p:txBody>
      </p:sp>
      <p:pic>
        <p:nvPicPr>
          <p:cNvPr id="12" name="Image 1" descr="preencoded.png">    </p:cNvPr>
          <p:cNvPicPr>
            <a:picLocks noChangeAspect="1"/>
          </p:cNvPicPr>
          <p:nvPr/>
        </p:nvPicPr>
        <p:blipFill>
          <a:blip r:embed="rId2"/>
          <a:stretch>
            <a:fillRect/>
          </a:stretch>
        </p:blipFill>
        <p:spPr>
          <a:xfrm>
            <a:off x="4893469" y="857250"/>
            <a:ext cx="3929063" cy="2857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428625"/>
            <a:ext cx="4714875" cy="660071"/>
          </a:xfrm>
          <a:prstGeom prst="rect">
            <a:avLst/>
          </a:prstGeom>
          <a:noFill/>
          <a:ln/>
        </p:spPr>
        <p:txBody>
          <a:bodyPr wrap="square" lIns="212598" tIns="0" rIns="0" bIns="0" rtlCol="0" anchor="t">
            <a:spAutoFit/>
          </a:bodyPr>
          <a:lstStyle/>
          <a:p>
            <a:pPr algn="l" indent="0" marL="0">
              <a:lnSpc>
                <a:spcPts val="2600"/>
              </a:lnSpc>
              <a:buNone/>
            </a:pPr>
            <a:r>
              <a:rPr lang="en-US" sz="2121" b="1" spc="-1" kern="0" dirty="0">
                <a:solidFill>
                  <a:srgbClr val="1A1A1A"/>
                </a:solidFill>
              </a:rPr>
              <a:t>Proactive Agency vs.</a:t>
            </a:r>
            <a:pPr algn="l" indent="0" marL="0">
              <a:lnSpc>
                <a:spcPts val="2600"/>
              </a:lnSpc>
              <a:buNone/>
            </a:pPr>
            <a:r>
              <a:rPr lang="en-US" sz="2121" b="1" spc="-1" kern="0" dirty="0">
                <a:solidFill>
                  <a:srgbClr val="1A1A1A"/>
                </a:solidFill>
              </a:rPr>
              <a:t>
</a:t>
            </a:r>
            <a:pPr algn="l" indent="0" marL="0">
              <a:lnSpc>
                <a:spcPts val="2600"/>
              </a:lnSpc>
              <a:buNone/>
            </a:pPr>
            <a:r>
              <a:rPr lang="en-US" sz="2121" b="1" spc="-1" kern="0" dirty="0">
                <a:solidFill>
                  <a:srgbClr val="1A1A1A"/>
                </a:solidFill>
              </a:rPr>
              <a:t>Reactive Generation</a:t>
            </a:r>
            <a:endParaRPr lang="en-US" sz="2121" dirty="0"/>
          </a:p>
        </p:txBody>
      </p:sp>
      <p:sp>
        <p:nvSpPr>
          <p:cNvPr id="5" name="Text 1"/>
          <p:cNvSpPr/>
          <p:nvPr/>
        </p:nvSpPr>
        <p:spPr>
          <a:xfrm>
            <a:off x="428625" y="1517321"/>
            <a:ext cx="1088027" cy="285750"/>
          </a:xfrm>
          <a:prstGeom prst="rect">
            <a:avLst/>
          </a:prstGeom>
          <a:noFill/>
          <a:ln/>
        </p:spPr>
        <p:txBody>
          <a:bodyPr wrap="square" lIns="0" tIns="170053" rIns="0" bIns="0" rtlCol="0" anchor="ctr">
            <a:spAutoFit/>
          </a:bodyPr>
          <a:lstStyle/>
          <a:p>
            <a:pPr algn="l" indent="0" marL="0">
              <a:lnSpc>
                <a:spcPts val="900"/>
              </a:lnSpc>
              <a:buNone/>
            </a:pPr>
            <a:r>
              <a:rPr lang="en-US" sz="683" b="1" spc="2" kern="0" dirty="0">
                <a:solidFill>
                  <a:srgbClr val="FF4500"/>
                </a:solidFill>
              </a:rPr>
              <a:t>Feature</a:t>
            </a:r>
            <a:endParaRPr lang="en-US" sz="683" dirty="0"/>
          </a:p>
        </p:txBody>
      </p:sp>
      <p:sp>
        <p:nvSpPr>
          <p:cNvPr id="6" name="Text 2"/>
          <p:cNvSpPr/>
          <p:nvPr/>
        </p:nvSpPr>
        <p:spPr>
          <a:xfrm>
            <a:off x="1516652" y="1517321"/>
            <a:ext cx="1813396" cy="285750"/>
          </a:xfrm>
          <a:prstGeom prst="rect">
            <a:avLst/>
          </a:prstGeom>
          <a:noFill/>
          <a:ln/>
        </p:spPr>
        <p:txBody>
          <a:bodyPr wrap="square" lIns="0" tIns="170053" rIns="0" bIns="0" rtlCol="0" anchor="ctr">
            <a:spAutoFit/>
          </a:bodyPr>
          <a:lstStyle/>
          <a:p>
            <a:pPr algn="l" indent="0" marL="0">
              <a:lnSpc>
                <a:spcPts val="900"/>
              </a:lnSpc>
              <a:buNone/>
            </a:pPr>
            <a:r>
              <a:rPr lang="en-US" sz="683" b="1" spc="2" kern="0" dirty="0">
                <a:solidFill>
                  <a:srgbClr val="FF4500"/>
                </a:solidFill>
              </a:rPr>
              <a:t>Generative AI</a:t>
            </a:r>
            <a:endParaRPr lang="en-US" sz="683" dirty="0"/>
          </a:p>
        </p:txBody>
      </p:sp>
      <p:sp>
        <p:nvSpPr>
          <p:cNvPr id="7" name="Text 3"/>
          <p:cNvSpPr/>
          <p:nvPr/>
        </p:nvSpPr>
        <p:spPr>
          <a:xfrm>
            <a:off x="3330048" y="1517321"/>
            <a:ext cx="1813452" cy="285750"/>
          </a:xfrm>
          <a:prstGeom prst="rect">
            <a:avLst/>
          </a:prstGeom>
          <a:noFill/>
          <a:ln/>
        </p:spPr>
        <p:txBody>
          <a:bodyPr wrap="square" lIns="0" tIns="170053" rIns="0" bIns="0" rtlCol="0" anchor="ctr">
            <a:spAutoFit/>
          </a:bodyPr>
          <a:lstStyle/>
          <a:p>
            <a:pPr algn="l" indent="0" marL="0">
              <a:lnSpc>
                <a:spcPts val="900"/>
              </a:lnSpc>
              <a:buNone/>
            </a:pPr>
            <a:r>
              <a:rPr lang="en-US" sz="683" b="1" spc="2" kern="0" dirty="0">
                <a:solidFill>
                  <a:srgbClr val="FF4500"/>
                </a:solidFill>
              </a:rPr>
              <a:t>Agentic AI</a:t>
            </a:r>
            <a:endParaRPr lang="en-US" sz="683" dirty="0"/>
          </a:p>
        </p:txBody>
      </p:sp>
      <p:sp>
        <p:nvSpPr>
          <p:cNvPr id="8" name="Text 4"/>
          <p:cNvSpPr/>
          <p:nvPr/>
        </p:nvSpPr>
        <p:spPr>
          <a:xfrm>
            <a:off x="428625" y="1803071"/>
            <a:ext cx="1088027" cy="364331"/>
          </a:xfrm>
          <a:prstGeom prst="rect">
            <a:avLst/>
          </a:prstGeom>
          <a:noFill/>
          <a:ln/>
        </p:spPr>
        <p:txBody>
          <a:bodyPr wrap="square" lIns="0" tIns="212598" rIns="0" bIns="0" rtlCol="0" anchor="ctr">
            <a:spAutoFit/>
          </a:bodyPr>
          <a:lstStyle/>
          <a:p>
            <a:pPr algn="l" indent="0" marL="0">
              <a:lnSpc>
                <a:spcPts val="1200"/>
              </a:lnSpc>
              <a:buNone/>
            </a:pPr>
            <a:r>
              <a:rPr lang="en-US" sz="885" b="1" dirty="0">
                <a:solidFill>
                  <a:srgbClr val="333333"/>
                </a:solidFill>
              </a:rPr>
              <a:t>Nature</a:t>
            </a:r>
            <a:endParaRPr lang="en-US" sz="885" dirty="0"/>
          </a:p>
        </p:txBody>
      </p:sp>
      <p:sp>
        <p:nvSpPr>
          <p:cNvPr id="9" name="Text 5"/>
          <p:cNvSpPr/>
          <p:nvPr/>
        </p:nvSpPr>
        <p:spPr>
          <a:xfrm>
            <a:off x="1516652" y="1803071"/>
            <a:ext cx="1813396" cy="364331"/>
          </a:xfrm>
          <a:prstGeom prst="rect">
            <a:avLst/>
          </a:prstGeom>
          <a:noFill/>
          <a:ln/>
        </p:spPr>
        <p:txBody>
          <a:bodyPr wrap="square" lIns="0" tIns="212598" rIns="0" bIns="0" rtlCol="0" anchor="ctr">
            <a:spAutoFit/>
          </a:bodyPr>
          <a:lstStyle/>
          <a:p>
            <a:pPr algn="l" indent="0" marL="0">
              <a:lnSpc>
                <a:spcPts val="1200"/>
              </a:lnSpc>
              <a:buNone/>
            </a:pPr>
            <a:r>
              <a:rPr lang="en-US" sz="942" dirty="0">
                <a:solidFill>
                  <a:srgbClr val="333333"/>
                </a:solidFill>
              </a:rPr>
              <a:t>Reactive</a:t>
            </a:r>
            <a:endParaRPr lang="en-US" sz="942" dirty="0"/>
          </a:p>
        </p:txBody>
      </p:sp>
      <p:sp>
        <p:nvSpPr>
          <p:cNvPr id="10" name="Text 6"/>
          <p:cNvSpPr/>
          <p:nvPr/>
        </p:nvSpPr>
        <p:spPr>
          <a:xfrm>
            <a:off x="3330048" y="1803071"/>
            <a:ext cx="1813452" cy="364331"/>
          </a:xfrm>
          <a:prstGeom prst="rect">
            <a:avLst/>
          </a:prstGeom>
          <a:noFill/>
          <a:ln/>
        </p:spPr>
        <p:txBody>
          <a:bodyPr wrap="square" lIns="0" tIns="212598" rIns="0" bIns="0" rtlCol="0" anchor="ctr">
            <a:spAutoFit/>
          </a:bodyPr>
          <a:lstStyle/>
          <a:p>
            <a:pPr algn="l" indent="0" marL="0">
              <a:lnSpc>
                <a:spcPts val="1200"/>
              </a:lnSpc>
              <a:buNone/>
            </a:pPr>
            <a:r>
              <a:rPr lang="en-US" sz="942" dirty="0">
                <a:solidFill>
                  <a:srgbClr val="333333"/>
                </a:solidFill>
              </a:rPr>
              <a:t>Proactive</a:t>
            </a:r>
            <a:endParaRPr lang="en-US" sz="942" dirty="0"/>
          </a:p>
        </p:txBody>
      </p:sp>
      <p:sp>
        <p:nvSpPr>
          <p:cNvPr id="11" name="Text 7"/>
          <p:cNvSpPr/>
          <p:nvPr/>
        </p:nvSpPr>
        <p:spPr>
          <a:xfrm>
            <a:off x="428625" y="2167403"/>
            <a:ext cx="1088027" cy="360759"/>
          </a:xfrm>
          <a:prstGeom prst="rect">
            <a:avLst/>
          </a:prstGeom>
          <a:noFill/>
          <a:ln/>
        </p:spPr>
        <p:txBody>
          <a:bodyPr wrap="square" lIns="0" tIns="212598" rIns="0" bIns="0" rtlCol="0" anchor="ctr">
            <a:spAutoFit/>
          </a:bodyPr>
          <a:lstStyle/>
          <a:p>
            <a:pPr algn="l" indent="0" marL="0">
              <a:lnSpc>
                <a:spcPts val="1200"/>
              </a:lnSpc>
              <a:buNone/>
            </a:pPr>
            <a:r>
              <a:rPr lang="en-US" sz="885" b="1" dirty="0">
                <a:solidFill>
                  <a:srgbClr val="333333"/>
                </a:solidFill>
              </a:rPr>
              <a:t>Focus</a:t>
            </a:r>
            <a:endParaRPr lang="en-US" sz="885" dirty="0"/>
          </a:p>
        </p:txBody>
      </p:sp>
      <p:sp>
        <p:nvSpPr>
          <p:cNvPr id="12" name="Text 8"/>
          <p:cNvSpPr/>
          <p:nvPr/>
        </p:nvSpPr>
        <p:spPr>
          <a:xfrm>
            <a:off x="1516652" y="2167403"/>
            <a:ext cx="1813396" cy="360759"/>
          </a:xfrm>
          <a:prstGeom prst="rect">
            <a:avLst/>
          </a:prstGeom>
          <a:noFill/>
          <a:ln/>
        </p:spPr>
        <p:txBody>
          <a:bodyPr wrap="square" lIns="0" tIns="212598" rIns="0" bIns="0" rtlCol="0" anchor="ctr">
            <a:spAutoFit/>
          </a:bodyPr>
          <a:lstStyle/>
          <a:p>
            <a:pPr algn="l" indent="0" marL="0">
              <a:lnSpc>
                <a:spcPts val="1200"/>
              </a:lnSpc>
              <a:buNone/>
            </a:pPr>
            <a:r>
              <a:rPr lang="en-US" sz="942" dirty="0">
                <a:solidFill>
                  <a:srgbClr val="333333"/>
                </a:solidFill>
              </a:rPr>
              <a:t>Content Creation</a:t>
            </a:r>
            <a:endParaRPr lang="en-US" sz="942" dirty="0"/>
          </a:p>
        </p:txBody>
      </p:sp>
      <p:sp>
        <p:nvSpPr>
          <p:cNvPr id="13" name="Text 9"/>
          <p:cNvSpPr/>
          <p:nvPr/>
        </p:nvSpPr>
        <p:spPr>
          <a:xfrm>
            <a:off x="3330048" y="2167403"/>
            <a:ext cx="1813452" cy="360759"/>
          </a:xfrm>
          <a:prstGeom prst="rect">
            <a:avLst/>
          </a:prstGeom>
          <a:noFill/>
          <a:ln/>
        </p:spPr>
        <p:txBody>
          <a:bodyPr wrap="square" lIns="0" tIns="212598" rIns="0" bIns="0" rtlCol="0" anchor="ctr">
            <a:spAutoFit/>
          </a:bodyPr>
          <a:lstStyle/>
          <a:p>
            <a:pPr algn="l" indent="0" marL="0">
              <a:lnSpc>
                <a:spcPts val="1200"/>
              </a:lnSpc>
              <a:buNone/>
            </a:pPr>
            <a:r>
              <a:rPr lang="en-US" sz="942" dirty="0">
                <a:solidFill>
                  <a:srgbClr val="333333"/>
                </a:solidFill>
              </a:rPr>
              <a:t>Task Execution</a:t>
            </a:r>
            <a:endParaRPr lang="en-US" sz="942" dirty="0"/>
          </a:p>
        </p:txBody>
      </p:sp>
      <p:sp>
        <p:nvSpPr>
          <p:cNvPr id="14" name="Text 10"/>
          <p:cNvSpPr/>
          <p:nvPr/>
        </p:nvSpPr>
        <p:spPr>
          <a:xfrm>
            <a:off x="428625" y="2528162"/>
            <a:ext cx="1088027" cy="360759"/>
          </a:xfrm>
          <a:prstGeom prst="rect">
            <a:avLst/>
          </a:prstGeom>
          <a:noFill/>
          <a:ln/>
        </p:spPr>
        <p:txBody>
          <a:bodyPr wrap="square" lIns="0" tIns="212598" rIns="0" bIns="0" rtlCol="0" anchor="ctr">
            <a:spAutoFit/>
          </a:bodyPr>
          <a:lstStyle/>
          <a:p>
            <a:pPr algn="l" indent="0" marL="0">
              <a:lnSpc>
                <a:spcPts val="1200"/>
              </a:lnSpc>
              <a:buNone/>
            </a:pPr>
            <a:r>
              <a:rPr lang="en-US" sz="885" b="1" dirty="0">
                <a:solidFill>
                  <a:srgbClr val="333333"/>
                </a:solidFill>
              </a:rPr>
              <a:t>Workflow</a:t>
            </a:r>
            <a:endParaRPr lang="en-US" sz="885" dirty="0"/>
          </a:p>
        </p:txBody>
      </p:sp>
      <p:sp>
        <p:nvSpPr>
          <p:cNvPr id="15" name="Text 11"/>
          <p:cNvSpPr/>
          <p:nvPr/>
        </p:nvSpPr>
        <p:spPr>
          <a:xfrm>
            <a:off x="1516652" y="2528162"/>
            <a:ext cx="1813396" cy="360759"/>
          </a:xfrm>
          <a:prstGeom prst="rect">
            <a:avLst/>
          </a:prstGeom>
          <a:noFill/>
          <a:ln/>
        </p:spPr>
        <p:txBody>
          <a:bodyPr wrap="square" lIns="0" tIns="212598" rIns="0" bIns="0" rtlCol="0" anchor="ctr">
            <a:spAutoFit/>
          </a:bodyPr>
          <a:lstStyle/>
          <a:p>
            <a:pPr algn="l" indent="0" marL="0">
              <a:lnSpc>
                <a:spcPts val="1200"/>
              </a:lnSpc>
              <a:buNone/>
            </a:pPr>
            <a:r>
              <a:rPr lang="en-US" sz="942" dirty="0">
                <a:solidFill>
                  <a:srgbClr val="333333"/>
                </a:solidFill>
              </a:rPr>
              <a:t>Single-step</a:t>
            </a:r>
            <a:endParaRPr lang="en-US" sz="942" dirty="0"/>
          </a:p>
        </p:txBody>
      </p:sp>
      <p:sp>
        <p:nvSpPr>
          <p:cNvPr id="16" name="Text 12"/>
          <p:cNvSpPr/>
          <p:nvPr/>
        </p:nvSpPr>
        <p:spPr>
          <a:xfrm>
            <a:off x="3330048" y="2528162"/>
            <a:ext cx="1813452" cy="360759"/>
          </a:xfrm>
          <a:prstGeom prst="rect">
            <a:avLst/>
          </a:prstGeom>
          <a:noFill/>
          <a:ln/>
        </p:spPr>
        <p:txBody>
          <a:bodyPr wrap="square" lIns="0" tIns="212598" rIns="0" bIns="0" rtlCol="0" anchor="ctr">
            <a:spAutoFit/>
          </a:bodyPr>
          <a:lstStyle/>
          <a:p>
            <a:pPr algn="l" indent="0" marL="0">
              <a:lnSpc>
                <a:spcPts val="1200"/>
              </a:lnSpc>
              <a:buNone/>
            </a:pPr>
            <a:r>
              <a:rPr lang="en-US" sz="942" dirty="0">
                <a:solidFill>
                  <a:srgbClr val="333333"/>
                </a:solidFill>
              </a:rPr>
              <a:t>Multi-step / Iterative</a:t>
            </a:r>
            <a:endParaRPr lang="en-US" sz="942" dirty="0"/>
          </a:p>
        </p:txBody>
      </p:sp>
      <p:sp>
        <p:nvSpPr>
          <p:cNvPr id="17" name="Text 13"/>
          <p:cNvSpPr/>
          <p:nvPr/>
        </p:nvSpPr>
        <p:spPr>
          <a:xfrm>
            <a:off x="428625" y="2888921"/>
            <a:ext cx="1088027" cy="360759"/>
          </a:xfrm>
          <a:prstGeom prst="rect">
            <a:avLst/>
          </a:prstGeom>
          <a:noFill/>
          <a:ln/>
        </p:spPr>
        <p:txBody>
          <a:bodyPr wrap="square" lIns="0" tIns="212598" rIns="0" bIns="0" rtlCol="0" anchor="ctr">
            <a:spAutoFit/>
          </a:bodyPr>
          <a:lstStyle/>
          <a:p>
            <a:pPr algn="l" indent="0" marL="0">
              <a:lnSpc>
                <a:spcPts val="1200"/>
              </a:lnSpc>
              <a:buNone/>
            </a:pPr>
            <a:r>
              <a:rPr lang="en-US" sz="885" b="1" dirty="0">
                <a:solidFill>
                  <a:srgbClr val="333333"/>
                </a:solidFill>
              </a:rPr>
              <a:t>Tools</a:t>
            </a:r>
            <a:endParaRPr lang="en-US" sz="885" dirty="0"/>
          </a:p>
        </p:txBody>
      </p:sp>
      <p:sp>
        <p:nvSpPr>
          <p:cNvPr id="18" name="Text 14"/>
          <p:cNvSpPr/>
          <p:nvPr/>
        </p:nvSpPr>
        <p:spPr>
          <a:xfrm>
            <a:off x="1516652" y="2888921"/>
            <a:ext cx="1813396" cy="360759"/>
          </a:xfrm>
          <a:prstGeom prst="rect">
            <a:avLst/>
          </a:prstGeom>
          <a:noFill/>
          <a:ln/>
        </p:spPr>
        <p:txBody>
          <a:bodyPr wrap="square" lIns="0" tIns="212598" rIns="0" bIns="0" rtlCol="0" anchor="ctr">
            <a:spAutoFit/>
          </a:bodyPr>
          <a:lstStyle/>
          <a:p>
            <a:pPr algn="l" indent="0" marL="0">
              <a:lnSpc>
                <a:spcPts val="1200"/>
              </a:lnSpc>
              <a:buNone/>
            </a:pPr>
            <a:r>
              <a:rPr lang="en-US" sz="942" dirty="0">
                <a:solidFill>
                  <a:srgbClr val="333333"/>
                </a:solidFill>
              </a:rPr>
              <a:t>Internal Knowledge</a:t>
            </a:r>
            <a:endParaRPr lang="en-US" sz="942" dirty="0"/>
          </a:p>
        </p:txBody>
      </p:sp>
      <p:sp>
        <p:nvSpPr>
          <p:cNvPr id="19" name="Text 15"/>
          <p:cNvSpPr/>
          <p:nvPr/>
        </p:nvSpPr>
        <p:spPr>
          <a:xfrm>
            <a:off x="3330048" y="2888921"/>
            <a:ext cx="1813452" cy="360759"/>
          </a:xfrm>
          <a:prstGeom prst="rect">
            <a:avLst/>
          </a:prstGeom>
          <a:noFill/>
          <a:ln/>
        </p:spPr>
        <p:txBody>
          <a:bodyPr wrap="square" lIns="0" tIns="212598" rIns="0" bIns="0" rtlCol="0" anchor="ctr">
            <a:spAutoFit/>
          </a:bodyPr>
          <a:lstStyle/>
          <a:p>
            <a:pPr algn="l" indent="0" marL="0">
              <a:lnSpc>
                <a:spcPts val="1200"/>
              </a:lnSpc>
              <a:buNone/>
            </a:pPr>
            <a:r>
              <a:rPr lang="en-US" sz="942" dirty="0">
                <a:solidFill>
                  <a:srgbClr val="333333"/>
                </a:solidFill>
              </a:rPr>
              <a:t>External APIs &amp; Tools</a:t>
            </a:r>
            <a:endParaRPr lang="en-US" sz="942" dirty="0"/>
          </a:p>
        </p:txBody>
      </p:sp>
      <p:sp>
        <p:nvSpPr>
          <p:cNvPr id="20" name="Shape 16"/>
          <p:cNvSpPr/>
          <p:nvPr/>
        </p:nvSpPr>
        <p:spPr>
          <a:xfrm>
            <a:off x="5429250" y="1000125"/>
            <a:ext cx="3429000" cy="2286000"/>
          </a:xfrm>
          <a:prstGeom prst="rect">
            <a:avLst/>
          </a:prstGeom>
          <a:solidFill>
            <a:srgbClr val="FFFFFF"/>
          </a:solidFill>
          <a:ln w="9144">
            <a:solidFill>
              <a:srgbClr val="1A1A1A"/>
            </a:solidFill>
            <a:prstDash val="solid"/>
          </a:ln>
        </p:spPr>
      </p:sp>
      <p:pic>
        <p:nvPicPr>
          <p:cNvPr id="21" name="Image 1" descr="preencoded.png">    </p:cNvPr>
          <p:cNvPicPr>
            <a:picLocks noChangeAspect="1"/>
          </p:cNvPicPr>
          <p:nvPr/>
        </p:nvPicPr>
        <p:blipFill>
          <a:blip r:embed="rId2"/>
          <a:stretch>
            <a:fillRect/>
          </a:stretch>
        </p:blipFill>
        <p:spPr>
          <a:xfrm>
            <a:off x="5500688" y="1071563"/>
            <a:ext cx="3286125" cy="2143125"/>
          </a:xfrm>
          <a:prstGeom prst="rect">
            <a:avLst/>
          </a:prstGeom>
        </p:spPr>
      </p:pic>
      <p:sp>
        <p:nvSpPr>
          <p:cNvPr id="22" name="Text 17"/>
          <p:cNvSpPr/>
          <p:nvPr/>
        </p:nvSpPr>
        <p:spPr>
          <a:xfrm>
            <a:off x="6165670" y="3429000"/>
            <a:ext cx="1956132" cy="135731"/>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1A1A1A"/>
                </a:solidFill>
              </a:rPr>
              <a:t>Visualizing the Paradigm Shift</a:t>
            </a:r>
            <a:endParaRPr lang="en-US" sz="683"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4114800" cy="5143500"/>
          </a:xfrm>
          <a:prstGeom prst="rect">
            <a:avLst/>
          </a:prstGeom>
          <a:solidFill>
            <a:srgbClr val="000000">
              <a:alpha val="0"/>
            </a:srgbClr>
          </a:solidFill>
          <a:ln/>
        </p:spPr>
      </p:sp>
      <p:sp>
        <p:nvSpPr>
          <p:cNvPr id="5" name="Shape 1"/>
          <p:cNvSpPr/>
          <p:nvPr/>
        </p:nvSpPr>
        <p:spPr>
          <a:xfrm>
            <a:off x="4107656" y="0"/>
            <a:ext cx="7144" cy="5143500"/>
          </a:xfrm>
          <a:prstGeom prst="rect">
            <a:avLst/>
          </a:prstGeom>
          <a:solidFill>
            <a:srgbClr val="1A1A1A"/>
          </a:solidFill>
          <a:ln/>
        </p:spPr>
      </p:sp>
      <p:sp>
        <p:nvSpPr>
          <p:cNvPr id="6" name="Text 2"/>
          <p:cNvSpPr/>
          <p:nvPr/>
        </p:nvSpPr>
        <p:spPr>
          <a:xfrm>
            <a:off x="428625" y="428625"/>
            <a:ext cx="3686175" cy="597173"/>
          </a:xfrm>
          <a:prstGeom prst="rect">
            <a:avLst/>
          </a:prstGeom>
          <a:noFill/>
          <a:ln/>
        </p:spPr>
        <p:txBody>
          <a:bodyPr wrap="square" lIns="0" tIns="0" rIns="0" bIns="0" rtlCol="0" anchor="t">
            <a:spAutoFit/>
          </a:bodyPr>
          <a:lstStyle/>
          <a:p>
            <a:pPr algn="l" indent="0" marL="0">
              <a:lnSpc>
                <a:spcPts val="2400"/>
              </a:lnSpc>
              <a:buNone/>
            </a:pPr>
            <a:r>
              <a:rPr lang="en-US" sz="1912" b="1" spc="-1" kern="0" dirty="0">
                <a:solidFill>
                  <a:srgbClr val="1A1A1A"/>
                </a:solidFill>
              </a:rPr>
              <a:t>Evolution of</a:t>
            </a:r>
            <a:pPr algn="l" indent="0" marL="0">
              <a:lnSpc>
                <a:spcPts val="2400"/>
              </a:lnSpc>
              <a:buNone/>
            </a:pPr>
            <a:r>
              <a:rPr lang="en-US" sz="1912" b="1" spc="-1" kern="0" dirty="0">
                <a:solidFill>
                  <a:srgbClr val="1A1A1A"/>
                </a:solidFill>
              </a:rPr>
              <a:t>
</a:t>
            </a:r>
            <a:pPr algn="l" indent="0" marL="0">
              <a:lnSpc>
                <a:spcPts val="2400"/>
              </a:lnSpc>
              <a:buNone/>
            </a:pPr>
            <a:r>
              <a:rPr lang="en-US" sz="1912" b="1" spc="-1" kern="0" dirty="0">
                <a:solidFill>
                  <a:srgbClr val="1A1A1A"/>
                </a:solidFill>
              </a:rPr>
              <a:t>AI Agency</a:t>
            </a:r>
            <a:endParaRPr lang="en-US" sz="1912" dirty="0"/>
          </a:p>
        </p:txBody>
      </p:sp>
      <p:sp>
        <p:nvSpPr>
          <p:cNvPr id="7" name="Text 3"/>
          <p:cNvSpPr/>
          <p:nvPr/>
        </p:nvSpPr>
        <p:spPr>
          <a:xfrm>
            <a:off x="428625" y="1382985"/>
            <a:ext cx="3686175"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FF4500"/>
                </a:solidFill>
              </a:rPr>
              <a:t>Level 01</a:t>
            </a:r>
            <a:endParaRPr lang="en-US" sz="584" dirty="0"/>
          </a:p>
        </p:txBody>
      </p:sp>
      <p:sp>
        <p:nvSpPr>
          <p:cNvPr id="8" name="Text 4"/>
          <p:cNvSpPr/>
          <p:nvPr/>
        </p:nvSpPr>
        <p:spPr>
          <a:xfrm>
            <a:off x="428625" y="1534790"/>
            <a:ext cx="3686175"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1A1A"/>
                </a:solidFill>
              </a:rPr>
              <a:t>Simple Reflex Agents</a:t>
            </a:r>
            <a:endParaRPr lang="en-US" sz="1090" dirty="0"/>
          </a:p>
        </p:txBody>
      </p:sp>
      <p:sp>
        <p:nvSpPr>
          <p:cNvPr id="9" name="Text 5"/>
          <p:cNvSpPr/>
          <p:nvPr/>
        </p:nvSpPr>
        <p:spPr>
          <a:xfrm>
            <a:off x="428625" y="1784821"/>
            <a:ext cx="3686175" cy="160009"/>
          </a:xfrm>
          <a:prstGeom prst="rect">
            <a:avLst/>
          </a:prstGeom>
          <a:noFill/>
          <a:ln/>
        </p:spPr>
        <p:txBody>
          <a:bodyPr wrap="none" lIns="0" tIns="0" rIns="0" bIns="0" rtlCol="0" anchor="t">
            <a:spAutoFit/>
          </a:bodyPr>
          <a:lstStyle/>
          <a:p>
            <a:pPr algn="l" indent="0" marL="0">
              <a:lnSpc>
                <a:spcPts val="1300"/>
              </a:lnSpc>
              <a:buNone/>
            </a:pPr>
            <a:r>
              <a:rPr lang="en-US" sz="834" dirty="0">
                <a:solidFill>
                  <a:srgbClr val="333333"/>
                </a:solidFill>
              </a:rPr>
              <a:t>Immediate actions based on current perceptions without memory.</a:t>
            </a:r>
            <a:endParaRPr lang="en-US" sz="834" dirty="0"/>
          </a:p>
        </p:txBody>
      </p:sp>
      <p:sp>
        <p:nvSpPr>
          <p:cNvPr id="10" name="Text 6"/>
          <p:cNvSpPr/>
          <p:nvPr/>
        </p:nvSpPr>
        <p:spPr>
          <a:xfrm>
            <a:off x="428625" y="2159143"/>
            <a:ext cx="3686175"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FF4500"/>
                </a:solidFill>
              </a:rPr>
              <a:t>Level 02</a:t>
            </a:r>
            <a:endParaRPr lang="en-US" sz="584" dirty="0"/>
          </a:p>
        </p:txBody>
      </p:sp>
      <p:sp>
        <p:nvSpPr>
          <p:cNvPr id="11" name="Text 7"/>
          <p:cNvSpPr/>
          <p:nvPr/>
        </p:nvSpPr>
        <p:spPr>
          <a:xfrm>
            <a:off x="428625" y="2310947"/>
            <a:ext cx="3686175"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1A1A"/>
                </a:solidFill>
              </a:rPr>
              <a:t>Model-based Agents</a:t>
            </a:r>
            <a:endParaRPr lang="en-US" sz="1090" dirty="0"/>
          </a:p>
        </p:txBody>
      </p:sp>
      <p:sp>
        <p:nvSpPr>
          <p:cNvPr id="12" name="Text 8"/>
          <p:cNvSpPr/>
          <p:nvPr/>
        </p:nvSpPr>
        <p:spPr>
          <a:xfrm>
            <a:off x="428625" y="2560979"/>
            <a:ext cx="3686175" cy="160009"/>
          </a:xfrm>
          <a:prstGeom prst="rect">
            <a:avLst/>
          </a:prstGeom>
          <a:noFill/>
          <a:ln/>
        </p:spPr>
        <p:txBody>
          <a:bodyPr wrap="none" lIns="0" tIns="0" rIns="0" bIns="0" rtlCol="0" anchor="t">
            <a:spAutoFit/>
          </a:bodyPr>
          <a:lstStyle/>
          <a:p>
            <a:pPr algn="l" indent="0" marL="0">
              <a:lnSpc>
                <a:spcPts val="1300"/>
              </a:lnSpc>
              <a:buNone/>
            </a:pPr>
            <a:r>
              <a:rPr lang="en-US" sz="834" dirty="0">
                <a:solidFill>
                  <a:srgbClr val="333333"/>
                </a:solidFill>
              </a:rPr>
              <a:t>Maintains internal state to track changes in the environment.</a:t>
            </a:r>
            <a:endParaRPr lang="en-US" sz="834" dirty="0"/>
          </a:p>
        </p:txBody>
      </p:sp>
      <p:sp>
        <p:nvSpPr>
          <p:cNvPr id="13" name="Text 9"/>
          <p:cNvSpPr/>
          <p:nvPr/>
        </p:nvSpPr>
        <p:spPr>
          <a:xfrm>
            <a:off x="428625" y="2935300"/>
            <a:ext cx="3686175"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FF4500"/>
                </a:solidFill>
              </a:rPr>
              <a:t>Level 03</a:t>
            </a:r>
            <a:endParaRPr lang="en-US" sz="584" dirty="0"/>
          </a:p>
        </p:txBody>
      </p:sp>
      <p:sp>
        <p:nvSpPr>
          <p:cNvPr id="14" name="Text 10"/>
          <p:cNvSpPr/>
          <p:nvPr/>
        </p:nvSpPr>
        <p:spPr>
          <a:xfrm>
            <a:off x="428625" y="3087105"/>
            <a:ext cx="3686175"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1A1A"/>
                </a:solidFill>
              </a:rPr>
              <a:t>Goal &amp; Utility Agents</a:t>
            </a:r>
            <a:endParaRPr lang="en-US" sz="1090" dirty="0"/>
          </a:p>
        </p:txBody>
      </p:sp>
      <p:sp>
        <p:nvSpPr>
          <p:cNvPr id="15" name="Text 11"/>
          <p:cNvSpPr/>
          <p:nvPr/>
        </p:nvSpPr>
        <p:spPr>
          <a:xfrm>
            <a:off x="428625" y="3337136"/>
            <a:ext cx="3686175" cy="160009"/>
          </a:xfrm>
          <a:prstGeom prst="rect">
            <a:avLst/>
          </a:prstGeom>
          <a:noFill/>
          <a:ln/>
        </p:spPr>
        <p:txBody>
          <a:bodyPr wrap="none" lIns="0" tIns="0" rIns="0" bIns="0" rtlCol="0" anchor="t">
            <a:spAutoFit/>
          </a:bodyPr>
          <a:lstStyle/>
          <a:p>
            <a:pPr algn="l" indent="0" marL="0">
              <a:lnSpc>
                <a:spcPts val="1300"/>
              </a:lnSpc>
              <a:buNone/>
            </a:pPr>
            <a:r>
              <a:rPr lang="en-US" sz="834" dirty="0">
                <a:solidFill>
                  <a:srgbClr val="333333"/>
                </a:solidFill>
              </a:rPr>
              <a:t>Actions driven by specific objectives and outcome optimization.</a:t>
            </a:r>
            <a:endParaRPr lang="en-US" sz="834" dirty="0"/>
          </a:p>
        </p:txBody>
      </p:sp>
      <p:sp>
        <p:nvSpPr>
          <p:cNvPr id="16" name="Text 12"/>
          <p:cNvSpPr/>
          <p:nvPr/>
        </p:nvSpPr>
        <p:spPr>
          <a:xfrm>
            <a:off x="428625" y="3711457"/>
            <a:ext cx="3686175"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FF4500"/>
                </a:solidFill>
              </a:rPr>
              <a:t>Level 04</a:t>
            </a:r>
            <a:endParaRPr lang="en-US" sz="584" dirty="0"/>
          </a:p>
        </p:txBody>
      </p:sp>
      <p:sp>
        <p:nvSpPr>
          <p:cNvPr id="17" name="Text 13"/>
          <p:cNvSpPr/>
          <p:nvPr/>
        </p:nvSpPr>
        <p:spPr>
          <a:xfrm>
            <a:off x="428625" y="3863262"/>
            <a:ext cx="3686175"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1A1A"/>
                </a:solidFill>
              </a:rPr>
              <a:t>Learning Agents</a:t>
            </a:r>
            <a:endParaRPr lang="en-US" sz="1090" dirty="0"/>
          </a:p>
        </p:txBody>
      </p:sp>
      <p:sp>
        <p:nvSpPr>
          <p:cNvPr id="18" name="Text 14"/>
          <p:cNvSpPr/>
          <p:nvPr/>
        </p:nvSpPr>
        <p:spPr>
          <a:xfrm>
            <a:off x="428625" y="4113293"/>
            <a:ext cx="3686175"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333333"/>
                </a:solidFill>
              </a:rPr>
              <a:t>Continuously improves performance through feedback and experience.</a:t>
            </a:r>
            <a:endParaRPr lang="en-US" sz="834" dirty="0"/>
          </a:p>
        </p:txBody>
      </p:sp>
      <p:sp>
        <p:nvSpPr>
          <p:cNvPr id="19" name="Shape 15"/>
          <p:cNvSpPr/>
          <p:nvPr/>
        </p:nvSpPr>
        <p:spPr>
          <a:xfrm>
            <a:off x="4486275" y="714375"/>
            <a:ext cx="4286250" cy="3214688"/>
          </a:xfrm>
          <a:prstGeom prst="rect">
            <a:avLst/>
          </a:prstGeom>
          <a:solidFill>
            <a:srgbClr val="FFFFFF"/>
          </a:solidFill>
          <a:ln w="9144">
            <a:solidFill>
              <a:srgbClr val="1A1A1A"/>
            </a:solidFill>
            <a:prstDash val="solid"/>
          </a:ln>
        </p:spPr>
      </p:sp>
      <p:pic>
        <p:nvPicPr>
          <p:cNvPr id="20" name="Image 1" descr="preencoded.png">    </p:cNvPr>
          <p:cNvPicPr>
            <a:picLocks noChangeAspect="1"/>
          </p:cNvPicPr>
          <p:nvPr/>
        </p:nvPicPr>
        <p:blipFill>
          <a:blip r:embed="rId2"/>
          <a:stretch>
            <a:fillRect/>
          </a:stretch>
        </p:blipFill>
        <p:spPr>
          <a:xfrm>
            <a:off x="4557713" y="785813"/>
            <a:ext cx="4143375" cy="3071813"/>
          </a:xfrm>
          <a:prstGeom prst="rect">
            <a:avLst/>
          </a:prstGeom>
        </p:spPr>
      </p:pic>
      <p:sp>
        <p:nvSpPr>
          <p:cNvPr id="21" name="Text 16"/>
          <p:cNvSpPr/>
          <p:nvPr/>
        </p:nvSpPr>
        <p:spPr>
          <a:xfrm>
            <a:off x="4930806" y="4071938"/>
            <a:ext cx="3397188" cy="135731"/>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1A1A1A"/>
                </a:solidFill>
              </a:rPr>
              <a:t>Technical Schematic: Autonomous Agent Components</a:t>
            </a:r>
            <a:endParaRPr lang="en-US" sz="683"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357188"/>
            <a:ext cx="3571875" cy="990107"/>
          </a:xfrm>
          <a:prstGeom prst="rect">
            <a:avLst/>
          </a:prstGeom>
          <a:noFill/>
          <a:ln/>
        </p:spPr>
        <p:txBody>
          <a:bodyPr wrap="square" lIns="0" tIns="0" rIns="0" bIns="0" rtlCol="0" anchor="t">
            <a:spAutoFit/>
          </a:bodyPr>
          <a:lstStyle/>
          <a:p>
            <a:pPr algn="l" indent="0" marL="0">
              <a:lnSpc>
                <a:spcPts val="2600"/>
              </a:lnSpc>
              <a:buNone/>
            </a:pPr>
            <a:r>
              <a:rPr lang="en-US" sz="2121" b="1" spc="-1" kern="0" dirty="0">
                <a:solidFill>
                  <a:srgbClr val="1A1A1A"/>
                </a:solidFill>
              </a:rPr>
              <a:t>The Anatomy of an</a:t>
            </a:r>
            <a:pPr algn="l" indent="0" marL="0">
              <a:lnSpc>
                <a:spcPts val="2600"/>
              </a:lnSpc>
              <a:buNone/>
            </a:pPr>
            <a:r>
              <a:rPr lang="en-US" sz="2121" b="1" spc="-1" kern="0" dirty="0">
                <a:solidFill>
                  <a:srgbClr val="1A1A1A"/>
                </a:solidFill>
              </a:rPr>
              <a:t>
</a:t>
            </a:r>
            <a:pPr algn="l" indent="0" marL="0">
              <a:lnSpc>
                <a:spcPts val="2600"/>
              </a:lnSpc>
              <a:buNone/>
            </a:pPr>
            <a:r>
              <a:rPr lang="en-US" sz="2121" b="1" spc="-1" kern="0" dirty="0">
                <a:solidFill>
                  <a:srgbClr val="1A1A1A"/>
                </a:solidFill>
              </a:rPr>
              <a:t>Autonomous AI </a:t>
            </a:r>
            <a:pPr algn="l" indent="0" marL="0">
              <a:lnSpc>
                <a:spcPts val="2600"/>
              </a:lnSpc>
              <a:buNone/>
            </a:pPr>
            <a:r>
              <a:rPr lang="en-US" sz="2121" b="1" spc="-1" kern="0" dirty="0">
                <a:solidFill>
                  <a:srgbClr val="1A1A1A"/>
                </a:solidFill>
              </a:rPr>
              <a:t>Agent</a:t>
            </a:r>
            <a:endParaRPr lang="en-US" sz="2121" dirty="0"/>
          </a:p>
        </p:txBody>
      </p:sp>
      <p:pic>
        <p:nvPicPr>
          <p:cNvPr id="5" name="Image 1" descr="preencoded.png">    </p:cNvPr>
          <p:cNvPicPr>
            <a:picLocks noChangeAspect="1"/>
          </p:cNvPicPr>
          <p:nvPr/>
        </p:nvPicPr>
        <p:blipFill>
          <a:blip r:embed="rId2"/>
          <a:stretch>
            <a:fillRect/>
          </a:stretch>
        </p:blipFill>
        <p:spPr>
          <a:xfrm>
            <a:off x="4429125" y="500063"/>
            <a:ext cx="4286250" cy="2286000"/>
          </a:xfrm>
          <a:prstGeom prst="rect">
            <a:avLst/>
          </a:prstGeom>
        </p:spPr>
      </p:pic>
      <p:sp>
        <p:nvSpPr>
          <p:cNvPr id="6" name="Text 1"/>
          <p:cNvSpPr/>
          <p:nvPr/>
        </p:nvSpPr>
        <p:spPr>
          <a:xfrm>
            <a:off x="428625" y="3262908"/>
            <a:ext cx="1910953"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FF4500"/>
                </a:solidFill>
              </a:rPr>
              <a:t>Component 01</a:t>
            </a:r>
            <a:endParaRPr lang="en-US" sz="584" dirty="0"/>
          </a:p>
        </p:txBody>
      </p:sp>
      <p:sp>
        <p:nvSpPr>
          <p:cNvPr id="7" name="Text 2"/>
          <p:cNvSpPr/>
          <p:nvPr/>
        </p:nvSpPr>
        <p:spPr>
          <a:xfrm>
            <a:off x="428625" y="3450431"/>
            <a:ext cx="1910953"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A1A1A"/>
                </a:solidFill>
              </a:rPr>
              <a:t>The Brain</a:t>
            </a:r>
            <a:endParaRPr lang="en-US" sz="1193" dirty="0"/>
          </a:p>
        </p:txBody>
      </p:sp>
      <p:sp>
        <p:nvSpPr>
          <p:cNvPr id="8" name="Text 3"/>
          <p:cNvSpPr/>
          <p:nvPr/>
        </p:nvSpPr>
        <p:spPr>
          <a:xfrm>
            <a:off x="428625" y="3791545"/>
            <a:ext cx="1910953" cy="640035"/>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333333"/>
                </a:solidFill>
              </a:rPr>
              <a:t>Large Language Models (LLMs) serving as the core reasoning engine for logic and decision-making.</a:t>
            </a:r>
            <a:endParaRPr lang="en-US" sz="834" dirty="0"/>
          </a:p>
        </p:txBody>
      </p:sp>
      <p:sp>
        <p:nvSpPr>
          <p:cNvPr id="9" name="Text 4"/>
          <p:cNvSpPr/>
          <p:nvPr/>
        </p:nvSpPr>
        <p:spPr>
          <a:xfrm>
            <a:off x="2553891" y="3262908"/>
            <a:ext cx="1910953"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FF4500"/>
                </a:solidFill>
              </a:rPr>
              <a:t>Component 02</a:t>
            </a:r>
            <a:endParaRPr lang="en-US" sz="584" dirty="0"/>
          </a:p>
        </p:txBody>
      </p:sp>
      <p:sp>
        <p:nvSpPr>
          <p:cNvPr id="10" name="Text 5"/>
          <p:cNvSpPr/>
          <p:nvPr/>
        </p:nvSpPr>
        <p:spPr>
          <a:xfrm>
            <a:off x="2553891" y="3450431"/>
            <a:ext cx="1910953"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A1A1A"/>
                </a:solidFill>
              </a:rPr>
              <a:t>Planning</a:t>
            </a:r>
            <a:endParaRPr lang="en-US" sz="1193" dirty="0"/>
          </a:p>
        </p:txBody>
      </p:sp>
      <p:sp>
        <p:nvSpPr>
          <p:cNvPr id="11" name="Text 6"/>
          <p:cNvSpPr/>
          <p:nvPr/>
        </p:nvSpPr>
        <p:spPr>
          <a:xfrm>
            <a:off x="2553891" y="3791545"/>
            <a:ext cx="1910953" cy="480027"/>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333333"/>
                </a:solidFill>
              </a:rPr>
              <a:t>The ability to decompose complex goals into manageable sub-tasks and sequential steps.</a:t>
            </a:r>
            <a:endParaRPr lang="en-US" sz="834" dirty="0"/>
          </a:p>
        </p:txBody>
      </p:sp>
      <p:sp>
        <p:nvSpPr>
          <p:cNvPr id="12" name="Text 7"/>
          <p:cNvSpPr/>
          <p:nvPr/>
        </p:nvSpPr>
        <p:spPr>
          <a:xfrm>
            <a:off x="4679156" y="3262908"/>
            <a:ext cx="1910953"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FF4500"/>
                </a:solidFill>
              </a:rPr>
              <a:t>Component 03</a:t>
            </a:r>
            <a:endParaRPr lang="en-US" sz="584" dirty="0"/>
          </a:p>
        </p:txBody>
      </p:sp>
      <p:sp>
        <p:nvSpPr>
          <p:cNvPr id="13" name="Text 8"/>
          <p:cNvSpPr/>
          <p:nvPr/>
        </p:nvSpPr>
        <p:spPr>
          <a:xfrm>
            <a:off x="4679156" y="3450431"/>
            <a:ext cx="1910953"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A1A1A"/>
                </a:solidFill>
              </a:rPr>
              <a:t>Memory</a:t>
            </a:r>
            <a:endParaRPr lang="en-US" sz="1193" dirty="0"/>
          </a:p>
        </p:txBody>
      </p:sp>
      <p:sp>
        <p:nvSpPr>
          <p:cNvPr id="14" name="Text 9"/>
          <p:cNvSpPr/>
          <p:nvPr/>
        </p:nvSpPr>
        <p:spPr>
          <a:xfrm>
            <a:off x="4679156" y="3791545"/>
            <a:ext cx="1910953" cy="640035"/>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333333"/>
                </a:solidFill>
              </a:rPr>
              <a:t>Short-term context windows and long-term storage via Vector Databases for persistent knowledge.</a:t>
            </a:r>
            <a:endParaRPr lang="en-US" sz="834" dirty="0"/>
          </a:p>
        </p:txBody>
      </p:sp>
      <p:sp>
        <p:nvSpPr>
          <p:cNvPr id="15" name="Text 10"/>
          <p:cNvSpPr/>
          <p:nvPr/>
        </p:nvSpPr>
        <p:spPr>
          <a:xfrm>
            <a:off x="6804422" y="3262908"/>
            <a:ext cx="1910953"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FF4500"/>
                </a:solidFill>
              </a:rPr>
              <a:t>Component 04</a:t>
            </a:r>
            <a:endParaRPr lang="en-US" sz="584" dirty="0"/>
          </a:p>
        </p:txBody>
      </p:sp>
      <p:sp>
        <p:nvSpPr>
          <p:cNvPr id="16" name="Text 11"/>
          <p:cNvSpPr/>
          <p:nvPr/>
        </p:nvSpPr>
        <p:spPr>
          <a:xfrm>
            <a:off x="6804422" y="3450431"/>
            <a:ext cx="1910953"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A1A1A"/>
                </a:solidFill>
              </a:rPr>
              <a:t>Tools</a:t>
            </a:r>
            <a:endParaRPr lang="en-US" sz="1193" dirty="0"/>
          </a:p>
        </p:txBody>
      </p:sp>
      <p:sp>
        <p:nvSpPr>
          <p:cNvPr id="17" name="Text 12"/>
          <p:cNvSpPr/>
          <p:nvPr/>
        </p:nvSpPr>
        <p:spPr>
          <a:xfrm>
            <a:off x="6804422" y="3791545"/>
            <a:ext cx="1910953" cy="480027"/>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333333"/>
                </a:solidFill>
              </a:rPr>
              <a:t>The "hands" of the agent: APIs, web search, and code execution environments for real-world action.</a:t>
            </a:r>
            <a:endParaRPr lang="en-US" sz="834"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572500" cy="691493"/>
          </a:xfrm>
          <a:prstGeom prst="rect">
            <a:avLst/>
          </a:prstGeom>
          <a:noFill/>
          <a:ln/>
        </p:spPr>
        <p:txBody>
          <a:bodyPr wrap="square" lIns="255143" tIns="0" rIns="0" bIns="0" rtlCol="0" anchor="t">
            <a:spAutoFit/>
          </a:bodyPr>
          <a:lstStyle/>
          <a:p>
            <a:pPr algn="l" indent="0" marL="0">
              <a:lnSpc>
                <a:spcPts val="2700"/>
              </a:lnSpc>
              <a:buNone/>
            </a:pPr>
            <a:r>
              <a:rPr lang="en-US" sz="2226" b="1" spc="-1" kern="0" dirty="0">
                <a:solidFill>
                  <a:srgbClr val="1A1A1A"/>
                </a:solidFill>
              </a:rPr>
              <a:t>Orchestrating Intelligence through</a:t>
            </a:r>
            <a:pPr algn="l" indent="0" marL="0">
              <a:lnSpc>
                <a:spcPts val="2700"/>
              </a:lnSpc>
              <a:buNone/>
            </a:pPr>
            <a:r>
              <a:rPr lang="en-US" sz="2226" b="1" spc="-1" kern="0" dirty="0">
                <a:solidFill>
                  <a:srgbClr val="1A1A1A"/>
                </a:solidFill>
              </a:rPr>
              <a:t>
</a:t>
            </a:r>
            <a:pPr algn="l" indent="0" marL="0">
              <a:lnSpc>
                <a:spcPts val="2700"/>
              </a:lnSpc>
              <a:buNone/>
            </a:pPr>
            <a:r>
              <a:rPr lang="en-US" sz="2226" b="1" spc="-1" kern="0" dirty="0">
                <a:solidFill>
                  <a:srgbClr val="1A1A1A"/>
                </a:solidFill>
              </a:rPr>
              <a:t>Multi-Agent Collaboration</a:t>
            </a:r>
            <a:endParaRPr lang="en-US" sz="2226" dirty="0"/>
          </a:p>
        </p:txBody>
      </p:sp>
      <p:sp>
        <p:nvSpPr>
          <p:cNvPr id="5" name="Text 1"/>
          <p:cNvSpPr/>
          <p:nvPr/>
        </p:nvSpPr>
        <p:spPr>
          <a:xfrm>
            <a:off x="571500" y="1691618"/>
            <a:ext cx="2857500" cy="135731"/>
          </a:xfrm>
          <a:prstGeom prst="rect">
            <a:avLst/>
          </a:prstGeom>
          <a:noFill/>
          <a:ln/>
        </p:spPr>
        <p:txBody>
          <a:bodyPr wrap="none" lIns="0" tIns="0" rIns="0" bIns="0" rtlCol="0" anchor="t">
            <a:spAutoFit/>
          </a:bodyPr>
          <a:lstStyle/>
          <a:p>
            <a:pPr algn="l" indent="0" marL="0">
              <a:lnSpc>
                <a:spcPts val="900"/>
              </a:lnSpc>
              <a:buNone/>
            </a:pPr>
            <a:r>
              <a:rPr lang="en-US" sz="683" b="1" spc="2" kern="0" dirty="0">
                <a:solidFill>
                  <a:srgbClr val="FF4500"/>
                </a:solidFill>
              </a:rPr>
              <a:t>Architecture</a:t>
            </a:r>
            <a:endParaRPr lang="en-US" sz="683" dirty="0"/>
          </a:p>
        </p:txBody>
      </p:sp>
      <p:sp>
        <p:nvSpPr>
          <p:cNvPr id="6" name="Text 2"/>
          <p:cNvSpPr/>
          <p:nvPr/>
        </p:nvSpPr>
        <p:spPr>
          <a:xfrm>
            <a:off x="571500" y="1970224"/>
            <a:ext cx="2857500"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1A1A"/>
                </a:solidFill>
              </a:rPr>
              <a:t>Agent Orchestration</a:t>
            </a:r>
            <a:endParaRPr lang="en-US" sz="1090" dirty="0"/>
          </a:p>
        </p:txBody>
      </p:sp>
      <p:sp>
        <p:nvSpPr>
          <p:cNvPr id="7" name="Text 3"/>
          <p:cNvSpPr/>
          <p:nvPr/>
        </p:nvSpPr>
        <p:spPr>
          <a:xfrm>
            <a:off x="571500" y="2255974"/>
            <a:ext cx="2857500" cy="578644"/>
          </a:xfrm>
          <a:prstGeom prst="rect">
            <a:avLst/>
          </a:prstGeom>
          <a:noFill/>
          <a:ln/>
        </p:spPr>
        <p:txBody>
          <a:bodyPr wrap="square" lIns="0" tIns="0" rIns="0" bIns="0" rtlCol="0" anchor="t">
            <a:spAutoFit/>
          </a:bodyPr>
          <a:lstStyle/>
          <a:p>
            <a:pPr algn="l" indent="0" marL="0">
              <a:lnSpc>
                <a:spcPts val="1500"/>
              </a:lnSpc>
              <a:buNone/>
            </a:pPr>
            <a:r>
              <a:rPr lang="en-US" sz="942" dirty="0">
                <a:solidFill>
                  <a:srgbClr val="333333"/>
                </a:solidFill>
              </a:rPr>
              <a:t>Managing the lifecycle, state, and communication protocols between autonomous entities.</a:t>
            </a:r>
            <a:endParaRPr lang="en-US" sz="942" dirty="0"/>
          </a:p>
        </p:txBody>
      </p:sp>
      <p:sp>
        <p:nvSpPr>
          <p:cNvPr id="8" name="Text 4"/>
          <p:cNvSpPr/>
          <p:nvPr/>
        </p:nvSpPr>
        <p:spPr>
          <a:xfrm>
            <a:off x="571500" y="3084649"/>
            <a:ext cx="2857500"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1A1A"/>
                </a:solidFill>
              </a:rPr>
              <a:t>Multi-Agent Systems (MAS)</a:t>
            </a:r>
            <a:endParaRPr lang="en-US" sz="1090" dirty="0"/>
          </a:p>
        </p:txBody>
      </p:sp>
      <p:sp>
        <p:nvSpPr>
          <p:cNvPr id="9" name="Text 5"/>
          <p:cNvSpPr/>
          <p:nvPr/>
        </p:nvSpPr>
        <p:spPr>
          <a:xfrm>
            <a:off x="571500" y="3370399"/>
            <a:ext cx="2857500" cy="578644"/>
          </a:xfrm>
          <a:prstGeom prst="rect">
            <a:avLst/>
          </a:prstGeom>
          <a:noFill/>
          <a:ln/>
        </p:spPr>
        <p:txBody>
          <a:bodyPr wrap="square" lIns="0" tIns="0" rIns="0" bIns="0" rtlCol="0" anchor="t">
            <a:spAutoFit/>
          </a:bodyPr>
          <a:lstStyle/>
          <a:p>
            <a:pPr algn="l" indent="0" marL="0">
              <a:lnSpc>
                <a:spcPts val="1500"/>
              </a:lnSpc>
              <a:buNone/>
            </a:pPr>
            <a:r>
              <a:rPr lang="en-US" sz="942" dirty="0">
                <a:solidFill>
                  <a:srgbClr val="333333"/>
                </a:solidFill>
              </a:rPr>
              <a:t>Specialized agents (Researcher, Writer, Editor) collaborating to solve complex, multi-step problems.</a:t>
            </a:r>
            <a:endParaRPr lang="en-US" sz="942" dirty="0"/>
          </a:p>
        </p:txBody>
      </p:sp>
      <p:sp>
        <p:nvSpPr>
          <p:cNvPr id="10" name="Text 6"/>
          <p:cNvSpPr/>
          <p:nvPr/>
        </p:nvSpPr>
        <p:spPr>
          <a:xfrm>
            <a:off x="571500" y="4199074"/>
            <a:ext cx="2857500"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1A1A"/>
                </a:solidFill>
              </a:rPr>
              <a:t>Core Benefits</a:t>
            </a:r>
            <a:endParaRPr lang="en-US" sz="1090" dirty="0"/>
          </a:p>
        </p:txBody>
      </p:sp>
      <p:sp>
        <p:nvSpPr>
          <p:cNvPr id="11" name="Text 7"/>
          <p:cNvSpPr/>
          <p:nvPr/>
        </p:nvSpPr>
        <p:spPr>
          <a:xfrm>
            <a:off x="571500" y="4484824"/>
            <a:ext cx="2857500" cy="385763"/>
          </a:xfrm>
          <a:prstGeom prst="rect">
            <a:avLst/>
          </a:prstGeom>
          <a:noFill/>
          <a:ln/>
        </p:spPr>
        <p:txBody>
          <a:bodyPr wrap="square" lIns="0" tIns="0" rIns="0" bIns="0" rtlCol="0" anchor="t">
            <a:spAutoFit/>
          </a:bodyPr>
          <a:lstStyle/>
          <a:p>
            <a:pPr algn="l" indent="0" marL="0">
              <a:lnSpc>
                <a:spcPts val="1500"/>
              </a:lnSpc>
              <a:buNone/>
            </a:pPr>
            <a:r>
              <a:rPr lang="en-US" sz="942" dirty="0">
                <a:solidFill>
                  <a:srgbClr val="333333"/>
                </a:solidFill>
              </a:rPr>
              <a:t>Enhanced scalability, specialized expertise, and cross-verification to minimize hallucinations.</a:t>
            </a:r>
            <a:endParaRPr lang="en-US" sz="942" dirty="0"/>
          </a:p>
        </p:txBody>
      </p:sp>
      <p:pic>
        <p:nvPicPr>
          <p:cNvPr id="12" name="Image 1" descr="preencoded.png">    </p:cNvPr>
          <p:cNvPicPr>
            <a:picLocks noChangeAspect="1"/>
          </p:cNvPicPr>
          <p:nvPr/>
        </p:nvPicPr>
        <p:blipFill>
          <a:blip r:embed="rId2"/>
          <a:stretch>
            <a:fillRect/>
          </a:stretch>
        </p:blipFill>
        <p:spPr>
          <a:xfrm>
            <a:off x="4000500" y="1691618"/>
            <a:ext cx="5000625" cy="1632989"/>
          </a:xfrm>
          <a:prstGeom prst="rect">
            <a:avLst/>
          </a:prstGeom>
        </p:spPr>
      </p:pic>
      <p:sp>
        <p:nvSpPr>
          <p:cNvPr id="13" name="Text 8"/>
          <p:cNvSpPr/>
          <p:nvPr/>
        </p:nvSpPr>
        <p:spPr>
          <a:xfrm>
            <a:off x="5367105" y="3467481"/>
            <a:ext cx="2267387" cy="135731"/>
          </a:xfrm>
          <a:prstGeom prst="rect">
            <a:avLst/>
          </a:prstGeom>
          <a:noFill/>
          <a:ln/>
        </p:spPr>
        <p:txBody>
          <a:bodyPr wrap="none" lIns="0" tIns="0" rIns="0" bIns="0" rtlCol="0" anchor="t">
            <a:spAutoFit/>
          </a:bodyPr>
          <a:lstStyle/>
          <a:p>
            <a:pPr algn="l" indent="0" marL="0">
              <a:lnSpc>
                <a:spcPts val="900"/>
              </a:lnSpc>
              <a:buNone/>
            </a:pPr>
            <a:r>
              <a:rPr lang="en-US" sz="727" i="1" dirty="0">
                <a:solidFill>
                  <a:srgbClr val="666666"/>
                </a:solidFill>
              </a:rPr>
              <a:t>FIG_07: MULTI-AGENT ORCHESTRATION WORKFLOW</a:t>
            </a:r>
            <a:endParaRPr lang="en-US" sz="727"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395317"/>
          </a:xfrm>
          <a:prstGeom prst="rect">
            <a:avLst/>
          </a:prstGeom>
        </p:spPr>
      </p:pic>
      <p:sp>
        <p:nvSpPr>
          <p:cNvPr id="4" name="Text 0"/>
          <p:cNvSpPr/>
          <p:nvPr/>
        </p:nvSpPr>
        <p:spPr>
          <a:xfrm>
            <a:off x="6722883" y="357188"/>
            <a:ext cx="1849617"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33333">
                    <a:alpha val="60000"/>
                  </a:srgbClr>
                </a:solidFill>
              </a:rPr>
              <a:t>FRAMEWORK_COMP_V2 // REASONING_LOGIC</a:t>
            </a:r>
            <a:endParaRPr lang="en-US" sz="621" dirty="0"/>
          </a:p>
        </p:txBody>
      </p:sp>
      <p:sp>
        <p:nvSpPr>
          <p:cNvPr id="5" name="Text 1"/>
          <p:cNvSpPr/>
          <p:nvPr/>
        </p:nvSpPr>
        <p:spPr>
          <a:xfrm>
            <a:off x="571500" y="357188"/>
            <a:ext cx="8572500" cy="817959"/>
          </a:xfrm>
          <a:prstGeom prst="rect">
            <a:avLst/>
          </a:prstGeom>
          <a:noFill/>
          <a:ln/>
        </p:spPr>
        <p:txBody>
          <a:bodyPr wrap="square" lIns="212598" tIns="0" rIns="0" bIns="0" rtlCol="0" anchor="t">
            <a:spAutoFit/>
          </a:bodyPr>
          <a:lstStyle/>
          <a:p>
            <a:pPr algn="l" indent="0" marL="0">
              <a:lnSpc>
                <a:spcPts val="2800"/>
              </a:lnSpc>
              <a:buNone/>
            </a:pPr>
            <a:r>
              <a:rPr lang="en-US" sz="2121" b="1" spc="-1" kern="0" dirty="0">
                <a:solidFill>
                  <a:srgbClr val="1A1A1A"/>
                </a:solidFill>
              </a:rPr>
              <a:t>Strategic Planning vs.</a:t>
            </a:r>
            <a:pPr algn="l" indent="0" marL="0">
              <a:lnSpc>
                <a:spcPts val="2800"/>
              </a:lnSpc>
              <a:buNone/>
            </a:pPr>
            <a:r>
              <a:rPr lang="en-US" sz="2121" b="1" spc="-1" kern="0" dirty="0">
                <a:solidFill>
                  <a:srgbClr val="1A1A1A"/>
                </a:solidFill>
              </a:rPr>
              <a:t>
</a:t>
            </a:r>
            <a:pPr algn="l" indent="0" marL="0">
              <a:lnSpc>
                <a:spcPts val="2800"/>
              </a:lnSpc>
              <a:buNone/>
            </a:pPr>
            <a:r>
              <a:rPr lang="en-US" sz="2121" b="1" spc="-1" kern="0" dirty="0">
                <a:solidFill>
                  <a:srgbClr val="1A1A1A"/>
                </a:solidFill>
              </a:rPr>
              <a:t>Iterative Reasoning</a:t>
            </a:r>
            <a:endParaRPr lang="en-US" sz="2121" dirty="0"/>
          </a:p>
        </p:txBody>
      </p:sp>
      <p:sp>
        <p:nvSpPr>
          <p:cNvPr id="6" name="Text 2"/>
          <p:cNvSpPr/>
          <p:nvPr/>
        </p:nvSpPr>
        <p:spPr>
          <a:xfrm>
            <a:off x="571500" y="1746647"/>
            <a:ext cx="3857625" cy="273248"/>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FF4500"/>
                </a:solidFill>
              </a:rPr>
              <a:t>ReAct</a:t>
            </a:r>
            <a:endParaRPr lang="en-US" sz="1397" dirty="0"/>
          </a:p>
        </p:txBody>
      </p:sp>
      <p:sp>
        <p:nvSpPr>
          <p:cNvPr id="7" name="Text 3"/>
          <p:cNvSpPr/>
          <p:nvPr/>
        </p:nvSpPr>
        <p:spPr>
          <a:xfrm>
            <a:off x="571500" y="2127052"/>
            <a:ext cx="3857625"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1A1A1A"/>
                </a:solidFill>
              </a:rPr>
              <a:t>Reasoning + Acting</a:t>
            </a:r>
            <a:endParaRPr lang="en-US" sz="885" dirty="0"/>
          </a:p>
        </p:txBody>
      </p:sp>
      <p:sp>
        <p:nvSpPr>
          <p:cNvPr id="8" name="Text 4"/>
          <p:cNvSpPr/>
          <p:nvPr/>
        </p:nvSpPr>
        <p:spPr>
          <a:xfrm>
            <a:off x="571500" y="2444948"/>
            <a:ext cx="3857625" cy="578644"/>
          </a:xfrm>
          <a:prstGeom prst="rect">
            <a:avLst/>
          </a:prstGeom>
          <a:noFill/>
          <a:ln/>
        </p:spPr>
        <p:txBody>
          <a:bodyPr wrap="square" lIns="0" tIns="0" rIns="0" bIns="0" rtlCol="0" anchor="t">
            <a:spAutoFit/>
          </a:bodyPr>
          <a:lstStyle/>
          <a:p>
            <a:pPr algn="l" indent="0" marL="0">
              <a:lnSpc>
                <a:spcPts val="1500"/>
              </a:lnSpc>
              <a:buNone/>
            </a:pPr>
            <a:r>
              <a:rPr lang="en-US" sz="942" dirty="0">
                <a:solidFill>
                  <a:srgbClr val="333333"/>
                </a:solidFill>
              </a:rPr>
              <a:t>Interleaves thinking and acting in a tight loop. The agent observes the environment after every action to decide the next step.</a:t>
            </a:r>
            <a:endParaRPr lang="en-US" sz="942" dirty="0"/>
          </a:p>
        </p:txBody>
      </p:sp>
      <p:sp>
        <p:nvSpPr>
          <p:cNvPr id="9" name="Text 5"/>
          <p:cNvSpPr/>
          <p:nvPr/>
        </p:nvSpPr>
        <p:spPr>
          <a:xfrm>
            <a:off x="571500" y="3095030"/>
            <a:ext cx="3857625" cy="164306"/>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1A1A1A"/>
                </a:solidFill>
              </a:rPr>
              <a:t>THINK → ACT → OBSERVE → REPEAT</a:t>
            </a:r>
            <a:endParaRPr lang="en-US" sz="784" dirty="0"/>
          </a:p>
        </p:txBody>
      </p:sp>
      <p:sp>
        <p:nvSpPr>
          <p:cNvPr id="10" name="Text 6"/>
          <p:cNvSpPr/>
          <p:nvPr/>
        </p:nvSpPr>
        <p:spPr>
          <a:xfrm>
            <a:off x="571500" y="3259336"/>
            <a:ext cx="3857625" cy="492919"/>
          </a:xfrm>
          <a:prstGeom prst="rect">
            <a:avLst/>
          </a:prstGeom>
          <a:noFill/>
          <a:ln/>
        </p:spPr>
        <p:txBody>
          <a:bodyPr wrap="square" lIns="0" tIns="127508" rIns="0" bIns="0" rtlCol="0" anchor="t">
            <a:spAutoFit/>
          </a:bodyPr>
          <a:lstStyle/>
          <a:p>
            <a:pPr algn="l" indent="0" marL="0">
              <a:lnSpc>
                <a:spcPts val="1500"/>
              </a:lnSpc>
              <a:buNone/>
            </a:pPr>
            <a:r>
              <a:rPr lang="en-US" sz="885" b="1" dirty="0">
                <a:solidFill>
                  <a:srgbClr val="333333"/>
                </a:solidFill>
              </a:rPr>
              <a:t>Best for:</a:t>
            </a:r>
            <a:pPr algn="l" indent="0" marL="0">
              <a:lnSpc>
                <a:spcPts val="1500"/>
              </a:lnSpc>
              <a:buNone/>
            </a:pPr>
            <a:r>
              <a:rPr lang="en-US" sz="942" dirty="0">
                <a:solidFill>
                  <a:srgbClr val="333333"/>
                </a:solidFill>
              </a:rPr>
              <a:t> Highly dynamic environments where information </a:t>
            </a:r>
            <a:pPr algn="l" indent="0" marL="0">
              <a:lnSpc>
                <a:spcPts val="1500"/>
              </a:lnSpc>
              <a:buNone/>
            </a:pPr>
            <a:r>
              <a:rPr lang="en-US" sz="942" dirty="0">
                <a:solidFill>
                  <a:srgbClr val="333333"/>
                </a:solidFill>
              </a:rPr>
              <a:t>changes frequently.</a:t>
            </a:r>
            <a:endParaRPr lang="en-US" sz="885" dirty="0"/>
          </a:p>
        </p:txBody>
      </p:sp>
      <p:sp>
        <p:nvSpPr>
          <p:cNvPr id="11" name="Text 7"/>
          <p:cNvSpPr/>
          <p:nvPr/>
        </p:nvSpPr>
        <p:spPr>
          <a:xfrm>
            <a:off x="4714875" y="1746647"/>
            <a:ext cx="3857625" cy="273248"/>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FF4500"/>
                </a:solidFill>
              </a:rPr>
              <a:t>ReWOO</a:t>
            </a:r>
            <a:endParaRPr lang="en-US" sz="1397" dirty="0"/>
          </a:p>
        </p:txBody>
      </p:sp>
      <p:sp>
        <p:nvSpPr>
          <p:cNvPr id="12" name="Text 8"/>
          <p:cNvSpPr/>
          <p:nvPr/>
        </p:nvSpPr>
        <p:spPr>
          <a:xfrm>
            <a:off x="4714875" y="2127052"/>
            <a:ext cx="3857625"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1A1A1A"/>
                </a:solidFill>
              </a:rPr>
              <a:t>Reasoning Without Observation</a:t>
            </a:r>
            <a:endParaRPr lang="en-US" sz="885" dirty="0"/>
          </a:p>
        </p:txBody>
      </p:sp>
      <p:sp>
        <p:nvSpPr>
          <p:cNvPr id="13" name="Text 9"/>
          <p:cNvSpPr/>
          <p:nvPr/>
        </p:nvSpPr>
        <p:spPr>
          <a:xfrm>
            <a:off x="4714875" y="2444948"/>
            <a:ext cx="3857625" cy="385763"/>
          </a:xfrm>
          <a:prstGeom prst="rect">
            <a:avLst/>
          </a:prstGeom>
          <a:noFill/>
          <a:ln/>
        </p:spPr>
        <p:txBody>
          <a:bodyPr wrap="square" lIns="0" tIns="0" rIns="0" bIns="0" rtlCol="0" anchor="t">
            <a:spAutoFit/>
          </a:bodyPr>
          <a:lstStyle/>
          <a:p>
            <a:pPr algn="l" indent="0" marL="0">
              <a:lnSpc>
                <a:spcPts val="1500"/>
              </a:lnSpc>
              <a:buNone/>
            </a:pPr>
            <a:r>
              <a:rPr lang="en-US" sz="942" dirty="0">
                <a:solidFill>
                  <a:srgbClr val="333333"/>
                </a:solidFill>
              </a:rPr>
              <a:t>Decouples planning from execution. A "Planner" creates a full execution graph before any tools are called.</a:t>
            </a:r>
            <a:endParaRPr lang="en-US" sz="942" dirty="0"/>
          </a:p>
        </p:txBody>
      </p:sp>
      <p:sp>
        <p:nvSpPr>
          <p:cNvPr id="14" name="Text 10"/>
          <p:cNvSpPr/>
          <p:nvPr/>
        </p:nvSpPr>
        <p:spPr>
          <a:xfrm>
            <a:off x="4714875" y="2902148"/>
            <a:ext cx="3857625" cy="164306"/>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1A1A1A"/>
                </a:solidFill>
              </a:rPr>
              <a:t>PLAN → EXECUTE → AGGREGATE</a:t>
            </a:r>
            <a:endParaRPr lang="en-US" sz="784" dirty="0"/>
          </a:p>
        </p:txBody>
      </p:sp>
      <p:sp>
        <p:nvSpPr>
          <p:cNvPr id="15" name="Text 11"/>
          <p:cNvSpPr/>
          <p:nvPr/>
        </p:nvSpPr>
        <p:spPr>
          <a:xfrm>
            <a:off x="4714875" y="3066455"/>
            <a:ext cx="3857625" cy="492919"/>
          </a:xfrm>
          <a:prstGeom prst="rect">
            <a:avLst/>
          </a:prstGeom>
          <a:noFill/>
          <a:ln/>
        </p:spPr>
        <p:txBody>
          <a:bodyPr wrap="square" lIns="0" tIns="127508" rIns="0" bIns="0" rtlCol="0" anchor="t">
            <a:spAutoFit/>
          </a:bodyPr>
          <a:lstStyle/>
          <a:p>
            <a:pPr algn="l" indent="0" marL="0">
              <a:lnSpc>
                <a:spcPts val="1500"/>
              </a:lnSpc>
              <a:buNone/>
            </a:pPr>
            <a:r>
              <a:rPr lang="en-US" sz="885" b="1" dirty="0">
                <a:solidFill>
                  <a:srgbClr val="333333"/>
                </a:solidFill>
              </a:rPr>
              <a:t>Best for:</a:t>
            </a:r>
            <a:pPr algn="l" indent="0" marL="0">
              <a:lnSpc>
                <a:spcPts val="1500"/>
              </a:lnSpc>
              <a:buNone/>
            </a:pPr>
            <a:r>
              <a:rPr lang="en-US" sz="942" dirty="0">
                <a:solidFill>
                  <a:srgbClr val="333333"/>
                </a:solidFill>
              </a:rPr>
              <a:t> Token efficiency, reducing latency, and predictable </a:t>
            </a:r>
            <a:pPr algn="l" indent="0" marL="0">
              <a:lnSpc>
                <a:spcPts val="1500"/>
              </a:lnSpc>
              <a:buNone/>
            </a:pPr>
            <a:r>
              <a:rPr lang="en-US" sz="942" dirty="0">
                <a:solidFill>
                  <a:srgbClr val="333333"/>
                </a:solidFill>
              </a:rPr>
              <a:t>multi-step tasks.</a:t>
            </a:r>
            <a:endParaRPr lang="en-US" sz="885" dirty="0"/>
          </a:p>
        </p:txBody>
      </p:sp>
      <p:pic>
        <p:nvPicPr>
          <p:cNvPr id="16" name="Image 1" descr="preencoded.png">    </p:cNvPr>
          <p:cNvPicPr>
            <a:picLocks noChangeAspect="1"/>
          </p:cNvPicPr>
          <p:nvPr/>
        </p:nvPicPr>
        <p:blipFill>
          <a:blip r:embed="rId2"/>
          <a:stretch>
            <a:fillRect/>
          </a:stretch>
        </p:blipFill>
        <p:spPr>
          <a:xfrm>
            <a:off x="2786063" y="3823692"/>
            <a:ext cx="3571875" cy="15716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357188"/>
            <a:ext cx="8572500" cy="660071"/>
          </a:xfrm>
          <a:prstGeom prst="rect">
            <a:avLst/>
          </a:prstGeom>
          <a:noFill/>
          <a:ln/>
        </p:spPr>
        <p:txBody>
          <a:bodyPr wrap="square" lIns="212598" tIns="0" rIns="0" bIns="0" rtlCol="0" anchor="t">
            <a:spAutoFit/>
          </a:bodyPr>
          <a:lstStyle/>
          <a:p>
            <a:pPr algn="l" indent="0" marL="0">
              <a:lnSpc>
                <a:spcPts val="2600"/>
              </a:lnSpc>
              <a:buNone/>
            </a:pPr>
            <a:r>
              <a:rPr lang="en-US" sz="2121" b="1" spc="-1" kern="0" dirty="0">
                <a:solidFill>
                  <a:srgbClr val="1A1A1A"/>
                </a:solidFill>
              </a:rPr>
              <a:t>Standardizing the</a:t>
            </a:r>
            <a:pPr algn="l" indent="0" marL="0">
              <a:lnSpc>
                <a:spcPts val="2600"/>
              </a:lnSpc>
              <a:buNone/>
            </a:pPr>
            <a:r>
              <a:rPr lang="en-US" sz="2121" b="1" spc="-1" kern="0" dirty="0">
                <a:solidFill>
                  <a:srgbClr val="1A1A1A"/>
                </a:solidFill>
              </a:rPr>
              <a:t>
</a:t>
            </a:r>
            <a:pPr algn="l" indent="0" marL="0">
              <a:lnSpc>
                <a:spcPts val="2600"/>
              </a:lnSpc>
              <a:buNone/>
            </a:pPr>
            <a:r>
              <a:rPr lang="en-US" sz="2121" b="1" spc="-1" kern="0" dirty="0">
                <a:solidFill>
                  <a:srgbClr val="1A1A1A"/>
                </a:solidFill>
              </a:rPr>
              <a:t>Agentic Ecosystem</a:t>
            </a:r>
            <a:endParaRPr lang="en-US" sz="2121" dirty="0"/>
          </a:p>
        </p:txBody>
      </p:sp>
      <p:sp>
        <p:nvSpPr>
          <p:cNvPr id="5" name="Text 1"/>
          <p:cNvSpPr/>
          <p:nvPr/>
        </p:nvSpPr>
        <p:spPr>
          <a:xfrm>
            <a:off x="835819" y="1303009"/>
            <a:ext cx="4879181" cy="135731"/>
          </a:xfrm>
          <a:prstGeom prst="rect">
            <a:avLst/>
          </a:prstGeom>
          <a:noFill/>
          <a:ln/>
        </p:spPr>
        <p:txBody>
          <a:bodyPr wrap="none" lIns="0" tIns="0" rIns="0" bIns="0" rtlCol="0" anchor="t">
            <a:spAutoFit/>
          </a:bodyPr>
          <a:lstStyle/>
          <a:p>
            <a:pPr algn="l" indent="0" marL="0">
              <a:lnSpc>
                <a:spcPts val="900"/>
              </a:lnSpc>
              <a:buNone/>
            </a:pPr>
            <a:r>
              <a:rPr lang="en-US" sz="683" b="1" spc="2" kern="0" dirty="0">
                <a:solidFill>
                  <a:srgbClr val="FF4500"/>
                </a:solidFill>
              </a:rPr>
              <a:t>Industry Protocol</a:t>
            </a:r>
            <a:endParaRPr lang="en-US" sz="683" dirty="0"/>
          </a:p>
        </p:txBody>
      </p:sp>
      <p:sp>
        <p:nvSpPr>
          <p:cNvPr id="6" name="Text 2"/>
          <p:cNvSpPr/>
          <p:nvPr/>
        </p:nvSpPr>
        <p:spPr>
          <a:xfrm>
            <a:off x="835819" y="1510178"/>
            <a:ext cx="4879181"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A1A1A"/>
                </a:solidFill>
              </a:rPr>
              <a:t>Model Context Protocol (MCP)</a:t>
            </a:r>
            <a:endParaRPr lang="en-US" sz="1193" dirty="0"/>
          </a:p>
        </p:txBody>
      </p:sp>
      <p:sp>
        <p:nvSpPr>
          <p:cNvPr id="7" name="Text 3"/>
          <p:cNvSpPr/>
          <p:nvPr/>
        </p:nvSpPr>
        <p:spPr>
          <a:xfrm>
            <a:off x="835819" y="1815573"/>
            <a:ext cx="4879181" cy="360034"/>
          </a:xfrm>
          <a:prstGeom prst="rect">
            <a:avLst/>
          </a:prstGeom>
          <a:noFill/>
          <a:ln/>
        </p:spPr>
        <p:txBody>
          <a:bodyPr wrap="square" lIns="0" tIns="0" rIns="0" bIns="0" rtlCol="0" anchor="t">
            <a:spAutoFit/>
          </a:bodyPr>
          <a:lstStyle/>
          <a:p>
            <a:pPr algn="l" indent="0" marL="0">
              <a:lnSpc>
                <a:spcPts val="1400"/>
              </a:lnSpc>
              <a:buNone/>
            </a:pPr>
            <a:r>
              <a:rPr lang="en-US" sz="942" dirty="0">
                <a:solidFill>
                  <a:srgbClr val="333333"/>
                </a:solidFill>
              </a:rPr>
              <a:t>An open standard that enables seamless integration between AI models and their data sources, tools, and environments.</a:t>
            </a:r>
            <a:endParaRPr lang="en-US" sz="942" dirty="0"/>
          </a:p>
        </p:txBody>
      </p:sp>
      <p:sp>
        <p:nvSpPr>
          <p:cNvPr id="8" name="Text 4"/>
          <p:cNvSpPr/>
          <p:nvPr/>
        </p:nvSpPr>
        <p:spPr>
          <a:xfrm>
            <a:off x="571500" y="2682813"/>
            <a:ext cx="2476481"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1A1A"/>
                </a:solidFill>
              </a:rPr>
              <a:t>CrewAI</a:t>
            </a:r>
            <a:endParaRPr lang="en-US" sz="1090" dirty="0"/>
          </a:p>
        </p:txBody>
      </p:sp>
      <p:sp>
        <p:nvSpPr>
          <p:cNvPr id="9" name="Text 5"/>
          <p:cNvSpPr/>
          <p:nvPr/>
        </p:nvSpPr>
        <p:spPr>
          <a:xfrm>
            <a:off x="571500" y="2968563"/>
            <a:ext cx="2476481" cy="450056"/>
          </a:xfrm>
          <a:prstGeom prst="rect">
            <a:avLst/>
          </a:prstGeom>
          <a:noFill/>
          <a:ln/>
        </p:spPr>
        <p:txBody>
          <a:bodyPr wrap="square" lIns="0" tIns="0" rIns="0" bIns="0" rtlCol="0" anchor="t">
            <a:spAutoFit/>
          </a:bodyPr>
          <a:lstStyle/>
          <a:p>
            <a:pPr algn="l" indent="0" marL="0">
              <a:lnSpc>
                <a:spcPts val="1200"/>
              </a:lnSpc>
              <a:buNone/>
            </a:pPr>
            <a:r>
              <a:rPr lang="en-US" sz="780" dirty="0">
                <a:solidFill>
                  <a:srgbClr val="333333"/>
                </a:solidFill>
              </a:rPr>
              <a:t>Role-playing autonomous agents. Focuses on collaborative intelligence and program-flow orchestration.</a:t>
            </a:r>
            <a:endParaRPr lang="en-US" sz="780" dirty="0"/>
          </a:p>
        </p:txBody>
      </p:sp>
      <p:sp>
        <p:nvSpPr>
          <p:cNvPr id="10" name="Text 6"/>
          <p:cNvSpPr/>
          <p:nvPr/>
        </p:nvSpPr>
        <p:spPr>
          <a:xfrm>
            <a:off x="3333731" y="2682813"/>
            <a:ext cx="2476509"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1A1A"/>
                </a:solidFill>
              </a:rPr>
              <a:t>n8n</a:t>
            </a:r>
            <a:endParaRPr lang="en-US" sz="1090" dirty="0"/>
          </a:p>
        </p:txBody>
      </p:sp>
      <p:sp>
        <p:nvSpPr>
          <p:cNvPr id="11" name="Text 7"/>
          <p:cNvSpPr/>
          <p:nvPr/>
        </p:nvSpPr>
        <p:spPr>
          <a:xfrm>
            <a:off x="3333731" y="2968563"/>
            <a:ext cx="2476509" cy="450056"/>
          </a:xfrm>
          <a:prstGeom prst="rect">
            <a:avLst/>
          </a:prstGeom>
          <a:noFill/>
          <a:ln/>
        </p:spPr>
        <p:txBody>
          <a:bodyPr wrap="square" lIns="0" tIns="0" rIns="0" bIns="0" rtlCol="0" anchor="t">
            <a:spAutoFit/>
          </a:bodyPr>
          <a:lstStyle/>
          <a:p>
            <a:pPr algn="l" indent="0" marL="0">
              <a:lnSpc>
                <a:spcPts val="1200"/>
              </a:lnSpc>
              <a:buNone/>
            </a:pPr>
            <a:r>
              <a:rPr lang="en-US" sz="780" dirty="0">
                <a:solidFill>
                  <a:srgbClr val="333333"/>
                </a:solidFill>
              </a:rPr>
              <a:t>Low-code workflow automation. Ideal for visual-based orchestration and enterprise tool integration.</a:t>
            </a:r>
            <a:endParaRPr lang="en-US" sz="780" dirty="0"/>
          </a:p>
        </p:txBody>
      </p:sp>
      <p:sp>
        <p:nvSpPr>
          <p:cNvPr id="12" name="Text 8"/>
          <p:cNvSpPr/>
          <p:nvPr/>
        </p:nvSpPr>
        <p:spPr>
          <a:xfrm>
            <a:off x="6095991" y="2682813"/>
            <a:ext cx="2476481"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1A1A"/>
                </a:solidFill>
              </a:rPr>
              <a:t>LangChain</a:t>
            </a:r>
            <a:endParaRPr lang="en-US" sz="1090" dirty="0"/>
          </a:p>
        </p:txBody>
      </p:sp>
      <p:sp>
        <p:nvSpPr>
          <p:cNvPr id="13" name="Text 9"/>
          <p:cNvSpPr/>
          <p:nvPr/>
        </p:nvSpPr>
        <p:spPr>
          <a:xfrm>
            <a:off x="6095991" y="2968563"/>
            <a:ext cx="2476481" cy="450056"/>
          </a:xfrm>
          <a:prstGeom prst="rect">
            <a:avLst/>
          </a:prstGeom>
          <a:noFill/>
          <a:ln/>
        </p:spPr>
        <p:txBody>
          <a:bodyPr wrap="square" lIns="0" tIns="0" rIns="0" bIns="0" rtlCol="0" anchor="t">
            <a:spAutoFit/>
          </a:bodyPr>
          <a:lstStyle/>
          <a:p>
            <a:pPr algn="l" indent="0" marL="0">
              <a:lnSpc>
                <a:spcPts val="1200"/>
              </a:lnSpc>
              <a:buNone/>
            </a:pPr>
            <a:r>
              <a:rPr lang="en-US" sz="780" dirty="0">
                <a:solidFill>
                  <a:srgbClr val="333333"/>
                </a:solidFill>
              </a:rPr>
              <a:t>The foundational framework for building LLM applications with modular components and chains.</a:t>
            </a:r>
            <a:endParaRPr lang="en-US" sz="780" dirty="0"/>
          </a:p>
        </p:txBody>
      </p:sp>
      <p:pic>
        <p:nvPicPr>
          <p:cNvPr id="14" name="Image 1" descr="preencoded.png">    </p:cNvPr>
          <p:cNvPicPr>
            <a:picLocks noChangeAspect="1"/>
          </p:cNvPicPr>
          <p:nvPr/>
        </p:nvPicPr>
        <p:blipFill>
          <a:blip r:embed="rId2"/>
          <a:stretch>
            <a:fillRect/>
          </a:stretch>
        </p:blipFill>
        <p:spPr>
          <a:xfrm>
            <a:off x="571500" y="3632932"/>
            <a:ext cx="3857625" cy="1500188"/>
          </a:xfrm>
          <a:prstGeom prst="rect">
            <a:avLst/>
          </a:prstGeom>
        </p:spPr>
      </p:pic>
      <p:pic>
        <p:nvPicPr>
          <p:cNvPr id="15" name="Image 2" descr="preencoded.png">    </p:cNvPr>
          <p:cNvPicPr>
            <a:picLocks noChangeAspect="1"/>
          </p:cNvPicPr>
          <p:nvPr/>
        </p:nvPicPr>
        <p:blipFill>
          <a:blip r:embed="rId3"/>
          <a:stretch>
            <a:fillRect/>
          </a:stretch>
        </p:blipFill>
        <p:spPr>
          <a:xfrm>
            <a:off x="4714875" y="3632932"/>
            <a:ext cx="3857625" cy="15001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285750" y="0"/>
            <a:ext cx="8858250" cy="1325835"/>
          </a:xfrm>
          <a:prstGeom prst="rect">
            <a:avLst/>
          </a:prstGeom>
          <a:solidFill>
            <a:srgbClr val="000000">
              <a:alpha val="0"/>
            </a:srgbClr>
          </a:solidFill>
          <a:ln/>
        </p:spPr>
      </p:sp>
      <p:sp>
        <p:nvSpPr>
          <p:cNvPr id="5" name="Shape 1"/>
          <p:cNvSpPr/>
          <p:nvPr/>
        </p:nvSpPr>
        <p:spPr>
          <a:xfrm>
            <a:off x="285750" y="0"/>
            <a:ext cx="107156" cy="1325835"/>
          </a:xfrm>
          <a:prstGeom prst="rect">
            <a:avLst/>
          </a:prstGeom>
          <a:solidFill>
            <a:srgbClr val="FF4500"/>
          </a:solidFill>
          <a:ln/>
        </p:spPr>
      </p:sp>
      <p:sp>
        <p:nvSpPr>
          <p:cNvPr id="6" name="Text 2"/>
          <p:cNvSpPr/>
          <p:nvPr/>
        </p:nvSpPr>
        <p:spPr>
          <a:xfrm>
            <a:off x="857250" y="571500"/>
            <a:ext cx="8286750" cy="754335"/>
          </a:xfrm>
          <a:prstGeom prst="rect">
            <a:avLst/>
          </a:prstGeom>
          <a:noFill/>
          <a:ln/>
        </p:spPr>
        <p:txBody>
          <a:bodyPr wrap="square" lIns="0" tIns="0" rIns="0" bIns="0" rtlCol="0" anchor="t">
            <a:spAutoFit/>
          </a:bodyPr>
          <a:lstStyle/>
          <a:p>
            <a:pPr algn="l" indent="0" marL="0">
              <a:lnSpc>
                <a:spcPts val="3000"/>
              </a:lnSpc>
              <a:buNone/>
            </a:pPr>
            <a:r>
              <a:rPr lang="en-US" sz="2436" b="1" spc="-1" kern="0" dirty="0">
                <a:solidFill>
                  <a:srgbClr val="1A1A1A"/>
                </a:solidFill>
              </a:rPr>
              <a:t>Ensuring Safe and Accountable</a:t>
            </a:r>
            <a:pPr algn="l" indent="0" marL="0">
              <a:lnSpc>
                <a:spcPts val="3000"/>
              </a:lnSpc>
              <a:buNone/>
            </a:pPr>
            <a:r>
              <a:rPr lang="en-US" sz="2436" b="1" spc="-1" kern="0" dirty="0">
                <a:solidFill>
                  <a:srgbClr val="1A1A1A"/>
                </a:solidFill>
              </a:rPr>
              <a:t>
</a:t>
            </a:r>
            <a:pPr algn="l" indent="0" marL="0">
              <a:lnSpc>
                <a:spcPts val="3000"/>
              </a:lnSpc>
              <a:buNone/>
            </a:pPr>
            <a:r>
              <a:rPr lang="en-US" sz="2436" b="1" spc="-1" kern="0" dirty="0">
                <a:solidFill>
                  <a:srgbClr val="1A1A1A"/>
                </a:solidFill>
              </a:rPr>
              <a:t>Autonomous Systems</a:t>
            </a:r>
            <a:endParaRPr lang="en-US" sz="2436" dirty="0"/>
          </a:p>
        </p:txBody>
      </p:sp>
      <p:sp>
        <p:nvSpPr>
          <p:cNvPr id="7" name="Text 3"/>
          <p:cNvSpPr/>
          <p:nvPr/>
        </p:nvSpPr>
        <p:spPr>
          <a:xfrm>
            <a:off x="571500" y="2261667"/>
            <a:ext cx="2476481"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FF4500"/>
                </a:solidFill>
              </a:rPr>
              <a:t>Module 01</a:t>
            </a:r>
            <a:endParaRPr lang="en-US" sz="584" dirty="0"/>
          </a:p>
        </p:txBody>
      </p:sp>
      <p:sp>
        <p:nvSpPr>
          <p:cNvPr id="8" name="Text 4"/>
          <p:cNvSpPr/>
          <p:nvPr/>
        </p:nvSpPr>
        <p:spPr>
          <a:xfrm>
            <a:off x="571500" y="2520628"/>
            <a:ext cx="2476481" cy="251817"/>
          </a:xfrm>
          <a:prstGeom prst="rect">
            <a:avLst/>
          </a:prstGeom>
          <a:noFill/>
          <a:ln/>
        </p:spPr>
        <p:txBody>
          <a:bodyPr wrap="none" lIns="0" tIns="0" rIns="0" bIns="0" rtlCol="0" anchor="t">
            <a:spAutoFit/>
          </a:bodyPr>
          <a:lstStyle/>
          <a:p>
            <a:pPr algn="l" indent="0" marL="0">
              <a:lnSpc>
                <a:spcPts val="1800"/>
              </a:lnSpc>
              <a:buNone/>
            </a:pPr>
            <a:r>
              <a:rPr lang="en-US" sz="1295" b="1" dirty="0">
                <a:solidFill>
                  <a:srgbClr val="1A1A1A"/>
                </a:solidFill>
              </a:rPr>
              <a:t>Ethics</a:t>
            </a:r>
            <a:endParaRPr lang="en-US" sz="1295" dirty="0"/>
          </a:p>
        </p:txBody>
      </p:sp>
      <p:sp>
        <p:nvSpPr>
          <p:cNvPr id="9" name="Text 5"/>
          <p:cNvSpPr/>
          <p:nvPr/>
        </p:nvSpPr>
        <p:spPr>
          <a:xfrm>
            <a:off x="571500" y="2951038"/>
            <a:ext cx="2476481" cy="205718"/>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1A1A1A"/>
                </a:solidFill>
              </a:rPr>
              <a:t>Algorithmic Integrity</a:t>
            </a:r>
            <a:endParaRPr lang="en-US" sz="885" dirty="0"/>
          </a:p>
        </p:txBody>
      </p:sp>
      <p:sp>
        <p:nvSpPr>
          <p:cNvPr id="10" name="Text 6"/>
          <p:cNvSpPr/>
          <p:nvPr/>
        </p:nvSpPr>
        <p:spPr>
          <a:xfrm>
            <a:off x="571500" y="3206762"/>
            <a:ext cx="2119768" cy="175022"/>
          </a:xfrm>
          <a:prstGeom prst="rect">
            <a:avLst/>
          </a:prstGeom>
          <a:noFill/>
          <a:ln/>
        </p:spPr>
        <p:txBody>
          <a:bodyPr wrap="none" lIns="0" tIns="0" rIns="0" bIns="0" rtlCol="0" anchor="t">
            <a:spAutoFit/>
          </a:bodyPr>
          <a:lstStyle/>
          <a:p>
            <a:pPr algn="l" indent="0" marL="0">
              <a:lnSpc>
                <a:spcPts val="1600"/>
              </a:lnSpc>
              <a:buNone/>
            </a:pPr>
            <a:r>
              <a:rPr lang="en-US" sz="942" dirty="0">
                <a:solidFill>
                  <a:srgbClr val="333333"/>
                </a:solidFill>
              </a:rPr>
              <a:t>Addressing systemic bias, ensuring</a:t>
            </a:r>
            <a:endParaRPr lang="en-US" sz="942" dirty="0"/>
          </a:p>
        </p:txBody>
      </p:sp>
      <p:sp>
        <p:nvSpPr>
          <p:cNvPr id="11" name="Text 7"/>
          <p:cNvSpPr/>
          <p:nvPr/>
        </p:nvSpPr>
        <p:spPr>
          <a:xfrm>
            <a:off x="571500" y="3412480"/>
            <a:ext cx="2262001" cy="175022"/>
          </a:xfrm>
          <a:prstGeom prst="rect">
            <a:avLst/>
          </a:prstGeom>
          <a:noFill/>
          <a:ln/>
        </p:spPr>
        <p:txBody>
          <a:bodyPr wrap="none" lIns="0" tIns="0" rIns="0" bIns="0" rtlCol="0" anchor="t">
            <a:spAutoFit/>
          </a:bodyPr>
          <a:lstStyle/>
          <a:p>
            <a:pPr algn="l" indent="0" marL="0">
              <a:lnSpc>
                <a:spcPts val="1600"/>
              </a:lnSpc>
              <a:buNone/>
            </a:pPr>
            <a:r>
              <a:rPr lang="en-US" sz="942" dirty="0">
                <a:solidFill>
                  <a:srgbClr val="333333"/>
                </a:solidFill>
              </a:rPr>
              <a:t>transparency in decision-making, and</a:t>
            </a:r>
            <a:endParaRPr lang="en-US" sz="942" dirty="0"/>
          </a:p>
        </p:txBody>
      </p:sp>
      <p:sp>
        <p:nvSpPr>
          <p:cNvPr id="12" name="Text 8"/>
          <p:cNvSpPr/>
          <p:nvPr/>
        </p:nvSpPr>
        <p:spPr>
          <a:xfrm>
            <a:off x="571500" y="3618198"/>
            <a:ext cx="2400746" cy="175022"/>
          </a:xfrm>
          <a:prstGeom prst="rect">
            <a:avLst/>
          </a:prstGeom>
          <a:noFill/>
          <a:ln/>
        </p:spPr>
        <p:txBody>
          <a:bodyPr wrap="none" lIns="0" tIns="0" rIns="0" bIns="0" rtlCol="0" anchor="t">
            <a:spAutoFit/>
          </a:bodyPr>
          <a:lstStyle/>
          <a:p>
            <a:pPr algn="l" indent="0" marL="0">
              <a:lnSpc>
                <a:spcPts val="1600"/>
              </a:lnSpc>
              <a:buNone/>
            </a:pPr>
            <a:r>
              <a:rPr lang="en-US" sz="942" dirty="0">
                <a:solidFill>
                  <a:srgbClr val="333333"/>
                </a:solidFill>
              </a:rPr>
              <a:t>establishing clear lines of accountability</a:t>
            </a:r>
            <a:endParaRPr lang="en-US" sz="942" dirty="0"/>
          </a:p>
        </p:txBody>
      </p:sp>
      <p:sp>
        <p:nvSpPr>
          <p:cNvPr id="13" name="Text 9"/>
          <p:cNvSpPr/>
          <p:nvPr/>
        </p:nvSpPr>
        <p:spPr>
          <a:xfrm>
            <a:off x="571500" y="3823915"/>
            <a:ext cx="1480961" cy="175022"/>
          </a:xfrm>
          <a:prstGeom prst="rect">
            <a:avLst/>
          </a:prstGeom>
          <a:noFill/>
          <a:ln/>
        </p:spPr>
        <p:txBody>
          <a:bodyPr wrap="none" lIns="0" tIns="0" rIns="0" bIns="0" rtlCol="0" anchor="t">
            <a:spAutoFit/>
          </a:bodyPr>
          <a:lstStyle/>
          <a:p>
            <a:pPr algn="l" indent="0" marL="0">
              <a:lnSpc>
                <a:spcPts val="1600"/>
              </a:lnSpc>
              <a:buNone/>
            </a:pPr>
            <a:r>
              <a:rPr lang="en-US" sz="942" dirty="0">
                <a:solidFill>
                  <a:srgbClr val="333333"/>
                </a:solidFill>
              </a:rPr>
              <a:t>for autonomous actions.</a:t>
            </a:r>
            <a:endParaRPr lang="en-US" sz="942" dirty="0"/>
          </a:p>
        </p:txBody>
      </p:sp>
      <p:sp>
        <p:nvSpPr>
          <p:cNvPr id="14" name="Text 10"/>
          <p:cNvSpPr/>
          <p:nvPr/>
        </p:nvSpPr>
        <p:spPr>
          <a:xfrm>
            <a:off x="3333731" y="2261667"/>
            <a:ext cx="2476509"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FF4500"/>
                </a:solidFill>
              </a:rPr>
              <a:t>Module 02</a:t>
            </a:r>
            <a:endParaRPr lang="en-US" sz="584" dirty="0"/>
          </a:p>
        </p:txBody>
      </p:sp>
      <p:sp>
        <p:nvSpPr>
          <p:cNvPr id="15" name="Text 11"/>
          <p:cNvSpPr/>
          <p:nvPr/>
        </p:nvSpPr>
        <p:spPr>
          <a:xfrm>
            <a:off x="3333731" y="2520628"/>
            <a:ext cx="2476509" cy="251817"/>
          </a:xfrm>
          <a:prstGeom prst="rect">
            <a:avLst/>
          </a:prstGeom>
          <a:noFill/>
          <a:ln/>
        </p:spPr>
        <p:txBody>
          <a:bodyPr wrap="none" lIns="0" tIns="0" rIns="0" bIns="0" rtlCol="0" anchor="t">
            <a:spAutoFit/>
          </a:bodyPr>
          <a:lstStyle/>
          <a:p>
            <a:pPr algn="l" indent="0" marL="0">
              <a:lnSpc>
                <a:spcPts val="1800"/>
              </a:lnSpc>
              <a:buNone/>
            </a:pPr>
            <a:r>
              <a:rPr lang="en-US" sz="1295" b="1" dirty="0">
                <a:solidFill>
                  <a:srgbClr val="1A1A1A"/>
                </a:solidFill>
              </a:rPr>
              <a:t>Governance</a:t>
            </a:r>
            <a:endParaRPr lang="en-US" sz="1295" dirty="0"/>
          </a:p>
        </p:txBody>
      </p:sp>
      <p:sp>
        <p:nvSpPr>
          <p:cNvPr id="16" name="Text 12"/>
          <p:cNvSpPr/>
          <p:nvPr/>
        </p:nvSpPr>
        <p:spPr>
          <a:xfrm>
            <a:off x="3333731" y="2951038"/>
            <a:ext cx="2476509" cy="205718"/>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1A1A1A"/>
                </a:solidFill>
              </a:rPr>
              <a:t>Operational Safety</a:t>
            </a:r>
            <a:endParaRPr lang="en-US" sz="885" dirty="0"/>
          </a:p>
        </p:txBody>
      </p:sp>
      <p:sp>
        <p:nvSpPr>
          <p:cNvPr id="17" name="Text 13"/>
          <p:cNvSpPr/>
          <p:nvPr/>
        </p:nvSpPr>
        <p:spPr>
          <a:xfrm>
            <a:off x="3333731" y="3206762"/>
            <a:ext cx="2195782" cy="175022"/>
          </a:xfrm>
          <a:prstGeom prst="rect">
            <a:avLst/>
          </a:prstGeom>
          <a:noFill/>
          <a:ln/>
        </p:spPr>
        <p:txBody>
          <a:bodyPr wrap="none" lIns="0" tIns="0" rIns="0" bIns="0" rtlCol="0" anchor="t">
            <a:spAutoFit/>
          </a:bodyPr>
          <a:lstStyle/>
          <a:p>
            <a:pPr algn="l" indent="0" marL="0">
              <a:lnSpc>
                <a:spcPts val="1600"/>
              </a:lnSpc>
              <a:buNone/>
            </a:pPr>
            <a:r>
              <a:rPr lang="en-US" sz="942" dirty="0">
                <a:solidFill>
                  <a:srgbClr val="333333"/>
                </a:solidFill>
              </a:rPr>
              <a:t>Implementing robust guardrails and</a:t>
            </a:r>
            <a:endParaRPr lang="en-US" sz="942" dirty="0"/>
          </a:p>
        </p:txBody>
      </p:sp>
      <p:sp>
        <p:nvSpPr>
          <p:cNvPr id="18" name="Text 14"/>
          <p:cNvSpPr/>
          <p:nvPr/>
        </p:nvSpPr>
        <p:spPr>
          <a:xfrm>
            <a:off x="3333731" y="3412480"/>
            <a:ext cx="2327328" cy="175022"/>
          </a:xfrm>
          <a:prstGeom prst="rect">
            <a:avLst/>
          </a:prstGeom>
          <a:noFill/>
          <a:ln/>
        </p:spPr>
        <p:txBody>
          <a:bodyPr wrap="none" lIns="0" tIns="0" rIns="0" bIns="0" rtlCol="0" anchor="t">
            <a:spAutoFit/>
          </a:bodyPr>
          <a:lstStyle/>
          <a:p>
            <a:pPr algn="l" indent="0" marL="0">
              <a:lnSpc>
                <a:spcPts val="1600"/>
              </a:lnSpc>
              <a:buNone/>
            </a:pPr>
            <a:r>
              <a:rPr lang="en-US" sz="942" dirty="0">
                <a:solidFill>
                  <a:srgbClr val="333333"/>
                </a:solidFill>
              </a:rPr>
              <a:t>Human-in-the-Loop (HITL) checkpoints</a:t>
            </a:r>
            <a:endParaRPr lang="en-US" sz="942" dirty="0"/>
          </a:p>
        </p:txBody>
      </p:sp>
      <p:sp>
        <p:nvSpPr>
          <p:cNvPr id="19" name="Text 15"/>
          <p:cNvSpPr/>
          <p:nvPr/>
        </p:nvSpPr>
        <p:spPr>
          <a:xfrm>
            <a:off x="3333731" y="3618198"/>
            <a:ext cx="2475198" cy="175022"/>
          </a:xfrm>
          <a:prstGeom prst="rect">
            <a:avLst/>
          </a:prstGeom>
          <a:noFill/>
          <a:ln/>
        </p:spPr>
        <p:txBody>
          <a:bodyPr wrap="none" lIns="0" tIns="0" rIns="0" bIns="0" rtlCol="0" anchor="t">
            <a:spAutoFit/>
          </a:bodyPr>
          <a:lstStyle/>
          <a:p>
            <a:pPr algn="l" indent="0" marL="0">
              <a:lnSpc>
                <a:spcPts val="1600"/>
              </a:lnSpc>
              <a:buNone/>
            </a:pPr>
            <a:r>
              <a:rPr lang="en-US" sz="942" dirty="0">
                <a:solidFill>
                  <a:srgbClr val="333333"/>
                </a:solidFill>
              </a:rPr>
              <a:t>to maintain control over complex agentic</a:t>
            </a:r>
            <a:endParaRPr lang="en-US" sz="942" dirty="0"/>
          </a:p>
        </p:txBody>
      </p:sp>
      <p:sp>
        <p:nvSpPr>
          <p:cNvPr id="20" name="Text 16"/>
          <p:cNvSpPr/>
          <p:nvPr/>
        </p:nvSpPr>
        <p:spPr>
          <a:xfrm>
            <a:off x="3333731" y="3823915"/>
            <a:ext cx="650416" cy="175022"/>
          </a:xfrm>
          <a:prstGeom prst="rect">
            <a:avLst/>
          </a:prstGeom>
          <a:noFill/>
          <a:ln/>
        </p:spPr>
        <p:txBody>
          <a:bodyPr wrap="none" lIns="0" tIns="0" rIns="0" bIns="0" rtlCol="0" anchor="t">
            <a:spAutoFit/>
          </a:bodyPr>
          <a:lstStyle/>
          <a:p>
            <a:pPr algn="l" indent="0" marL="0">
              <a:lnSpc>
                <a:spcPts val="1600"/>
              </a:lnSpc>
              <a:buNone/>
            </a:pPr>
            <a:r>
              <a:rPr lang="en-US" sz="942" dirty="0">
                <a:solidFill>
                  <a:srgbClr val="333333"/>
                </a:solidFill>
              </a:rPr>
              <a:t>workflows.</a:t>
            </a:r>
            <a:endParaRPr lang="en-US" sz="942" dirty="0"/>
          </a:p>
        </p:txBody>
      </p:sp>
      <p:sp>
        <p:nvSpPr>
          <p:cNvPr id="21" name="Text 17"/>
          <p:cNvSpPr/>
          <p:nvPr/>
        </p:nvSpPr>
        <p:spPr>
          <a:xfrm>
            <a:off x="6095991" y="2261667"/>
            <a:ext cx="2476481" cy="116086"/>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FF4500"/>
                </a:solidFill>
              </a:rPr>
              <a:t>Module 03</a:t>
            </a:r>
            <a:endParaRPr lang="en-US" sz="584" dirty="0"/>
          </a:p>
        </p:txBody>
      </p:sp>
      <p:sp>
        <p:nvSpPr>
          <p:cNvPr id="22" name="Text 18"/>
          <p:cNvSpPr/>
          <p:nvPr/>
        </p:nvSpPr>
        <p:spPr>
          <a:xfrm>
            <a:off x="6095991" y="2520628"/>
            <a:ext cx="2476481" cy="251817"/>
          </a:xfrm>
          <a:prstGeom prst="rect">
            <a:avLst/>
          </a:prstGeom>
          <a:noFill/>
          <a:ln/>
        </p:spPr>
        <p:txBody>
          <a:bodyPr wrap="none" lIns="0" tIns="0" rIns="0" bIns="0" rtlCol="0" anchor="t">
            <a:spAutoFit/>
          </a:bodyPr>
          <a:lstStyle/>
          <a:p>
            <a:pPr algn="l" indent="0" marL="0">
              <a:lnSpc>
                <a:spcPts val="1800"/>
              </a:lnSpc>
              <a:buNone/>
            </a:pPr>
            <a:r>
              <a:rPr lang="en-US" sz="1295" b="1" dirty="0">
                <a:solidFill>
                  <a:srgbClr val="1A1A1A"/>
                </a:solidFill>
              </a:rPr>
              <a:t>Evaluation</a:t>
            </a:r>
            <a:endParaRPr lang="en-US" sz="1295" dirty="0"/>
          </a:p>
        </p:txBody>
      </p:sp>
      <p:sp>
        <p:nvSpPr>
          <p:cNvPr id="23" name="Text 19"/>
          <p:cNvSpPr/>
          <p:nvPr/>
        </p:nvSpPr>
        <p:spPr>
          <a:xfrm>
            <a:off x="6095991" y="2951038"/>
            <a:ext cx="2476481" cy="205718"/>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1A1A1A"/>
                </a:solidFill>
              </a:rPr>
              <a:t>Performance Metrics</a:t>
            </a:r>
            <a:endParaRPr lang="en-US" sz="885" dirty="0"/>
          </a:p>
        </p:txBody>
      </p:sp>
      <p:sp>
        <p:nvSpPr>
          <p:cNvPr id="24" name="Text 20"/>
          <p:cNvSpPr/>
          <p:nvPr/>
        </p:nvSpPr>
        <p:spPr>
          <a:xfrm>
            <a:off x="6095991" y="3206762"/>
            <a:ext cx="2082878" cy="175022"/>
          </a:xfrm>
          <a:prstGeom prst="rect">
            <a:avLst/>
          </a:prstGeom>
          <a:noFill/>
          <a:ln/>
        </p:spPr>
        <p:txBody>
          <a:bodyPr wrap="none" lIns="0" tIns="0" rIns="0" bIns="0" rtlCol="0" anchor="t">
            <a:spAutoFit/>
          </a:bodyPr>
          <a:lstStyle/>
          <a:p>
            <a:pPr algn="l" indent="0" marL="0">
              <a:lnSpc>
                <a:spcPts val="1600"/>
              </a:lnSpc>
              <a:buNone/>
            </a:pPr>
            <a:r>
              <a:rPr lang="en-US" sz="942" dirty="0">
                <a:solidFill>
                  <a:srgbClr val="333333"/>
                </a:solidFill>
              </a:rPr>
              <a:t>Utilizing frameworks like RAGAS to</a:t>
            </a:r>
            <a:endParaRPr lang="en-US" sz="942" dirty="0"/>
          </a:p>
        </p:txBody>
      </p:sp>
      <p:sp>
        <p:nvSpPr>
          <p:cNvPr id="25" name="Text 21"/>
          <p:cNvSpPr/>
          <p:nvPr/>
        </p:nvSpPr>
        <p:spPr>
          <a:xfrm>
            <a:off x="6095991" y="3412480"/>
            <a:ext cx="2162352" cy="175022"/>
          </a:xfrm>
          <a:prstGeom prst="rect">
            <a:avLst/>
          </a:prstGeom>
          <a:noFill/>
          <a:ln/>
        </p:spPr>
        <p:txBody>
          <a:bodyPr wrap="none" lIns="0" tIns="0" rIns="0" bIns="0" rtlCol="0" anchor="t">
            <a:spAutoFit/>
          </a:bodyPr>
          <a:lstStyle/>
          <a:p>
            <a:pPr algn="l" indent="0" marL="0">
              <a:lnSpc>
                <a:spcPts val="1600"/>
              </a:lnSpc>
              <a:buNone/>
            </a:pPr>
            <a:r>
              <a:rPr lang="en-US" sz="942" dirty="0">
                <a:solidFill>
                  <a:srgbClr val="333333"/>
                </a:solidFill>
              </a:rPr>
              <a:t>quantitatively measure faithfulness,</a:t>
            </a:r>
            <a:endParaRPr lang="en-US" sz="942" dirty="0"/>
          </a:p>
        </p:txBody>
      </p:sp>
      <p:sp>
        <p:nvSpPr>
          <p:cNvPr id="26" name="Text 22"/>
          <p:cNvSpPr/>
          <p:nvPr/>
        </p:nvSpPr>
        <p:spPr>
          <a:xfrm>
            <a:off x="6095991" y="3618198"/>
            <a:ext cx="2284381" cy="175022"/>
          </a:xfrm>
          <a:prstGeom prst="rect">
            <a:avLst/>
          </a:prstGeom>
          <a:noFill/>
          <a:ln/>
        </p:spPr>
        <p:txBody>
          <a:bodyPr wrap="none" lIns="0" tIns="0" rIns="0" bIns="0" rtlCol="0" anchor="t">
            <a:spAutoFit/>
          </a:bodyPr>
          <a:lstStyle/>
          <a:p>
            <a:pPr algn="l" indent="0" marL="0">
              <a:lnSpc>
                <a:spcPts val="1600"/>
              </a:lnSpc>
              <a:buNone/>
            </a:pPr>
            <a:r>
              <a:rPr lang="en-US" sz="942" dirty="0">
                <a:solidFill>
                  <a:srgbClr val="333333"/>
                </a:solidFill>
              </a:rPr>
              <a:t>relevance, and the overall reliability of</a:t>
            </a:r>
            <a:endParaRPr lang="en-US" sz="942" dirty="0"/>
          </a:p>
        </p:txBody>
      </p:sp>
      <p:sp>
        <p:nvSpPr>
          <p:cNvPr id="27" name="Text 23"/>
          <p:cNvSpPr/>
          <p:nvPr/>
        </p:nvSpPr>
        <p:spPr>
          <a:xfrm>
            <a:off x="6095991" y="3823915"/>
            <a:ext cx="1162450" cy="175022"/>
          </a:xfrm>
          <a:prstGeom prst="rect">
            <a:avLst/>
          </a:prstGeom>
          <a:noFill/>
          <a:ln/>
        </p:spPr>
        <p:txBody>
          <a:bodyPr wrap="none" lIns="0" tIns="0" rIns="0" bIns="0" rtlCol="0" anchor="t">
            <a:spAutoFit/>
          </a:bodyPr>
          <a:lstStyle/>
          <a:p>
            <a:pPr algn="l" indent="0" marL="0">
              <a:lnSpc>
                <a:spcPts val="1600"/>
              </a:lnSpc>
              <a:buNone/>
            </a:pPr>
            <a:r>
              <a:rPr lang="en-US" sz="942" dirty="0">
                <a:solidFill>
                  <a:srgbClr val="333333"/>
                </a:solidFill>
              </a:rPr>
              <a:t>generated outputs.</a:t>
            </a:r>
            <a:endParaRPr lang="en-US" sz="942" dirty="0"/>
          </a:p>
        </p:txBody>
      </p:sp>
      <p:sp>
        <p:nvSpPr>
          <p:cNvPr id="28" name="Text 24"/>
          <p:cNvSpPr/>
          <p:nvPr/>
        </p:nvSpPr>
        <p:spPr>
          <a:xfrm>
            <a:off x="6352105" y="4579144"/>
            <a:ext cx="2220395"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F4500"/>
                </a:solidFill>
              </a:rPr>
              <a:t>GOV_ETHICS_FRAMEWORK // SECURE_AI_2025</a:t>
            </a:r>
            <a:endParaRPr lang="en-US" sz="683"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572500" cy="660071"/>
          </a:xfrm>
          <a:prstGeom prst="rect">
            <a:avLst/>
          </a:prstGeom>
          <a:noFill/>
          <a:ln/>
        </p:spPr>
        <p:txBody>
          <a:bodyPr wrap="square" lIns="255143" tIns="0" rIns="0" bIns="0" rtlCol="0" anchor="t">
            <a:spAutoFit/>
          </a:bodyPr>
          <a:lstStyle/>
          <a:p>
            <a:pPr algn="l" indent="0" marL="0">
              <a:lnSpc>
                <a:spcPts val="2600"/>
              </a:lnSpc>
              <a:buNone/>
            </a:pPr>
            <a:r>
              <a:rPr lang="en-US" sz="2121" b="1" spc="-1" kern="0" dirty="0">
                <a:solidFill>
                  <a:srgbClr val="1A1A1A"/>
                </a:solidFill>
              </a:rPr>
              <a:t>Beyond Retrieval: Agents that</a:t>
            </a:r>
            <a:pPr algn="l" indent="0" marL="0">
              <a:lnSpc>
                <a:spcPts val="2600"/>
              </a:lnSpc>
              <a:buNone/>
            </a:pPr>
            <a:r>
              <a:rPr lang="en-US" sz="2121" b="1" spc="-1" kern="0" dirty="0">
                <a:solidFill>
                  <a:srgbClr val="1A1A1A"/>
                </a:solidFill>
              </a:rPr>
              <a:t>
</a:t>
            </a:r>
            <a:pPr algn="l" indent="0" marL="0">
              <a:lnSpc>
                <a:spcPts val="2600"/>
              </a:lnSpc>
              <a:buNone/>
            </a:pPr>
            <a:r>
              <a:rPr lang="en-US" sz="2121" b="1" spc="-1" kern="0" dirty="0">
                <a:solidFill>
                  <a:srgbClr val="1A1A1A"/>
                </a:solidFill>
              </a:rPr>
              <a:t>Critique and Refine Knowledge</a:t>
            </a:r>
            <a:endParaRPr lang="en-US" sz="2121" dirty="0"/>
          </a:p>
        </p:txBody>
      </p:sp>
      <p:sp>
        <p:nvSpPr>
          <p:cNvPr id="5" name="Text 1"/>
          <p:cNvSpPr/>
          <p:nvPr/>
        </p:nvSpPr>
        <p:spPr>
          <a:xfrm>
            <a:off x="571500" y="1517321"/>
            <a:ext cx="3214688" cy="135731"/>
          </a:xfrm>
          <a:prstGeom prst="rect">
            <a:avLst/>
          </a:prstGeom>
          <a:noFill/>
          <a:ln/>
        </p:spPr>
        <p:txBody>
          <a:bodyPr wrap="none" lIns="0" tIns="0" rIns="0" bIns="0" rtlCol="0" anchor="t">
            <a:spAutoFit/>
          </a:bodyPr>
          <a:lstStyle/>
          <a:p>
            <a:pPr algn="l" indent="0" marL="0">
              <a:lnSpc>
                <a:spcPts val="900"/>
              </a:lnSpc>
              <a:buNone/>
            </a:pPr>
            <a:r>
              <a:rPr lang="en-US" sz="683" b="1" spc="2" kern="0" dirty="0">
                <a:solidFill>
                  <a:srgbClr val="FF4500"/>
                </a:solidFill>
              </a:rPr>
              <a:t>The Concept</a:t>
            </a:r>
            <a:endParaRPr lang="en-US" sz="683" dirty="0"/>
          </a:p>
        </p:txBody>
      </p:sp>
      <p:sp>
        <p:nvSpPr>
          <p:cNvPr id="6" name="Text 2"/>
          <p:cNvSpPr/>
          <p:nvPr/>
        </p:nvSpPr>
        <p:spPr>
          <a:xfrm>
            <a:off x="571500" y="1795928"/>
            <a:ext cx="3214688" cy="857250"/>
          </a:xfrm>
          <a:prstGeom prst="rect">
            <a:avLst/>
          </a:prstGeom>
          <a:noFill/>
          <a:ln/>
        </p:spPr>
        <p:txBody>
          <a:bodyPr wrap="square" lIns="0" tIns="0" rIns="0" bIns="0" rtlCol="0" anchor="t">
            <a:spAutoFit/>
          </a:bodyPr>
          <a:lstStyle/>
          <a:p>
            <a:pPr algn="l" indent="0" marL="0">
              <a:lnSpc>
                <a:spcPts val="1700"/>
              </a:lnSpc>
              <a:buNone/>
            </a:pPr>
            <a:r>
              <a:rPr lang="en-US" sz="1050" dirty="0">
                <a:solidFill>
                  <a:srgbClr val="333333"/>
                </a:solidFill>
              </a:rPr>
              <a:t>Agentic RAG upgrades standard retrieval by integrating LLM-powered agents to introduce autonomous decision-making and iterative refinement.</a:t>
            </a:r>
            <a:endParaRPr lang="en-US" sz="1050" dirty="0"/>
          </a:p>
        </p:txBody>
      </p:sp>
      <p:sp>
        <p:nvSpPr>
          <p:cNvPr id="7" name="Text 3"/>
          <p:cNvSpPr/>
          <p:nvPr/>
        </p:nvSpPr>
        <p:spPr>
          <a:xfrm>
            <a:off x="571500" y="3088946"/>
            <a:ext cx="3214688"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1A1A"/>
                </a:solidFill>
              </a:rPr>
              <a:t>Retriever Router</a:t>
            </a:r>
            <a:endParaRPr lang="en-US" sz="1090" dirty="0"/>
          </a:p>
        </p:txBody>
      </p:sp>
      <p:sp>
        <p:nvSpPr>
          <p:cNvPr id="8" name="Text 4"/>
          <p:cNvSpPr/>
          <p:nvPr/>
        </p:nvSpPr>
        <p:spPr>
          <a:xfrm>
            <a:off x="571500" y="3374696"/>
            <a:ext cx="3214688"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333333"/>
                </a:solidFill>
              </a:rPr>
              <a:t>Intelligently analyzes queries to select the optimal data source (SQL, Vector DB, or Web Search).</a:t>
            </a:r>
            <a:endParaRPr lang="en-US" sz="834" dirty="0"/>
          </a:p>
        </p:txBody>
      </p:sp>
      <p:sp>
        <p:nvSpPr>
          <p:cNvPr id="9" name="Text 5"/>
          <p:cNvSpPr/>
          <p:nvPr/>
        </p:nvSpPr>
        <p:spPr>
          <a:xfrm>
            <a:off x="571500" y="4059045"/>
            <a:ext cx="3214688"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1A1A"/>
                </a:solidFill>
              </a:rPr>
              <a:t>Answer Critic</a:t>
            </a:r>
            <a:endParaRPr lang="en-US" sz="1090" dirty="0"/>
          </a:p>
        </p:txBody>
      </p:sp>
      <p:sp>
        <p:nvSpPr>
          <p:cNvPr id="10" name="Text 6"/>
          <p:cNvSpPr/>
          <p:nvPr/>
        </p:nvSpPr>
        <p:spPr>
          <a:xfrm>
            <a:off x="571500" y="4344795"/>
            <a:ext cx="3214688"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333333"/>
                </a:solidFill>
              </a:rPr>
              <a:t>Evaluates generated responses for accuracy and completeness, triggering further retrieval if gaps are found.</a:t>
            </a:r>
            <a:endParaRPr lang="en-US" sz="834" dirty="0"/>
          </a:p>
        </p:txBody>
      </p:sp>
      <p:pic>
        <p:nvPicPr>
          <p:cNvPr id="11" name="Image 1" descr="preencoded.png">    </p:cNvPr>
          <p:cNvPicPr>
            <a:picLocks noChangeAspect="1"/>
          </p:cNvPicPr>
          <p:nvPr/>
        </p:nvPicPr>
        <p:blipFill>
          <a:blip r:embed="rId2"/>
          <a:stretch>
            <a:fillRect/>
          </a:stretch>
        </p:blipFill>
        <p:spPr>
          <a:xfrm>
            <a:off x="4214813" y="1517321"/>
            <a:ext cx="4286250" cy="1500188"/>
          </a:xfrm>
          <a:prstGeom prst="rect">
            <a:avLst/>
          </a:prstGeom>
        </p:spPr>
      </p:pic>
      <p:sp>
        <p:nvSpPr>
          <p:cNvPr id="12" name="Text 7"/>
          <p:cNvSpPr/>
          <p:nvPr/>
        </p:nvSpPr>
        <p:spPr>
          <a:xfrm>
            <a:off x="4214813" y="3087160"/>
            <a:ext cx="4929188"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666666"/>
                </a:solidFill>
              </a:rPr>
              <a:t>FIG_11A: AGENTIC RAG ARCHITECTURE OVERVIEW</a:t>
            </a:r>
            <a:endParaRPr lang="en-US" sz="621" dirty="0"/>
          </a:p>
        </p:txBody>
      </p:sp>
      <p:pic>
        <p:nvPicPr>
          <p:cNvPr id="13" name="Image 2" descr="preencoded.png">    </p:cNvPr>
          <p:cNvPicPr>
            <a:picLocks noChangeAspect="1"/>
          </p:cNvPicPr>
          <p:nvPr/>
        </p:nvPicPr>
        <p:blipFill>
          <a:blip r:embed="rId3"/>
          <a:stretch>
            <a:fillRect/>
          </a:stretch>
        </p:blipFill>
        <p:spPr>
          <a:xfrm>
            <a:off x="4214813" y="3346121"/>
            <a:ext cx="4286250" cy="1500188"/>
          </a:xfrm>
          <a:prstGeom prst="rect">
            <a:avLst/>
          </a:prstGeom>
        </p:spPr>
      </p:pic>
      <p:sp>
        <p:nvSpPr>
          <p:cNvPr id="14" name="Text 8"/>
          <p:cNvSpPr/>
          <p:nvPr/>
        </p:nvSpPr>
        <p:spPr>
          <a:xfrm>
            <a:off x="4214813" y="4915960"/>
            <a:ext cx="4929188"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666666"/>
                </a:solidFill>
              </a:rPr>
              <a:t>FIG_11B: ITERATIVE REFINEMENT WORKFLOW</a:t>
            </a:r>
            <a:endParaRPr lang="en-US" sz="62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254228"/>
          </a:xfrm>
          <a:prstGeom prst="rect">
            <a:avLst/>
          </a:prstGeom>
        </p:spPr>
      </p:pic>
      <p:sp>
        <p:nvSpPr>
          <p:cNvPr id="4" name="Shape 0"/>
          <p:cNvSpPr/>
          <p:nvPr/>
        </p:nvSpPr>
        <p:spPr>
          <a:xfrm>
            <a:off x="285750" y="0"/>
            <a:ext cx="8858250" cy="1114425"/>
          </a:xfrm>
          <a:prstGeom prst="rect">
            <a:avLst/>
          </a:prstGeom>
          <a:solidFill>
            <a:srgbClr val="000000">
              <a:alpha val="0"/>
            </a:srgbClr>
          </a:solidFill>
          <a:ln/>
        </p:spPr>
      </p:sp>
      <p:sp>
        <p:nvSpPr>
          <p:cNvPr id="5" name="Shape 1"/>
          <p:cNvSpPr/>
          <p:nvPr/>
        </p:nvSpPr>
        <p:spPr>
          <a:xfrm>
            <a:off x="285750" y="0"/>
            <a:ext cx="107156" cy="1114425"/>
          </a:xfrm>
          <a:prstGeom prst="rect">
            <a:avLst/>
          </a:prstGeom>
          <a:solidFill>
            <a:srgbClr val="FF4500"/>
          </a:solidFill>
          <a:ln/>
        </p:spPr>
      </p:sp>
      <p:sp>
        <p:nvSpPr>
          <p:cNvPr id="6" name="Text 2"/>
          <p:cNvSpPr/>
          <p:nvPr/>
        </p:nvSpPr>
        <p:spPr>
          <a:xfrm>
            <a:off x="857250" y="428625"/>
            <a:ext cx="8286750" cy="685800"/>
          </a:xfrm>
          <a:prstGeom prst="rect">
            <a:avLst/>
          </a:prstGeom>
          <a:noFill/>
          <a:ln/>
        </p:spPr>
        <p:txBody>
          <a:bodyPr wrap="square" lIns="0" tIns="0" rIns="0" bIns="0" rtlCol="0" anchor="t">
            <a:spAutoFit/>
          </a:bodyPr>
          <a:lstStyle/>
          <a:p>
            <a:pPr algn="l" indent="0" marL="0">
              <a:lnSpc>
                <a:spcPts val="2700"/>
              </a:lnSpc>
              <a:buNone/>
            </a:pPr>
            <a:r>
              <a:rPr lang="en-US" sz="2436" b="1" spc="-2" kern="0" dirty="0">
                <a:solidFill>
                  <a:srgbClr val="1A1A1A"/>
                </a:solidFill>
              </a:rPr>
              <a:t>Choosing the Right Tool</a:t>
            </a:r>
            <a:pPr algn="l" indent="0" marL="0">
              <a:lnSpc>
                <a:spcPts val="2700"/>
              </a:lnSpc>
              <a:buNone/>
            </a:pPr>
            <a:r>
              <a:rPr lang="en-US" sz="2436" b="1" spc="-2" kern="0" dirty="0">
                <a:solidFill>
                  <a:srgbClr val="1A1A1A"/>
                </a:solidFill>
              </a:rPr>
              <a:t>
</a:t>
            </a:r>
            <a:pPr algn="l" indent="0" marL="0">
              <a:lnSpc>
                <a:spcPts val="2700"/>
              </a:lnSpc>
              <a:buNone/>
            </a:pPr>
            <a:r>
              <a:rPr lang="en-US" sz="2436" b="1" spc="-2" kern="0" dirty="0">
                <a:solidFill>
                  <a:srgbClr val="1A1A1A"/>
                </a:solidFill>
              </a:rPr>
              <a:t>for the Mission</a:t>
            </a:r>
            <a:endParaRPr lang="en-US" sz="2436" dirty="0"/>
          </a:p>
        </p:txBody>
      </p:sp>
      <p:sp>
        <p:nvSpPr>
          <p:cNvPr id="7" name="Text 3"/>
          <p:cNvSpPr/>
          <p:nvPr/>
        </p:nvSpPr>
        <p:spPr>
          <a:xfrm>
            <a:off x="571500" y="1400175"/>
            <a:ext cx="4000500" cy="135731"/>
          </a:xfrm>
          <a:prstGeom prst="rect">
            <a:avLst/>
          </a:prstGeom>
          <a:noFill/>
          <a:ln/>
        </p:spPr>
        <p:txBody>
          <a:bodyPr wrap="none" lIns="0" tIns="0" rIns="0" bIns="0" rtlCol="0" anchor="t">
            <a:spAutoFit/>
          </a:bodyPr>
          <a:lstStyle/>
          <a:p>
            <a:pPr algn="l" indent="0" marL="0">
              <a:lnSpc>
                <a:spcPts val="900"/>
              </a:lnSpc>
              <a:buNone/>
            </a:pPr>
            <a:r>
              <a:rPr lang="en-US" sz="683" b="1" spc="2" kern="0" dirty="0">
                <a:solidFill>
                  <a:srgbClr val="FF4500"/>
                </a:solidFill>
              </a:rPr>
              <a:t>Workflow-Based</a:t>
            </a:r>
            <a:endParaRPr lang="en-US" sz="683" dirty="0"/>
          </a:p>
        </p:txBody>
      </p:sp>
      <p:sp>
        <p:nvSpPr>
          <p:cNvPr id="8" name="Text 4"/>
          <p:cNvSpPr/>
          <p:nvPr/>
        </p:nvSpPr>
        <p:spPr>
          <a:xfrm>
            <a:off x="571500" y="1643063"/>
            <a:ext cx="4000500" cy="312539"/>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1A1A1A"/>
                </a:solidFill>
              </a:rPr>
              <a:t>n8n</a:t>
            </a:r>
            <a:endParaRPr lang="en-US" sz="1602" dirty="0"/>
          </a:p>
        </p:txBody>
      </p:sp>
      <p:sp>
        <p:nvSpPr>
          <p:cNvPr id="9" name="Text 5"/>
          <p:cNvSpPr/>
          <p:nvPr/>
        </p:nvSpPr>
        <p:spPr>
          <a:xfrm>
            <a:off x="571500" y="2098477"/>
            <a:ext cx="3214688" cy="578644"/>
          </a:xfrm>
          <a:prstGeom prst="rect">
            <a:avLst/>
          </a:prstGeom>
          <a:noFill/>
          <a:ln/>
        </p:spPr>
        <p:txBody>
          <a:bodyPr wrap="square" lIns="0" tIns="0" rIns="0" bIns="0" rtlCol="0" anchor="t">
            <a:spAutoFit/>
          </a:bodyPr>
          <a:lstStyle/>
          <a:p>
            <a:pPr algn="l" indent="0" marL="0">
              <a:lnSpc>
                <a:spcPts val="1500"/>
              </a:lnSpc>
              <a:buNone/>
            </a:pPr>
            <a:r>
              <a:rPr lang="en-US" sz="942" dirty="0">
                <a:solidFill>
                  <a:srgbClr val="333333"/>
                </a:solidFill>
              </a:rPr>
              <a:t>Visual, low-code automation platform. Ideal for complex enterprise integrations, API orchestration, and visual logic flows.</a:t>
            </a:r>
            <a:endParaRPr lang="en-US" sz="942" dirty="0"/>
          </a:p>
        </p:txBody>
      </p:sp>
      <p:sp>
        <p:nvSpPr>
          <p:cNvPr id="10" name="Text 6"/>
          <p:cNvSpPr/>
          <p:nvPr/>
        </p:nvSpPr>
        <p:spPr>
          <a:xfrm>
            <a:off x="4572000" y="1400175"/>
            <a:ext cx="4000500" cy="135731"/>
          </a:xfrm>
          <a:prstGeom prst="rect">
            <a:avLst/>
          </a:prstGeom>
          <a:noFill/>
          <a:ln/>
        </p:spPr>
        <p:txBody>
          <a:bodyPr wrap="none" lIns="0" tIns="0" rIns="0" bIns="0" rtlCol="0" anchor="t">
            <a:spAutoFit/>
          </a:bodyPr>
          <a:lstStyle/>
          <a:p>
            <a:pPr algn="l" indent="0" marL="0">
              <a:lnSpc>
                <a:spcPts val="900"/>
              </a:lnSpc>
              <a:buNone/>
            </a:pPr>
            <a:r>
              <a:rPr lang="en-US" sz="683" b="1" spc="2" kern="0" dirty="0">
                <a:solidFill>
                  <a:srgbClr val="FF4500"/>
                </a:solidFill>
              </a:rPr>
              <a:t>Program-Flow</a:t>
            </a:r>
            <a:endParaRPr lang="en-US" sz="683" dirty="0"/>
          </a:p>
        </p:txBody>
      </p:sp>
      <p:sp>
        <p:nvSpPr>
          <p:cNvPr id="11" name="Text 7"/>
          <p:cNvSpPr/>
          <p:nvPr/>
        </p:nvSpPr>
        <p:spPr>
          <a:xfrm>
            <a:off x="4572000" y="1643063"/>
            <a:ext cx="4000500" cy="312539"/>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1A1A1A"/>
                </a:solidFill>
              </a:rPr>
              <a:t>CrewAI</a:t>
            </a:r>
            <a:endParaRPr lang="en-US" sz="1602" dirty="0"/>
          </a:p>
        </p:txBody>
      </p:sp>
      <p:sp>
        <p:nvSpPr>
          <p:cNvPr id="12" name="Text 8"/>
          <p:cNvSpPr/>
          <p:nvPr/>
        </p:nvSpPr>
        <p:spPr>
          <a:xfrm>
            <a:off x="4572000" y="2098477"/>
            <a:ext cx="3214688" cy="578644"/>
          </a:xfrm>
          <a:prstGeom prst="rect">
            <a:avLst/>
          </a:prstGeom>
          <a:noFill/>
          <a:ln/>
        </p:spPr>
        <p:txBody>
          <a:bodyPr wrap="square" lIns="0" tIns="0" rIns="0" bIns="0" rtlCol="0" anchor="t">
            <a:spAutoFit/>
          </a:bodyPr>
          <a:lstStyle/>
          <a:p>
            <a:pPr algn="l" indent="0" marL="0">
              <a:lnSpc>
                <a:spcPts val="1500"/>
              </a:lnSpc>
              <a:buNone/>
            </a:pPr>
            <a:r>
              <a:rPr lang="en-US" sz="942" dirty="0">
                <a:solidFill>
                  <a:srgbClr val="333333"/>
                </a:solidFill>
              </a:rPr>
              <a:t>Python-centric framework for orchestrating autonomous role-playing agents. Best for complex reasoning and collaborative tasks.</a:t>
            </a:r>
            <a:endParaRPr lang="en-US" sz="942" dirty="0"/>
          </a:p>
        </p:txBody>
      </p:sp>
      <p:pic>
        <p:nvPicPr>
          <p:cNvPr id="13" name="Image 1" descr="preencoded.png">    </p:cNvPr>
          <p:cNvPicPr>
            <a:picLocks noChangeAspect="1"/>
          </p:cNvPicPr>
          <p:nvPr/>
        </p:nvPicPr>
        <p:blipFill>
          <a:blip r:embed="rId2"/>
          <a:stretch>
            <a:fillRect/>
          </a:stretch>
        </p:blipFill>
        <p:spPr>
          <a:xfrm>
            <a:off x="2428875" y="2819995"/>
            <a:ext cx="4286250" cy="1571625"/>
          </a:xfrm>
          <a:prstGeom prst="rect">
            <a:avLst/>
          </a:prstGeom>
        </p:spPr>
      </p:pic>
      <p:sp>
        <p:nvSpPr>
          <p:cNvPr id="14" name="Shape 9"/>
          <p:cNvSpPr/>
          <p:nvPr/>
        </p:nvSpPr>
        <p:spPr>
          <a:xfrm>
            <a:off x="571500" y="4505920"/>
            <a:ext cx="8001000" cy="748308"/>
          </a:xfrm>
          <a:prstGeom prst="rect">
            <a:avLst/>
          </a:prstGeom>
          <a:solidFill>
            <a:srgbClr val="1A1A1A"/>
          </a:solidFill>
          <a:ln/>
        </p:spPr>
      </p:sp>
      <p:sp>
        <p:nvSpPr>
          <p:cNvPr id="15" name="Text 10"/>
          <p:cNvSpPr/>
          <p:nvPr/>
        </p:nvSpPr>
        <p:spPr>
          <a:xfrm>
            <a:off x="785813" y="4591645"/>
            <a:ext cx="7572375"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FF4500"/>
                </a:solidFill>
              </a:rPr>
              <a:t>Practical Demonstration Scenario</a:t>
            </a:r>
            <a:endParaRPr lang="en-US" sz="584" dirty="0"/>
          </a:p>
        </p:txBody>
      </p:sp>
      <p:sp>
        <p:nvSpPr>
          <p:cNvPr id="16" name="Text 11"/>
          <p:cNvSpPr/>
          <p:nvPr/>
        </p:nvSpPr>
        <p:spPr>
          <a:xfrm>
            <a:off x="785813" y="4779169"/>
            <a:ext cx="7572375" cy="389334"/>
          </a:xfrm>
          <a:prstGeom prst="rect">
            <a:avLst/>
          </a:prstGeom>
          <a:noFill/>
          <a:ln/>
        </p:spPr>
        <p:txBody>
          <a:bodyPr wrap="square" lIns="0" tIns="0" rIns="0" bIns="0" rtlCol="0" anchor="t">
            <a:spAutoFit/>
          </a:bodyPr>
          <a:lstStyle/>
          <a:p>
            <a:pPr algn="l" indent="0" marL="0">
              <a:lnSpc>
                <a:spcPts val="1400"/>
              </a:lnSpc>
              <a:buNone/>
            </a:pPr>
            <a:r>
              <a:rPr lang="en-US" sz="987" b="1" dirty="0">
                <a:solidFill>
                  <a:srgbClr val="F2F2F2"/>
                </a:solidFill>
              </a:rPr>
              <a:t>Automating a multi-step Research &amp; Reporting Pipeline: From web scraping and data synthesis to final document generation.</a:t>
            </a:r>
            <a:endParaRPr lang="en-US" sz="98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2025-12-27T01:10:32Z</dcterms:created>
  <dcterms:modified xsi:type="dcterms:W3CDTF">2025-12-27T01:10:32Z</dcterms:modified>
</cp:coreProperties>
</file>