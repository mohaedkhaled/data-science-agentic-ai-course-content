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2" r:id="rId6"/>
    <p:sldId id="261" r:id="rId7"/>
    <p:sldId id="263" r:id="rId8"/>
    <p:sldId id="264" r:id="rId9"/>
    <p:sldId id="267" r:id="rId10"/>
    <p:sldId id="268" r:id="rId11"/>
    <p:sldId id="269" r:id="rId12"/>
    <p:sldId id="265" r:id="rId13"/>
    <p:sldId id="266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3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828800" y="3159760"/>
            <a:ext cx="4572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7240" y="1219200"/>
            <a:ext cx="75438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3375491"/>
            <a:ext cx="61722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67200" y="4074497"/>
            <a:ext cx="4572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4267368"/>
            <a:ext cx="37338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86000" y="1905000"/>
            <a:ext cx="603504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344168" y="658368"/>
            <a:ext cx="3273552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5029200" y="658368"/>
            <a:ext cx="3273552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112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44168" y="1371600"/>
            <a:ext cx="32766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29200" y="661976"/>
            <a:ext cx="3273552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29200" y="1371600"/>
            <a:ext cx="3273552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5664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80280" y="520192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28920" y="1774588"/>
            <a:ext cx="4572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1"/>
            <a:ext cx="43434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0" y="685801"/>
            <a:ext cx="25908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219200" y="612775"/>
            <a:ext cx="67056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743200" y="3453047"/>
            <a:ext cx="50292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5352" y="3331464"/>
            <a:ext cx="4572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33600" y="685801"/>
            <a:ext cx="57912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09600" y="609601"/>
            <a:ext cx="21336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95600" y="685801"/>
            <a:ext cx="50292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373221" y="1038440"/>
            <a:ext cx="724062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-274211" y="1165875"/>
            <a:ext cx="5538472" cy="448045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3277955" y="116854"/>
            <a:ext cx="6479362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7240" y="4876800"/>
            <a:ext cx="75438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685801"/>
            <a:ext cx="6096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B14B925-FCA7-4F3E-9234-5E08B7F1EEE3}" type="datetimeFigureOut">
              <a:rPr lang="en-US" smtClean="0"/>
              <a:t>10/11/2023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22960" y="6154738"/>
            <a:ext cx="4572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2960" y="5842000"/>
            <a:ext cx="21336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CAED96CE-8A45-4E6B-B9A2-36309F55C889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f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f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fi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fi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f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404664"/>
            <a:ext cx="6996578" cy="2880320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4" y="4077072"/>
            <a:ext cx="7543800" cy="914400"/>
          </a:xfrm>
        </p:spPr>
        <p:txBody>
          <a:bodyPr/>
          <a:lstStyle/>
          <a:p>
            <a:r>
              <a:rPr lang="en-US" dirty="0" smtClean="0"/>
              <a:t>MACHINE LEARNING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5115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3600400" cy="914400"/>
          </a:xfrm>
          <a:solidFill>
            <a:schemeClr val="tx1"/>
          </a:solidFill>
        </p:spPr>
        <p:txBody>
          <a:bodyPr/>
          <a:lstStyle/>
          <a:p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ROADMAP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0864" y="1124744"/>
            <a:ext cx="9036496" cy="5661248"/>
          </a:xfrm>
        </p:spPr>
        <p:txBody>
          <a:bodyPr>
            <a:normAutofit fontScale="92500" lnSpcReduction="20000"/>
          </a:bodyPr>
          <a:lstStyle/>
          <a:p>
            <a:pPr marL="18288" indent="0">
              <a:buNone/>
            </a:pPr>
            <a:r>
              <a:rPr lang="en-US" dirty="0"/>
              <a:t>What is Machine Learning? What problems does it try to solve? What are the</a:t>
            </a:r>
          </a:p>
          <a:p>
            <a:pPr marL="18288" indent="0">
              <a:buNone/>
            </a:pPr>
            <a:r>
              <a:rPr lang="en-US" dirty="0"/>
              <a:t>main categories and fundamental concepts of Machine Learning systems?</a:t>
            </a:r>
          </a:p>
          <a:p>
            <a:pPr marL="18288" indent="0">
              <a:buNone/>
            </a:pPr>
            <a:r>
              <a:rPr lang="en-US" dirty="0"/>
              <a:t>• The main steps in a typical Machine Learning project.</a:t>
            </a:r>
          </a:p>
          <a:p>
            <a:pPr marL="18288" indent="0">
              <a:buNone/>
            </a:pPr>
            <a:r>
              <a:rPr lang="en-US" dirty="0"/>
              <a:t>• Learning by fitting a model to data.</a:t>
            </a:r>
          </a:p>
          <a:p>
            <a:pPr marL="18288" indent="0">
              <a:buNone/>
            </a:pPr>
            <a:r>
              <a:rPr lang="en-US" dirty="0"/>
              <a:t>• Optimizing a cost function.</a:t>
            </a:r>
          </a:p>
          <a:p>
            <a:pPr marL="18288" indent="0">
              <a:buNone/>
            </a:pPr>
            <a:r>
              <a:rPr lang="en-US" dirty="0"/>
              <a:t>• Handling, cleaning, and preparing data.</a:t>
            </a:r>
          </a:p>
          <a:p>
            <a:pPr marL="18288" indent="0">
              <a:buNone/>
            </a:pPr>
            <a:r>
              <a:rPr lang="en-US" dirty="0"/>
              <a:t>• Selecting and engineering features.</a:t>
            </a:r>
          </a:p>
          <a:p>
            <a:pPr marL="18288" indent="0">
              <a:buNone/>
            </a:pPr>
            <a:r>
              <a:rPr lang="en-US" dirty="0"/>
              <a:t>• Selecting a model and tuning </a:t>
            </a:r>
            <a:r>
              <a:rPr lang="en-US" dirty="0" err="1"/>
              <a:t>hyperparameters</a:t>
            </a:r>
            <a:r>
              <a:rPr lang="en-US" dirty="0"/>
              <a:t> using cross-validation.</a:t>
            </a:r>
          </a:p>
          <a:p>
            <a:pPr marL="18288" indent="0">
              <a:buNone/>
            </a:pPr>
            <a:r>
              <a:rPr lang="en-US" dirty="0"/>
              <a:t>• The main challenges of Machine Learning, in particular </a:t>
            </a:r>
            <a:r>
              <a:rPr lang="en-US" dirty="0" err="1"/>
              <a:t>underfitting</a:t>
            </a:r>
            <a:r>
              <a:rPr lang="en-US" dirty="0"/>
              <a:t> and </a:t>
            </a:r>
            <a:r>
              <a:rPr lang="en-US" dirty="0" err="1"/>
              <a:t>overfit</a:t>
            </a:r>
            <a:r>
              <a:rPr lang="en-US" dirty="0"/>
              <a:t>‐</a:t>
            </a:r>
          </a:p>
          <a:p>
            <a:pPr marL="18288" indent="0">
              <a:buNone/>
            </a:pPr>
            <a:r>
              <a:rPr lang="en-US" dirty="0"/>
              <a:t>ting (the bias/variance tradeoff).</a:t>
            </a:r>
          </a:p>
          <a:p>
            <a:pPr marL="18288" indent="0">
              <a:buNone/>
            </a:pPr>
            <a:r>
              <a:rPr lang="en-US" dirty="0"/>
              <a:t>• Reducing the dimensionality of the training data to fight the curse of dimension‐</a:t>
            </a:r>
          </a:p>
          <a:p>
            <a:pPr marL="18288" indent="0">
              <a:buNone/>
            </a:pPr>
            <a:r>
              <a:rPr lang="en-US" dirty="0" err="1"/>
              <a:t>ality</a:t>
            </a:r>
            <a:r>
              <a:rPr lang="en-US" dirty="0"/>
              <a:t>.</a:t>
            </a:r>
          </a:p>
          <a:p>
            <a:pPr marL="18288" indent="0">
              <a:buNone/>
            </a:pPr>
            <a:r>
              <a:rPr lang="en-US" dirty="0"/>
              <a:t>• Other unsupervised learning techniques, including clustering, density estimation</a:t>
            </a:r>
          </a:p>
          <a:p>
            <a:pPr marL="18288" indent="0">
              <a:buNone/>
            </a:pPr>
            <a:r>
              <a:rPr lang="en-US" dirty="0"/>
              <a:t>and anomaly detection</a:t>
            </a:r>
            <a:r>
              <a:rPr lang="en-US" dirty="0" smtClean="0"/>
              <a:t>.</a:t>
            </a:r>
            <a:endParaRPr lang="en-US" dirty="0"/>
          </a:p>
          <a:p>
            <a:pPr marL="18288" indent="0">
              <a:buNone/>
            </a:pPr>
            <a:r>
              <a:rPr lang="en-US" dirty="0"/>
              <a:t>• The most common learning algorithms: Linear and Polynomial Regression,</a:t>
            </a:r>
          </a:p>
          <a:p>
            <a:pPr marL="18288" indent="0">
              <a:buNone/>
            </a:pPr>
            <a:r>
              <a:rPr lang="en-US" dirty="0"/>
              <a:t>Logistic Regression, k-Nearest Neighbors, Support Vector Machines, Decision</a:t>
            </a:r>
          </a:p>
          <a:p>
            <a:pPr marL="18288" indent="0">
              <a:buNone/>
            </a:pPr>
            <a:r>
              <a:rPr lang="en-US" dirty="0"/>
              <a:t>Trees, Random Forests, and Ensemble methods.</a:t>
            </a:r>
          </a:p>
        </p:txBody>
      </p:sp>
    </p:spTree>
    <p:extLst>
      <p:ext uri="{BB962C8B-B14F-4D97-AF65-F5344CB8AC3E}">
        <p14:creationId xmlns:p14="http://schemas.microsoft.com/office/powerpoint/2010/main" val="1240352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0"/>
            <a:ext cx="5964265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/>
              <a:t>What Is Machine Learning?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144" y="1052736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Machine Learning is the science (and art) of programming computers so they can</a:t>
            </a:r>
          </a:p>
          <a:p>
            <a:r>
              <a:rPr lang="en-US" dirty="0" smtClean="0"/>
              <a:t>learn from data.</a:t>
            </a:r>
          </a:p>
          <a:p>
            <a:r>
              <a:rPr lang="en-US" dirty="0" smtClean="0"/>
              <a:t>Here is a slightly more general definition:</a:t>
            </a:r>
          </a:p>
          <a:p>
            <a:r>
              <a:rPr lang="en-US" dirty="0" smtClean="0"/>
              <a:t>[Machine Learning is the] field of study that gives computers the ability to learn</a:t>
            </a:r>
          </a:p>
          <a:p>
            <a:r>
              <a:rPr lang="en-US" dirty="0" smtClean="0"/>
              <a:t>without being explicitly programmed.</a:t>
            </a:r>
          </a:p>
          <a:p>
            <a:r>
              <a:rPr lang="en-US" dirty="0" smtClean="0"/>
              <a:t>—Arthur Samuel, 1959</a:t>
            </a:r>
          </a:p>
          <a:p>
            <a:r>
              <a:rPr lang="en-US" dirty="0" smtClean="0"/>
              <a:t>And a more engineering-oriented one:</a:t>
            </a:r>
          </a:p>
          <a:p>
            <a:r>
              <a:rPr lang="en-US" dirty="0" smtClean="0"/>
              <a:t>A computer program is said to learn from experience E with respect to some task T</a:t>
            </a:r>
          </a:p>
          <a:p>
            <a:r>
              <a:rPr lang="en-US" dirty="0" smtClean="0"/>
              <a:t>and some performance measure P, if its performance on T, as measured by P, improves</a:t>
            </a:r>
          </a:p>
          <a:p>
            <a:r>
              <a:rPr lang="en-US" dirty="0" smtClean="0"/>
              <a:t>with experience E.</a:t>
            </a:r>
          </a:p>
          <a:p>
            <a:r>
              <a:rPr lang="en-US" dirty="0" smtClean="0"/>
              <a:t>—Tom Mitchell, 1997</a:t>
            </a:r>
          </a:p>
          <a:p>
            <a:r>
              <a:rPr lang="en-US" dirty="0" smtClean="0"/>
              <a:t>For example, your spam filter is a Machine Learning program that can learn to flag</a:t>
            </a:r>
          </a:p>
          <a:p>
            <a:r>
              <a:rPr lang="en-US" dirty="0" smtClean="0"/>
              <a:t>spam given examples of spam emails (e.g., flagged by users) and examples of regular</a:t>
            </a:r>
          </a:p>
          <a:p>
            <a:r>
              <a:rPr lang="en-US" dirty="0" smtClean="0"/>
              <a:t>(</a:t>
            </a:r>
            <a:r>
              <a:rPr lang="en-US" dirty="0" err="1" smtClean="0"/>
              <a:t>nonspam</a:t>
            </a:r>
            <a:r>
              <a:rPr lang="en-US" dirty="0" smtClean="0"/>
              <a:t>, also called “ham”) emails. The examples that the system uses to learn are</a:t>
            </a:r>
          </a:p>
          <a:p>
            <a:r>
              <a:rPr lang="en-US" dirty="0" smtClean="0"/>
              <a:t>called the training set. Each training example is called a training instance (or sample).</a:t>
            </a:r>
          </a:p>
          <a:p>
            <a:r>
              <a:rPr lang="en-US" dirty="0" smtClean="0"/>
              <a:t>In this case, the task T is to flag spam for new emails, the experience E is the training</a:t>
            </a:r>
          </a:p>
          <a:p>
            <a:r>
              <a:rPr lang="en-US" dirty="0" smtClean="0"/>
              <a:t>data, and the performance measure P needs to be defined; for example, you can use</a:t>
            </a:r>
          </a:p>
          <a:p>
            <a:r>
              <a:rPr lang="en-US" dirty="0" smtClean="0"/>
              <a:t>the ratio of correctly classified emails. This particular performance measure is called</a:t>
            </a:r>
          </a:p>
          <a:p>
            <a:r>
              <a:rPr lang="en-US" dirty="0" smtClean="0"/>
              <a:t>accuracy and it is often used in classification tasks.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139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7504" y="1844824"/>
            <a:ext cx="8856984" cy="4896544"/>
          </a:xfrm>
        </p:spPr>
        <p:txBody>
          <a:bodyPr>
            <a:normAutofit lnSpcReduction="10000"/>
          </a:bodyPr>
          <a:lstStyle/>
          <a:p>
            <a:pPr marL="18288" indent="0">
              <a:buNone/>
            </a:pPr>
            <a:r>
              <a:rPr lang="en-US" dirty="0"/>
              <a:t>1. First you would look at what spam typically looks like. You might notice that</a:t>
            </a:r>
          </a:p>
          <a:p>
            <a:pPr marL="18288" indent="0">
              <a:buNone/>
            </a:pPr>
            <a:r>
              <a:rPr lang="en-US" dirty="0"/>
              <a:t>some words or phrases (such as “4U,” “credit card,” “free,” and “amazing”) tend to</a:t>
            </a:r>
          </a:p>
          <a:p>
            <a:pPr marL="18288" indent="0">
              <a:buNone/>
            </a:pPr>
            <a:r>
              <a:rPr lang="en-US" dirty="0"/>
              <a:t>come up a lot in the subject. Perhaps you would also notice a few other patterns</a:t>
            </a:r>
          </a:p>
          <a:p>
            <a:pPr marL="18288" indent="0">
              <a:buNone/>
            </a:pPr>
            <a:r>
              <a:rPr lang="en-US" dirty="0"/>
              <a:t>in the sender’s name, the email’s body, and so on.</a:t>
            </a:r>
          </a:p>
          <a:p>
            <a:pPr marL="18288" indent="0">
              <a:buNone/>
            </a:pPr>
            <a:r>
              <a:rPr lang="en-US" dirty="0"/>
              <a:t>2. You would write a detection algorithm for each of the patterns that you noticed,</a:t>
            </a:r>
          </a:p>
          <a:p>
            <a:pPr marL="18288" indent="0">
              <a:buNone/>
            </a:pPr>
            <a:r>
              <a:rPr lang="en-US" dirty="0"/>
              <a:t>and your program would flag emails as spam if a number of these patterns are</a:t>
            </a:r>
          </a:p>
          <a:p>
            <a:pPr marL="18288" indent="0">
              <a:buNone/>
            </a:pPr>
            <a:r>
              <a:rPr lang="en-US" dirty="0"/>
              <a:t>detected.</a:t>
            </a:r>
          </a:p>
          <a:p>
            <a:pPr marL="18288" indent="0">
              <a:buNone/>
            </a:pPr>
            <a:r>
              <a:rPr lang="en-US" dirty="0"/>
              <a:t>3. You would test your program, and repeat steps 1 and 2 until it is good enough.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7504" y="116632"/>
            <a:ext cx="6264696" cy="1512168"/>
          </a:xfrm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/>
              <a:t>Why Use </a:t>
            </a:r>
            <a:r>
              <a:rPr lang="en-US" dirty="0" smtClean="0"/>
              <a:t>Machine Learning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56178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260649"/>
            <a:ext cx="7508418" cy="5832648"/>
          </a:xfrm>
        </p:spPr>
      </p:pic>
    </p:spTree>
    <p:extLst>
      <p:ext uri="{BB962C8B-B14F-4D97-AF65-F5344CB8AC3E}">
        <p14:creationId xmlns:p14="http://schemas.microsoft.com/office/powerpoint/2010/main" val="381913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idx="1"/>
          </p:nvPr>
        </p:nvSpPr>
        <p:spPr>
          <a:xfrm>
            <a:off x="74613" y="44451"/>
            <a:ext cx="8673851" cy="4176638"/>
          </a:xfrm>
        </p:spPr>
        <p:txBody>
          <a:bodyPr/>
          <a:lstStyle/>
          <a:p>
            <a:pPr marL="18288" indent="0">
              <a:buNone/>
            </a:pPr>
            <a:r>
              <a:rPr lang="en-US" dirty="0"/>
              <a:t>Since the problem is not trivial, your program will likely become a long list of com‐</a:t>
            </a:r>
          </a:p>
          <a:p>
            <a:pPr marL="18288" indent="0">
              <a:buNone/>
            </a:pPr>
            <a:r>
              <a:rPr lang="en-US" dirty="0" err="1"/>
              <a:t>plex</a:t>
            </a:r>
            <a:r>
              <a:rPr lang="en-US" dirty="0"/>
              <a:t> rules—pretty hard to maintain.</a:t>
            </a:r>
          </a:p>
          <a:p>
            <a:pPr marL="18288" indent="0">
              <a:buNone/>
            </a:pPr>
            <a:r>
              <a:rPr lang="en-US" dirty="0"/>
              <a:t>In contrast, a spam filter based on Machine Learning techniques automatically learns</a:t>
            </a:r>
          </a:p>
          <a:p>
            <a:pPr marL="18288" indent="0">
              <a:buNone/>
            </a:pPr>
            <a:r>
              <a:rPr lang="en-US" dirty="0"/>
              <a:t>which words and phrases are good predictors of spam by detecting unusually </a:t>
            </a:r>
            <a:r>
              <a:rPr lang="en-US" dirty="0" err="1"/>
              <a:t>fre</a:t>
            </a:r>
            <a:r>
              <a:rPr lang="en-US" dirty="0"/>
              <a:t>‐</a:t>
            </a:r>
          </a:p>
          <a:p>
            <a:pPr marL="18288" indent="0">
              <a:buNone/>
            </a:pPr>
            <a:r>
              <a:rPr lang="en-US" dirty="0" err="1"/>
              <a:t>quent</a:t>
            </a:r>
            <a:r>
              <a:rPr lang="en-US" dirty="0"/>
              <a:t> patterns of words in the spam examples compared to the ham examples</a:t>
            </a:r>
          </a:p>
          <a:p>
            <a:pPr marL="18288" indent="0">
              <a:buNone/>
            </a:pPr>
            <a:r>
              <a:rPr lang="en-US" dirty="0" smtClean="0"/>
              <a:t>The </a:t>
            </a:r>
            <a:r>
              <a:rPr lang="en-US" dirty="0"/>
              <a:t>program is much shorter, easier to maintain, and most likely more</a:t>
            </a:r>
          </a:p>
          <a:p>
            <a:pPr marL="18288" indent="0">
              <a:buNone/>
            </a:pPr>
            <a:r>
              <a:rPr lang="en-US" dirty="0"/>
              <a:t>accurate.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1" y="4005064"/>
            <a:ext cx="403820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07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4241999"/>
            <a:ext cx="3744416" cy="2287508"/>
          </a:xfrm>
        </p:spPr>
      </p:pic>
      <p:sp>
        <p:nvSpPr>
          <p:cNvPr id="7" name="Rectangle 6"/>
          <p:cNvSpPr/>
          <p:nvPr/>
        </p:nvSpPr>
        <p:spPr>
          <a:xfrm>
            <a:off x="1115616" y="548680"/>
            <a:ext cx="777686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Moreover, if spammers notice that all their emails containing “4U” are blocked, they</a:t>
            </a:r>
          </a:p>
          <a:p>
            <a:r>
              <a:rPr lang="en-US" dirty="0" smtClean="0"/>
              <a:t>might start writing “For U” instead. A spam filter using traditional programming</a:t>
            </a:r>
          </a:p>
          <a:p>
            <a:r>
              <a:rPr lang="en-US" dirty="0" smtClean="0"/>
              <a:t>techniques would need to be updated to flag “For U” emails. If spammers keep work‐</a:t>
            </a:r>
          </a:p>
          <a:p>
            <a:r>
              <a:rPr lang="en-US" dirty="0" err="1" smtClean="0"/>
              <a:t>ing</a:t>
            </a:r>
            <a:r>
              <a:rPr lang="en-US" dirty="0" smtClean="0"/>
              <a:t> around your spam filter, you will need to keep writing new rules forever.</a:t>
            </a:r>
          </a:p>
          <a:p>
            <a:r>
              <a:rPr lang="en-US" dirty="0" smtClean="0"/>
              <a:t>In contrast, a spam filter based on Machine Learning techniques automatically </a:t>
            </a:r>
            <a:r>
              <a:rPr lang="en-US" dirty="0" err="1" smtClean="0"/>
              <a:t>noti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ces</a:t>
            </a:r>
            <a:r>
              <a:rPr lang="en-US" dirty="0" smtClean="0"/>
              <a:t> that “For U” has become unusually frequent in spam flagged by users, and it starts</a:t>
            </a:r>
          </a:p>
          <a:p>
            <a:r>
              <a:rPr lang="en-US" dirty="0" smtClean="0"/>
              <a:t>flagging them without your intervention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459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5266954"/>
            <a:ext cx="4464908" cy="1488910"/>
          </a:xfrm>
        </p:spPr>
      </p:pic>
      <p:sp>
        <p:nvSpPr>
          <p:cNvPr id="5" name="Rectangle 4"/>
          <p:cNvSpPr/>
          <p:nvPr/>
        </p:nvSpPr>
        <p:spPr>
          <a:xfrm>
            <a:off x="0" y="188641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Another area where Machine Learning shines is for problems that either are too com‐</a:t>
            </a:r>
          </a:p>
          <a:p>
            <a:r>
              <a:rPr lang="en-US" dirty="0" err="1" smtClean="0"/>
              <a:t>plex</a:t>
            </a:r>
            <a:r>
              <a:rPr lang="en-US" dirty="0" smtClean="0"/>
              <a:t> for traditional approaches or have no known algorithm. For example, consider</a:t>
            </a:r>
          </a:p>
          <a:p>
            <a:r>
              <a:rPr lang="en-US" dirty="0" smtClean="0"/>
              <a:t>speech recognition: say you want to start simple and write a program capable of dis‐</a:t>
            </a:r>
          </a:p>
          <a:p>
            <a:r>
              <a:rPr lang="en-US" dirty="0" err="1" smtClean="0"/>
              <a:t>tinguishing</a:t>
            </a:r>
            <a:r>
              <a:rPr lang="en-US" dirty="0" smtClean="0"/>
              <a:t> the words “one” and “two.” You might notice that the word “two” starts</a:t>
            </a:r>
          </a:p>
          <a:p>
            <a:r>
              <a:rPr lang="en-US" dirty="0" smtClean="0"/>
              <a:t>with a high-pitch sound (“T”), so you could hardcode an algorithm that measures</a:t>
            </a:r>
          </a:p>
          <a:p>
            <a:r>
              <a:rPr lang="en-US" dirty="0" smtClean="0"/>
              <a:t>high-pitch sound intensity and use that to distinguish ones and twos. Obviously this</a:t>
            </a:r>
          </a:p>
          <a:p>
            <a:r>
              <a:rPr lang="en-US" dirty="0" smtClean="0"/>
              <a:t>technique will not scale to thousands of words spoken by millions of very different</a:t>
            </a:r>
          </a:p>
          <a:p>
            <a:r>
              <a:rPr lang="en-US" dirty="0" smtClean="0"/>
              <a:t>people in noisy environments and in dozens of languages. The best solution (at least</a:t>
            </a:r>
          </a:p>
          <a:p>
            <a:r>
              <a:rPr lang="en-US" dirty="0" smtClean="0"/>
              <a:t>today) is to write an algorithm that learns by itself, given many example recordings</a:t>
            </a:r>
          </a:p>
          <a:p>
            <a:r>
              <a:rPr lang="en-US" dirty="0" smtClean="0"/>
              <a:t>for each word.</a:t>
            </a:r>
          </a:p>
          <a:p>
            <a:r>
              <a:rPr lang="en-US" dirty="0" smtClean="0"/>
              <a:t>Finally, Machine Learning can help humans learn : ML algorithms can be</a:t>
            </a:r>
          </a:p>
          <a:p>
            <a:r>
              <a:rPr lang="en-US" dirty="0" smtClean="0"/>
              <a:t>inspected to see what they have learned (although for some algorithms this can be</a:t>
            </a:r>
          </a:p>
          <a:p>
            <a:r>
              <a:rPr lang="en-US" dirty="0" smtClean="0"/>
              <a:t>tricky). For instance, once the spam filter has been trained on enough spam, it can</a:t>
            </a:r>
          </a:p>
          <a:p>
            <a:r>
              <a:rPr lang="en-US" dirty="0" smtClean="0"/>
              <a:t>easily be inspected to reveal the list of words and combinations of words that it</a:t>
            </a:r>
          </a:p>
          <a:p>
            <a:r>
              <a:rPr lang="en-US" dirty="0" smtClean="0"/>
              <a:t>believes are the best predictors of spam. Sometimes this will reveal unsuspected </a:t>
            </a:r>
            <a:r>
              <a:rPr lang="en-US" dirty="0" err="1" smtClean="0"/>
              <a:t>cor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relations or new trends, and thereby lead to a better understanding of the problem.</a:t>
            </a:r>
          </a:p>
          <a:p>
            <a:r>
              <a:rPr lang="en-US" dirty="0" smtClean="0"/>
              <a:t>Applying ML techniques to dig into large amounts of data can help discover patterns</a:t>
            </a:r>
          </a:p>
          <a:p>
            <a:r>
              <a:rPr lang="en-US" dirty="0" smtClean="0"/>
              <a:t>that were not immediately apparent. This is called data mining.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837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1403648" y="764704"/>
            <a:ext cx="6105872" cy="3650704"/>
          </a:xfrm>
        </p:spPr>
        <p:txBody>
          <a:bodyPr>
            <a:normAutofit fontScale="85000" lnSpcReduction="20000"/>
          </a:bodyPr>
          <a:lstStyle/>
          <a:p>
            <a:pPr marL="18288" indent="0">
              <a:buNone/>
            </a:pPr>
            <a:r>
              <a:rPr lang="en-US" dirty="0"/>
              <a:t>To summarize, Machine Learning is great for:</a:t>
            </a:r>
          </a:p>
          <a:p>
            <a:pPr marL="18288" indent="0">
              <a:buNone/>
            </a:pPr>
            <a:r>
              <a:rPr lang="en-US" dirty="0"/>
              <a:t>• Problems for which existing solutions require a lot of hand-tuning or long lists of</a:t>
            </a:r>
          </a:p>
          <a:p>
            <a:pPr marL="18288" indent="0">
              <a:buNone/>
            </a:pPr>
            <a:r>
              <a:rPr lang="en-US" dirty="0"/>
              <a:t>rules: one Machine Learning algorithm can often simplify code and perform bet‐</a:t>
            </a:r>
          </a:p>
          <a:p>
            <a:pPr marL="18288" indent="0">
              <a:buNone/>
            </a:pPr>
            <a:r>
              <a:rPr lang="en-US" dirty="0"/>
              <a:t>ter.</a:t>
            </a:r>
          </a:p>
          <a:p>
            <a:pPr marL="18288" indent="0">
              <a:buNone/>
            </a:pPr>
            <a:r>
              <a:rPr lang="en-US" dirty="0"/>
              <a:t>• Complex problems for which there is no good solution at all using a traditional</a:t>
            </a:r>
          </a:p>
          <a:p>
            <a:pPr marL="18288" indent="0">
              <a:buNone/>
            </a:pPr>
            <a:r>
              <a:rPr lang="en-US" dirty="0"/>
              <a:t>approach: the best Machine Learning techniques can find a solution.</a:t>
            </a:r>
          </a:p>
          <a:p>
            <a:pPr marL="18288" indent="0">
              <a:buNone/>
            </a:pPr>
            <a:r>
              <a:rPr lang="en-US" dirty="0"/>
              <a:t>• Fluctuating environments: a Machine Learning system can adapt to new data.</a:t>
            </a:r>
          </a:p>
          <a:p>
            <a:pPr marL="18288" indent="0">
              <a:buNone/>
            </a:pPr>
            <a:r>
              <a:rPr lang="en-US" dirty="0"/>
              <a:t>• Getting insights about complex problems and large amounts of data.</a:t>
            </a:r>
          </a:p>
        </p:txBody>
      </p:sp>
    </p:spTree>
    <p:extLst>
      <p:ext uri="{BB962C8B-B14F-4D97-AF65-F5344CB8AC3E}">
        <p14:creationId xmlns:p14="http://schemas.microsoft.com/office/powerpoint/2010/main" val="1597175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idx="1"/>
          </p:nvPr>
        </p:nvSpPr>
        <p:spPr>
          <a:xfrm>
            <a:off x="395536" y="685801"/>
            <a:ext cx="8352928" cy="547950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Types of Machine Learning Systems</a:t>
            </a:r>
          </a:p>
          <a:p>
            <a:r>
              <a:rPr lang="en-US" dirty="0"/>
              <a:t>There are so many different types of Machine Learning systems that it is useful to</a:t>
            </a:r>
          </a:p>
          <a:p>
            <a:r>
              <a:rPr lang="en-US" dirty="0"/>
              <a:t>classify them in broad categories based on:</a:t>
            </a:r>
          </a:p>
          <a:p>
            <a:r>
              <a:rPr lang="en-US" dirty="0"/>
              <a:t>• Whether or not they are trained with human supervision (supervised, </a:t>
            </a:r>
            <a:r>
              <a:rPr lang="en-US" dirty="0" err="1"/>
              <a:t>unsuper</a:t>
            </a:r>
            <a:r>
              <a:rPr lang="en-US" dirty="0"/>
              <a:t>‐</a:t>
            </a:r>
          </a:p>
          <a:p>
            <a:r>
              <a:rPr lang="en-US" dirty="0"/>
              <a:t>vised, </a:t>
            </a:r>
            <a:r>
              <a:rPr lang="en-US" dirty="0" err="1"/>
              <a:t>semisupervised</a:t>
            </a:r>
            <a:r>
              <a:rPr lang="en-US" dirty="0"/>
              <a:t>, and Reinforcement Learning)</a:t>
            </a:r>
          </a:p>
          <a:p>
            <a:r>
              <a:rPr lang="en-US" dirty="0"/>
              <a:t>• Whether or not they can learn incrementally on the fly (online versus batch</a:t>
            </a:r>
          </a:p>
          <a:p>
            <a:r>
              <a:rPr lang="en-US" dirty="0"/>
              <a:t>learning)</a:t>
            </a:r>
          </a:p>
          <a:p>
            <a:r>
              <a:rPr lang="en-US" dirty="0"/>
              <a:t>• Whether they work by simply comparing new data points to known data points,</a:t>
            </a:r>
          </a:p>
          <a:p>
            <a:r>
              <a:rPr lang="en-US" dirty="0"/>
              <a:t>or instead detect patterns in the training data and build a predictive model, much</a:t>
            </a:r>
          </a:p>
          <a:p>
            <a:r>
              <a:rPr lang="en-US" dirty="0"/>
              <a:t>like scientists do (instance-based versus model-based learning)</a:t>
            </a:r>
          </a:p>
          <a:p>
            <a:r>
              <a:rPr lang="en-US" dirty="0"/>
              <a:t>These criteria are not exclusive; you can combine them in any way you like. For</a:t>
            </a:r>
          </a:p>
          <a:p>
            <a:r>
              <a:rPr lang="en-US" dirty="0"/>
              <a:t>example, a state-of-the-art spam filter may learn on the fly using a deep neural net‐</a:t>
            </a:r>
          </a:p>
          <a:p>
            <a:endParaRPr lang="en-US" dirty="0"/>
          </a:p>
          <a:p>
            <a:r>
              <a:rPr lang="en-US" dirty="0"/>
              <a:t>work model trained using examples of spam and ham; this makes it an online, model-</a:t>
            </a:r>
          </a:p>
          <a:p>
            <a:r>
              <a:rPr lang="en-US" dirty="0"/>
              <a:t>based, supervised learning system.</a:t>
            </a:r>
          </a:p>
          <a:p>
            <a:endParaRPr lang="en-US" dirty="0"/>
          </a:p>
          <a:p>
            <a:r>
              <a:rPr lang="en-US" dirty="0"/>
              <a:t>Let’s look at each of these criteria a bit more closely.</a:t>
            </a:r>
          </a:p>
        </p:txBody>
      </p:sp>
    </p:spTree>
    <p:extLst>
      <p:ext uri="{BB962C8B-B14F-4D97-AF65-F5344CB8AC3E}">
        <p14:creationId xmlns:p14="http://schemas.microsoft.com/office/powerpoint/2010/main" val="44798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9512" y="431287"/>
            <a:ext cx="8784976" cy="1477328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Supervised/Unsupervised Learning</a:t>
            </a:r>
          </a:p>
          <a:p>
            <a:r>
              <a:rPr lang="en-US" dirty="0" smtClean="0"/>
              <a:t>Machine Learning systems can be classified according to the amount and type of</a:t>
            </a:r>
          </a:p>
          <a:p>
            <a:r>
              <a:rPr lang="en-US" dirty="0" smtClean="0"/>
              <a:t>supervision they get during training. There are four major categories: supervised</a:t>
            </a:r>
          </a:p>
          <a:p>
            <a:r>
              <a:rPr lang="en-US" dirty="0" smtClean="0"/>
              <a:t>learning, unsupervised learning, </a:t>
            </a:r>
            <a:r>
              <a:rPr lang="en-US" dirty="0" err="1" smtClean="0"/>
              <a:t>semisupervised</a:t>
            </a:r>
            <a:r>
              <a:rPr lang="en-US" dirty="0" smtClean="0"/>
              <a:t> learning, and Reinforcement Learn‐</a:t>
            </a:r>
            <a:r>
              <a:rPr lang="en-US" dirty="0" err="1" smtClean="0"/>
              <a:t>ing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2264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82" y="2996952"/>
            <a:ext cx="5748118" cy="3214864"/>
          </a:xfrm>
        </p:spPr>
      </p:pic>
      <p:sp>
        <p:nvSpPr>
          <p:cNvPr id="5" name="Rectangle 4"/>
          <p:cNvSpPr/>
          <p:nvPr/>
        </p:nvSpPr>
        <p:spPr>
          <a:xfrm>
            <a:off x="467544" y="476672"/>
            <a:ext cx="63904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Supervised learning</a:t>
            </a:r>
          </a:p>
          <a:p>
            <a:r>
              <a:rPr lang="en-US" dirty="0" smtClean="0"/>
              <a:t>In supervised learning, the training data you feed to the algorithm includes the desired</a:t>
            </a:r>
          </a:p>
          <a:p>
            <a:r>
              <a:rPr lang="en-US" dirty="0" smtClean="0"/>
              <a:t>solutions, called labels 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211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548681"/>
            <a:ext cx="896448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typical supervised learning task is classification. The spam filter is a good example</a:t>
            </a:r>
          </a:p>
          <a:p>
            <a:r>
              <a:rPr lang="en-US" dirty="0" smtClean="0"/>
              <a:t>of this: it is trained with many example emails along with their class (spam or ham),</a:t>
            </a:r>
          </a:p>
          <a:p>
            <a:r>
              <a:rPr lang="en-US" dirty="0" smtClean="0"/>
              <a:t>and it must learn how to classify new emails.</a:t>
            </a:r>
          </a:p>
          <a:p>
            <a:r>
              <a:rPr lang="en-US" dirty="0" smtClean="0"/>
              <a:t>Another typical task is to predict a target numeric value, such as the price of a car,</a:t>
            </a:r>
          </a:p>
          <a:p>
            <a:r>
              <a:rPr lang="en-US" dirty="0" smtClean="0"/>
              <a:t>given a set of features (mileage, age, brand, etc.) called predictors. This sort of task is</a:t>
            </a:r>
          </a:p>
          <a:p>
            <a:r>
              <a:rPr lang="en-US" dirty="0" smtClean="0"/>
              <a:t>called regression (Figure 1-6).1 To train the system, you need to give it many examples</a:t>
            </a:r>
          </a:p>
          <a:p>
            <a:r>
              <a:rPr lang="en-US" dirty="0" smtClean="0"/>
              <a:t>of cars, including both their predictors and their labels (i.e., their prices).</a:t>
            </a:r>
          </a:p>
          <a:p>
            <a:r>
              <a:rPr lang="en-US" dirty="0" smtClean="0"/>
              <a:t>In Machine Learning an attribute is a data type (e.g., “Mileage”),</a:t>
            </a:r>
          </a:p>
          <a:p>
            <a:r>
              <a:rPr lang="en-US" dirty="0" smtClean="0"/>
              <a:t>while a feature has several meanings depending on the context, but</a:t>
            </a:r>
          </a:p>
          <a:p>
            <a:r>
              <a:rPr lang="en-US" dirty="0" smtClean="0"/>
              <a:t>generally means an attribute plus its value (e.g., “Mileage =</a:t>
            </a:r>
          </a:p>
          <a:p>
            <a:r>
              <a:rPr lang="en-US" dirty="0" smtClean="0"/>
              <a:t>15,000”). Many people use the words attribute and feature inter‐</a:t>
            </a:r>
          </a:p>
          <a:p>
            <a:r>
              <a:rPr lang="en-US" dirty="0" smtClean="0"/>
              <a:t>changeably, though.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149080"/>
            <a:ext cx="4176464" cy="25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90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3568" y="332656"/>
            <a:ext cx="734481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Note that some regression algorithms can be used for classification as well, and vice</a:t>
            </a:r>
          </a:p>
          <a:p>
            <a:r>
              <a:rPr lang="en-US" dirty="0" smtClean="0"/>
              <a:t>versa. For example, Logistic Regression is commonly used for classification, as it can</a:t>
            </a:r>
          </a:p>
          <a:p>
            <a:r>
              <a:rPr lang="en-US" dirty="0" smtClean="0"/>
              <a:t>output a value that corresponds to the probability of belonging to a given class (e.g.,</a:t>
            </a:r>
          </a:p>
          <a:p>
            <a:r>
              <a:rPr lang="en-US" dirty="0" smtClean="0"/>
              <a:t>20% chance of being spam).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39552" y="2363981"/>
            <a:ext cx="741682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Here are some of the most important supervised learning algorithms :</a:t>
            </a:r>
          </a:p>
          <a:p>
            <a:r>
              <a:rPr lang="en-US" dirty="0" smtClean="0"/>
              <a:t>• k-Nearest Neighbors</a:t>
            </a:r>
          </a:p>
          <a:p>
            <a:r>
              <a:rPr lang="en-US" dirty="0" smtClean="0"/>
              <a:t>• Linear Regression</a:t>
            </a:r>
          </a:p>
          <a:p>
            <a:r>
              <a:rPr lang="en-US" dirty="0" smtClean="0"/>
              <a:t>• Logistic Regression</a:t>
            </a:r>
          </a:p>
          <a:p>
            <a:r>
              <a:rPr lang="en-US" dirty="0" smtClean="0"/>
              <a:t>• Support Vector Machines (SVMs)</a:t>
            </a:r>
          </a:p>
          <a:p>
            <a:r>
              <a:rPr lang="en-US" dirty="0" smtClean="0"/>
              <a:t>• Decision Trees and Random Forests</a:t>
            </a:r>
          </a:p>
          <a:p>
            <a:r>
              <a:rPr lang="en-US" dirty="0" smtClean="0"/>
              <a:t>• Neural networks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342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79512" y="165824"/>
            <a:ext cx="2531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Unsupervised learning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5208" y="535156"/>
            <a:ext cx="75711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 unsupervised learning, as you might guess, the training data is unlabeled.</a:t>
            </a:r>
          </a:p>
          <a:p>
            <a:r>
              <a:rPr lang="en-US" dirty="0" smtClean="0"/>
              <a:t>The system tries to learn without a teacher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420888"/>
            <a:ext cx="4432890" cy="252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338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9592" y="404664"/>
            <a:ext cx="46805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Here are some of the most important unsupervised learning algorithms</a:t>
            </a:r>
          </a:p>
          <a:p>
            <a:r>
              <a:rPr lang="en-US" dirty="0" smtClean="0"/>
              <a:t>• Clustering</a:t>
            </a:r>
          </a:p>
          <a:p>
            <a:r>
              <a:rPr lang="en-US" dirty="0" smtClean="0"/>
              <a:t>—K-Means</a:t>
            </a:r>
          </a:p>
          <a:p>
            <a:r>
              <a:rPr lang="en-US" dirty="0" smtClean="0"/>
              <a:t>—DBSCAN</a:t>
            </a:r>
          </a:p>
          <a:p>
            <a:r>
              <a:rPr lang="en-US" dirty="0" smtClean="0"/>
              <a:t>— Hierarchical Cluster Analysis (HCA)</a:t>
            </a:r>
          </a:p>
          <a:p>
            <a:r>
              <a:rPr lang="en-US" dirty="0" smtClean="0"/>
              <a:t>• Anomaly detection and novelty detection</a:t>
            </a:r>
          </a:p>
          <a:p>
            <a:r>
              <a:rPr lang="en-US" dirty="0" smtClean="0"/>
              <a:t>—One-class SVM</a:t>
            </a:r>
          </a:p>
          <a:p>
            <a:r>
              <a:rPr lang="en-US" dirty="0" smtClean="0"/>
              <a:t>— Isolation Forest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927056" y="3645024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• Visualization and dimensionality reduction</a:t>
            </a:r>
          </a:p>
          <a:p>
            <a:r>
              <a:rPr lang="en-US" dirty="0" smtClean="0"/>
              <a:t>— Principal Component Analysis (PCA)</a:t>
            </a:r>
          </a:p>
          <a:p>
            <a:r>
              <a:rPr lang="en-US" dirty="0" smtClean="0"/>
              <a:t>—Kernel PCA</a:t>
            </a:r>
          </a:p>
          <a:p>
            <a:r>
              <a:rPr lang="en-US" dirty="0" smtClean="0"/>
              <a:t>— Locally-Linear Embedding (LLE)</a:t>
            </a:r>
          </a:p>
          <a:p>
            <a:r>
              <a:rPr lang="en-US" dirty="0" smtClean="0"/>
              <a:t>— t-distributed Stochastic Neighbor Embedding (t-SNE)</a:t>
            </a:r>
          </a:p>
          <a:p>
            <a:r>
              <a:rPr lang="en-US" dirty="0" smtClean="0"/>
              <a:t>• Association rule learning</a:t>
            </a:r>
          </a:p>
          <a:p>
            <a:r>
              <a:rPr lang="en-US" dirty="0" smtClean="0"/>
              <a:t>—</a:t>
            </a:r>
            <a:r>
              <a:rPr lang="en-US" dirty="0" err="1" smtClean="0"/>
              <a:t>Apriori</a:t>
            </a:r>
            <a:endParaRPr lang="en-US" dirty="0" smtClean="0"/>
          </a:p>
          <a:p>
            <a:r>
              <a:rPr lang="en-US" dirty="0" smtClean="0"/>
              <a:t>— </a:t>
            </a:r>
            <a:r>
              <a:rPr lang="en-US" dirty="0" err="1" smtClean="0"/>
              <a:t>Eclat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80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612845"/>
            <a:ext cx="813690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For example, say you have a lot of data about your blog’s visitors. You may want to</a:t>
            </a:r>
          </a:p>
          <a:p>
            <a:r>
              <a:rPr lang="en-US" dirty="0" smtClean="0"/>
              <a:t>run a clustering algorithm to try to detect groups of similar visitors . At</a:t>
            </a:r>
          </a:p>
          <a:p>
            <a:r>
              <a:rPr lang="en-US" dirty="0" smtClean="0"/>
              <a:t>no point do you tell the algorithm which group a visitor belongs to: it finds those</a:t>
            </a:r>
          </a:p>
          <a:p>
            <a:r>
              <a:rPr lang="en-US" dirty="0" smtClean="0"/>
              <a:t>connections without your help. For example, it might notice that 40% of your visitors</a:t>
            </a:r>
          </a:p>
          <a:p>
            <a:r>
              <a:rPr lang="en-US" dirty="0" smtClean="0"/>
              <a:t>are males who love comic books and generally read your blog in the evening, while</a:t>
            </a:r>
          </a:p>
          <a:p>
            <a:r>
              <a:rPr lang="en-US" dirty="0" smtClean="0"/>
              <a:t>20% are young sci-fi lovers who visit during the weekends, and so on. If you use a</a:t>
            </a:r>
          </a:p>
          <a:p>
            <a:r>
              <a:rPr lang="en-US" dirty="0" smtClean="0"/>
              <a:t>hierarchical clustering algorithm, it may also subdivide each group into smaller</a:t>
            </a:r>
          </a:p>
          <a:p>
            <a:r>
              <a:rPr lang="en-US" dirty="0" smtClean="0"/>
              <a:t>groups. This may help you target your posts for each group.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968" y="4725144"/>
            <a:ext cx="3528392" cy="19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260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87849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Visualization algorithms are also good examples of unsupervised learning algorithms:</a:t>
            </a:r>
          </a:p>
          <a:p>
            <a:r>
              <a:rPr lang="en-US" dirty="0" smtClean="0"/>
              <a:t>you feed them a lot of complex and unlabeled data, and they output a 2D or 3D rep‐</a:t>
            </a:r>
          </a:p>
          <a:p>
            <a:r>
              <a:rPr lang="en-US" dirty="0" err="1" smtClean="0"/>
              <a:t>resentation</a:t>
            </a:r>
            <a:r>
              <a:rPr lang="en-US" dirty="0" smtClean="0"/>
              <a:t> of your data that can easily be plotted . These algorithms try</a:t>
            </a:r>
          </a:p>
          <a:p>
            <a:r>
              <a:rPr lang="en-US" dirty="0" smtClean="0"/>
              <a:t>to preserve as much structure as they can (e.g., trying to keep separate clusters in the</a:t>
            </a:r>
          </a:p>
          <a:p>
            <a:r>
              <a:rPr lang="en-US" dirty="0" smtClean="0"/>
              <a:t>input space from overlapping in the visualization), so you can understand how the</a:t>
            </a:r>
          </a:p>
          <a:p>
            <a:r>
              <a:rPr lang="en-US" dirty="0" smtClean="0"/>
              <a:t>data is organized and perhaps identify unsuspected patterns.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140968"/>
            <a:ext cx="3744416" cy="22817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03" y="3190674"/>
            <a:ext cx="3446285" cy="17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4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912" y="1052736"/>
            <a:ext cx="89289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related task is dimensionality reduction, in which the goal is to simplify the data</a:t>
            </a:r>
          </a:p>
          <a:p>
            <a:r>
              <a:rPr lang="en-US" dirty="0" smtClean="0"/>
              <a:t>without losing too much information. One way to do this is to merge several </a:t>
            </a:r>
            <a:r>
              <a:rPr lang="en-US" dirty="0" err="1" smtClean="0"/>
              <a:t>correla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ted features into one. For example, a car’s mileage may be very correlated with its age,</a:t>
            </a:r>
          </a:p>
          <a:p>
            <a:r>
              <a:rPr lang="en-US" dirty="0" smtClean="0"/>
              <a:t>so the dimensionality reduction algorithm will merge them into one feature that rep‐</a:t>
            </a:r>
          </a:p>
          <a:p>
            <a:r>
              <a:rPr lang="en-US" dirty="0" smtClean="0"/>
              <a:t>resents the car’s wear and tear. This is called feature extraction.</a:t>
            </a:r>
          </a:p>
          <a:p>
            <a:r>
              <a:rPr lang="en-US" dirty="0" smtClean="0"/>
              <a:t>It is often a good idea to try to reduce the dimension of your train‐</a:t>
            </a:r>
          </a:p>
          <a:p>
            <a:r>
              <a:rPr lang="en-US" dirty="0" err="1" smtClean="0"/>
              <a:t>ing</a:t>
            </a:r>
            <a:r>
              <a:rPr lang="en-US" dirty="0" smtClean="0"/>
              <a:t> data using a dimensionality reduction algorithm before you</a:t>
            </a:r>
          </a:p>
          <a:p>
            <a:r>
              <a:rPr lang="en-US" dirty="0" smtClean="0"/>
              <a:t>feed it to another Machine Learning algorithm (such as a super‐</a:t>
            </a:r>
          </a:p>
          <a:p>
            <a:r>
              <a:rPr lang="en-US" dirty="0" smtClean="0"/>
              <a:t>vised learning algorithm). It will run much faster, the data will take</a:t>
            </a:r>
          </a:p>
          <a:p>
            <a:r>
              <a:rPr lang="en-US" dirty="0" smtClean="0"/>
              <a:t>up less disk and memory space, and in some cases it may also per‐</a:t>
            </a:r>
          </a:p>
          <a:p>
            <a:r>
              <a:rPr lang="en-US" dirty="0" smtClean="0"/>
              <a:t>form better.</a:t>
            </a:r>
          </a:p>
          <a:p>
            <a:r>
              <a:rPr lang="en-US" dirty="0" smtClean="0"/>
              <a:t>Yet another important unsupervised task is anomaly detection—for example, detect‐</a:t>
            </a:r>
          </a:p>
          <a:p>
            <a:r>
              <a:rPr lang="en-US" dirty="0" err="1" smtClean="0"/>
              <a:t>ing</a:t>
            </a:r>
            <a:r>
              <a:rPr lang="en-US" dirty="0" smtClean="0"/>
              <a:t> unusual credit card transactions to prevent fraud, catching manufacturing defects,</a:t>
            </a:r>
          </a:p>
          <a:p>
            <a:r>
              <a:rPr lang="en-US" dirty="0" smtClean="0"/>
              <a:t>or automatically removing outliers from a dataset before feeding it to another learn‐</a:t>
            </a:r>
          </a:p>
          <a:p>
            <a:r>
              <a:rPr lang="en-US" dirty="0" err="1" smtClean="0"/>
              <a:t>ing</a:t>
            </a:r>
            <a:r>
              <a:rPr lang="en-US" dirty="0" smtClean="0"/>
              <a:t> algorithm. The system is shown mostly normal instances during training, so it</a:t>
            </a:r>
          </a:p>
          <a:p>
            <a:r>
              <a:rPr lang="en-US" dirty="0" smtClean="0"/>
              <a:t>learns to recognize them and when it sees a new instance it can tell whether it looks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265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1520" y="332656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like a normal one or whether it is likely an anomaly . A very similar</a:t>
            </a:r>
          </a:p>
          <a:p>
            <a:r>
              <a:rPr lang="en-US" dirty="0" smtClean="0"/>
              <a:t>task is novelty detection: the difference is that novelty detection algorithms expect to</a:t>
            </a:r>
          </a:p>
          <a:p>
            <a:r>
              <a:rPr lang="en-US" dirty="0" smtClean="0"/>
              <a:t>see only normal data during training, while anomaly detection algorithms are usually</a:t>
            </a:r>
          </a:p>
          <a:p>
            <a:r>
              <a:rPr lang="en-US" dirty="0" smtClean="0"/>
              <a:t>more tolerant, they can often perform well even with a small percentage of outliers in</a:t>
            </a:r>
          </a:p>
          <a:p>
            <a:r>
              <a:rPr lang="en-US" dirty="0" smtClean="0"/>
              <a:t>the training set.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429000"/>
            <a:ext cx="3623628" cy="17281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1268760"/>
            <a:ext cx="3312368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33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52064"/>
            <a:ext cx="8964488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Finally, another common unsupervised task is association rule learning, in which the</a:t>
            </a:r>
          </a:p>
          <a:p>
            <a:r>
              <a:rPr lang="en-US" dirty="0" smtClean="0"/>
              <a:t>goal is to dig into large amounts of data and discover interesting relations between</a:t>
            </a:r>
          </a:p>
          <a:p>
            <a:r>
              <a:rPr lang="en-US" dirty="0" smtClean="0"/>
              <a:t>attributes. For example, suppose you own a supermarket. Running an association rule</a:t>
            </a:r>
          </a:p>
          <a:p>
            <a:r>
              <a:rPr lang="en-US" dirty="0" smtClean="0"/>
              <a:t>on your sales logs may reveal that people who purchase barbecue sauce and potato</a:t>
            </a:r>
          </a:p>
          <a:p>
            <a:r>
              <a:rPr lang="en-US" dirty="0" smtClean="0"/>
              <a:t>chips also tend to buy steak. Thus, you may want to place these items close to each</a:t>
            </a:r>
          </a:p>
          <a:p>
            <a:r>
              <a:rPr lang="en-US" dirty="0" smtClean="0"/>
              <a:t>other.</a:t>
            </a:r>
          </a:p>
          <a:p>
            <a:r>
              <a:rPr lang="en-US" dirty="0" err="1" smtClean="0"/>
              <a:t>Semisupervised</a:t>
            </a:r>
            <a:r>
              <a:rPr lang="en-US" dirty="0" smtClean="0"/>
              <a:t> learning</a:t>
            </a:r>
          </a:p>
          <a:p>
            <a:r>
              <a:rPr lang="en-US" dirty="0" smtClean="0"/>
              <a:t>Some algorithms can deal with partially labeled training data, usually a lot of </a:t>
            </a:r>
            <a:r>
              <a:rPr lang="en-US" dirty="0" err="1" smtClean="0"/>
              <a:t>unla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beled</a:t>
            </a:r>
            <a:r>
              <a:rPr lang="en-US" dirty="0" smtClean="0"/>
              <a:t> data and a little bit of labeled data. This is called </a:t>
            </a:r>
            <a:r>
              <a:rPr lang="en-US" dirty="0" err="1" smtClean="0"/>
              <a:t>semisupervised</a:t>
            </a:r>
            <a:r>
              <a:rPr lang="en-US" dirty="0" smtClean="0"/>
              <a:t> learning.</a:t>
            </a:r>
          </a:p>
          <a:p>
            <a:r>
              <a:rPr lang="en-US" dirty="0" smtClean="0"/>
              <a:t>Some photo-hosting services, such as Google Photos, are good examples of this. Once</a:t>
            </a:r>
          </a:p>
          <a:p>
            <a:r>
              <a:rPr lang="en-US" dirty="0" smtClean="0"/>
              <a:t>you upload all your family photos to the service, it automatically recognizes that the</a:t>
            </a:r>
          </a:p>
          <a:p>
            <a:r>
              <a:rPr lang="en-US" dirty="0" smtClean="0"/>
              <a:t>same person A shows up in photos 1, 5, and 11, while another person B shows up in</a:t>
            </a:r>
          </a:p>
          <a:p>
            <a:r>
              <a:rPr lang="en-US" dirty="0" smtClean="0"/>
              <a:t>photos 2, 5, and 7. This is the unsupervised part of the algorithm (clustering). Now all</a:t>
            </a:r>
          </a:p>
          <a:p>
            <a:r>
              <a:rPr lang="en-US" dirty="0" smtClean="0"/>
              <a:t>the system needs is for you to tell it who these people are. Just one label per person,4</a:t>
            </a:r>
          </a:p>
          <a:p>
            <a:r>
              <a:rPr lang="en-US" dirty="0" smtClean="0"/>
              <a:t>and it is able to name everyone in every photo, which is useful for searching photos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0141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904" y="0"/>
            <a:ext cx="910850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Most </a:t>
            </a:r>
            <a:r>
              <a:rPr lang="en-US" dirty="0" err="1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semisupervised</a:t>
            </a:r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 learning </a:t>
            </a:r>
          </a:p>
          <a:p>
            <a:r>
              <a:rPr lang="en-US" dirty="0" smtClean="0"/>
              <a:t>algorithms are combinations of unsupervised and supervised algorithms. For example, deep belief networks (DBNs) are based on </a:t>
            </a:r>
            <a:r>
              <a:rPr lang="en-US" dirty="0" err="1" smtClean="0"/>
              <a:t>unsu‐pervised</a:t>
            </a:r>
            <a:r>
              <a:rPr lang="en-US" dirty="0" smtClean="0"/>
              <a:t> components called restricted Boltzmann machines (RBMs) stacked on top of one another. RBMs are trained sequentially in an unsupervised manner, and then the whole system is fine-tuned using supervised learning techniques.</a:t>
            </a:r>
          </a:p>
          <a:p>
            <a:r>
              <a:rPr lang="en-US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Reinforcement Learning</a:t>
            </a:r>
          </a:p>
          <a:p>
            <a:r>
              <a:rPr lang="en-US" dirty="0" smtClean="0"/>
              <a:t>Reinforcement Learning is a very different beast. The learning system, called an agent</a:t>
            </a:r>
          </a:p>
          <a:p>
            <a:r>
              <a:rPr lang="en-US" dirty="0" smtClean="0"/>
              <a:t>in this context, can observe the environment, select and perform actions, and get</a:t>
            </a:r>
          </a:p>
          <a:p>
            <a:r>
              <a:rPr lang="en-US" dirty="0" smtClean="0"/>
              <a:t>rewards in return (or penalties in the form of negative rewards, as in Figure . It</a:t>
            </a:r>
          </a:p>
          <a:p>
            <a:r>
              <a:rPr lang="en-US" dirty="0" smtClean="0"/>
              <a:t>must then learn by itself what is the best strategy, called a policy, to get the most</a:t>
            </a:r>
          </a:p>
          <a:p>
            <a:r>
              <a:rPr lang="en-US" dirty="0" smtClean="0"/>
              <a:t>reward over time. A policy defines what action the agent should choose when it is in a</a:t>
            </a:r>
          </a:p>
          <a:p>
            <a:r>
              <a:rPr lang="en-US" dirty="0" smtClean="0"/>
              <a:t>given situation.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861048"/>
            <a:ext cx="3584034" cy="1211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677310"/>
            <a:ext cx="4109272" cy="214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0963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0952"/>
            <a:ext cx="64442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For example, many robots implement Reinforcement Learning algorithms to learn</a:t>
            </a:r>
          </a:p>
          <a:p>
            <a:r>
              <a:rPr lang="en-US" dirty="0" smtClean="0"/>
              <a:t>how to walk. </a:t>
            </a:r>
            <a:r>
              <a:rPr lang="en-US" dirty="0" err="1" smtClean="0"/>
              <a:t>DeepMind’s</a:t>
            </a:r>
            <a:r>
              <a:rPr lang="en-US" dirty="0" smtClean="0"/>
              <a:t> </a:t>
            </a:r>
            <a:r>
              <a:rPr lang="en-US" dirty="0" err="1" smtClean="0"/>
              <a:t>AlphaGo</a:t>
            </a:r>
            <a:r>
              <a:rPr lang="en-US" dirty="0" smtClean="0"/>
              <a:t> program is also a good example of Reinforcement</a:t>
            </a:r>
          </a:p>
          <a:p>
            <a:r>
              <a:rPr lang="en-US" dirty="0" smtClean="0"/>
              <a:t>Learning: it made the headlines in May 2017 when it beat the world champion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Jie</a:t>
            </a:r>
            <a:endParaRPr lang="en-US" dirty="0" smtClean="0"/>
          </a:p>
          <a:p>
            <a:r>
              <a:rPr lang="en-US" dirty="0" smtClean="0"/>
              <a:t>at the game of Go. It learned its winning policy by analyzing millions of games, and</a:t>
            </a:r>
          </a:p>
          <a:p>
            <a:r>
              <a:rPr lang="en-US" dirty="0" smtClean="0"/>
              <a:t>then playing many games against itself. Note that learning was turned off during the</a:t>
            </a:r>
          </a:p>
          <a:p>
            <a:r>
              <a:rPr lang="en-US" dirty="0" smtClean="0"/>
              <a:t>games against the champion; </a:t>
            </a:r>
            <a:r>
              <a:rPr lang="en-US" dirty="0" err="1" smtClean="0"/>
              <a:t>AlphaGo</a:t>
            </a:r>
            <a:r>
              <a:rPr lang="en-US" dirty="0" smtClean="0"/>
              <a:t> was just applying the policy it had learned.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248" y="4221088"/>
            <a:ext cx="5464016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55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44624"/>
            <a:ext cx="885698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Batch and Online Learning</a:t>
            </a:r>
          </a:p>
          <a:p>
            <a:r>
              <a:rPr lang="en-US" dirty="0" smtClean="0"/>
              <a:t>Another criterion used to classify Machine Learning systems is whether or not the</a:t>
            </a:r>
          </a:p>
          <a:p>
            <a:r>
              <a:rPr lang="en-US" dirty="0" smtClean="0"/>
              <a:t>system can learn incrementally from a stream of incoming data.</a:t>
            </a:r>
          </a:p>
          <a:p>
            <a:r>
              <a:rPr lang="en-US" dirty="0" smtClean="0"/>
              <a:t>Batch learning</a:t>
            </a:r>
          </a:p>
          <a:p>
            <a:r>
              <a:rPr lang="en-US" dirty="0" smtClean="0"/>
              <a:t>In batch learning, the system is incapable of learning incrementally: it must be trained</a:t>
            </a:r>
          </a:p>
          <a:p>
            <a:r>
              <a:rPr lang="en-US" dirty="0" smtClean="0"/>
              <a:t>using all the available data. This will generally take a lot of time and computing</a:t>
            </a:r>
          </a:p>
          <a:p>
            <a:r>
              <a:rPr lang="en-US" dirty="0" smtClean="0"/>
              <a:t>resources, so it is typically done offline. First the system is trained, and then it is</a:t>
            </a:r>
          </a:p>
          <a:p>
            <a:r>
              <a:rPr lang="en-US" dirty="0" smtClean="0"/>
              <a:t>launched into production and runs without learning anymore; it just applies what it</a:t>
            </a:r>
          </a:p>
          <a:p>
            <a:r>
              <a:rPr lang="en-US" dirty="0" smtClean="0"/>
              <a:t>has learned. This is called offline learning.</a:t>
            </a:r>
          </a:p>
          <a:p>
            <a:r>
              <a:rPr lang="en-US" dirty="0" smtClean="0"/>
              <a:t>If you want a batch learning system to know about new data (such as a new type of</a:t>
            </a:r>
          </a:p>
          <a:p>
            <a:r>
              <a:rPr lang="en-US" dirty="0" smtClean="0"/>
              <a:t>spam), you need to train a new version of the system from scratch on the full dataset</a:t>
            </a:r>
          </a:p>
          <a:p>
            <a:r>
              <a:rPr lang="en-US" dirty="0" smtClean="0"/>
              <a:t>(not just the new data, but also the old data), then stop the old system and replace it</a:t>
            </a:r>
          </a:p>
          <a:p>
            <a:r>
              <a:rPr lang="en-US" dirty="0" smtClean="0"/>
              <a:t>with the new one.</a:t>
            </a:r>
          </a:p>
          <a:p>
            <a:r>
              <a:rPr lang="en-US" dirty="0" smtClean="0"/>
              <a:t>Fortunately, the whole process of training, evaluating, and launching a Machine</a:t>
            </a:r>
          </a:p>
          <a:p>
            <a:r>
              <a:rPr lang="en-US" dirty="0" smtClean="0"/>
              <a:t>Learning system can be automated fairly easily , so even 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58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88640"/>
            <a:ext cx="885698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batch learning system can adapt to change. Simply update the data and train a new</a:t>
            </a:r>
          </a:p>
          <a:p>
            <a:r>
              <a:rPr lang="en-US" dirty="0" smtClean="0"/>
              <a:t>version of the system from scratch as often as needed.</a:t>
            </a:r>
          </a:p>
          <a:p>
            <a:r>
              <a:rPr lang="en-US" dirty="0" smtClean="0"/>
              <a:t>This solution is simple and often works fine, but training using the full set of data can</a:t>
            </a:r>
          </a:p>
          <a:p>
            <a:r>
              <a:rPr lang="en-US" dirty="0" smtClean="0"/>
              <a:t>take many hours, so you would typically train a new system only every 24 hours or</a:t>
            </a:r>
          </a:p>
          <a:p>
            <a:r>
              <a:rPr lang="en-US" dirty="0" smtClean="0"/>
              <a:t>even just weekly. If your system needs to adapt to rapidly changing data (e.g., to pre‐</a:t>
            </a:r>
          </a:p>
          <a:p>
            <a:r>
              <a:rPr lang="en-US" dirty="0" err="1" smtClean="0"/>
              <a:t>dict</a:t>
            </a:r>
            <a:r>
              <a:rPr lang="en-US" dirty="0" smtClean="0"/>
              <a:t> stock prices), then you need a more reactive solution.</a:t>
            </a:r>
          </a:p>
          <a:p>
            <a:r>
              <a:rPr lang="en-US" dirty="0" smtClean="0"/>
              <a:t>Also, training on the full set of data requires a lot of computing resources (CPU,</a:t>
            </a:r>
          </a:p>
          <a:p>
            <a:r>
              <a:rPr lang="en-US" dirty="0" smtClean="0"/>
              <a:t>memory space, disk space, disk I/O, network I/O, etc.). If you have a lot of data and</a:t>
            </a:r>
          </a:p>
          <a:p>
            <a:r>
              <a:rPr lang="en-US" dirty="0" smtClean="0"/>
              <a:t>you automate your system to train from scratch every day, it will end up costing you a</a:t>
            </a:r>
          </a:p>
          <a:p>
            <a:r>
              <a:rPr lang="en-US" dirty="0" smtClean="0"/>
              <a:t>lot of money. If the amount of data is huge, it may even be impossible to use a batch</a:t>
            </a:r>
          </a:p>
          <a:p>
            <a:r>
              <a:rPr lang="en-US" dirty="0" smtClean="0"/>
              <a:t>learning algorithm.</a:t>
            </a:r>
          </a:p>
          <a:p>
            <a:r>
              <a:rPr lang="en-US" dirty="0" smtClean="0"/>
              <a:t>Finally, if your system needs to be able to learn autonomously and it has limited</a:t>
            </a:r>
          </a:p>
          <a:p>
            <a:r>
              <a:rPr lang="en-US" dirty="0" smtClean="0"/>
              <a:t>resources (e.g., a smartphone application or a rover on Mars), then carrying around</a:t>
            </a:r>
          </a:p>
          <a:p>
            <a:r>
              <a:rPr lang="en-US" dirty="0" smtClean="0"/>
              <a:t>large amounts of training data and taking up a lot of resources to train for hours</a:t>
            </a:r>
          </a:p>
          <a:p>
            <a:r>
              <a:rPr lang="en-US" dirty="0" smtClean="0"/>
              <a:t>every day is a showstopper.</a:t>
            </a:r>
          </a:p>
          <a:p>
            <a:r>
              <a:rPr lang="en-US" dirty="0" smtClean="0"/>
              <a:t>Fortunately, a better option in all these cases is to use algorithms that are capable of</a:t>
            </a:r>
          </a:p>
          <a:p>
            <a:r>
              <a:rPr lang="en-US" dirty="0" smtClean="0"/>
              <a:t>learning incrementally.</a:t>
            </a:r>
          </a:p>
          <a:p>
            <a:r>
              <a:rPr lang="en-US" dirty="0" smtClean="0"/>
              <a:t>Online learning</a:t>
            </a:r>
          </a:p>
          <a:p>
            <a:r>
              <a:rPr lang="en-US" dirty="0" smtClean="0"/>
              <a:t>In online learning, you train the system incrementally by feeding it data instances</a:t>
            </a:r>
          </a:p>
          <a:p>
            <a:r>
              <a:rPr lang="en-US" dirty="0" smtClean="0"/>
              <a:t>sequentially, either individually or by small groups called mini-batches. Each learning</a:t>
            </a:r>
          </a:p>
          <a:p>
            <a:r>
              <a:rPr lang="en-US" dirty="0" smtClean="0"/>
              <a:t>step is fast and cheap, so the system can learn about new data on the fly, as it arrives.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5227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48072"/>
            <a:ext cx="7588843" cy="23728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7504" y="2420887"/>
            <a:ext cx="857125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Online learning is great for systems that receive data as a continuous flow (e.g., stock</a:t>
            </a:r>
          </a:p>
          <a:p>
            <a:r>
              <a:rPr lang="en-US" dirty="0" smtClean="0"/>
              <a:t>prices) and need to adapt to change rapidly or autonomously. It is also a good option if you have limited computing resources: once an online learning system has learned</a:t>
            </a:r>
          </a:p>
          <a:p>
            <a:r>
              <a:rPr lang="en-US" dirty="0" smtClean="0"/>
              <a:t>about new data instances, it does not need them anymore, so you can discard them</a:t>
            </a:r>
          </a:p>
          <a:p>
            <a:r>
              <a:rPr lang="en-US" dirty="0" smtClean="0"/>
              <a:t>(unless you want to be able to roll back to a previous state and “replay” the data). This</a:t>
            </a:r>
          </a:p>
          <a:p>
            <a:r>
              <a:rPr lang="en-US" dirty="0" smtClean="0"/>
              <a:t>can save a huge amount of space.</a:t>
            </a:r>
          </a:p>
          <a:p>
            <a:r>
              <a:rPr lang="en-US" dirty="0" smtClean="0"/>
              <a:t>Online learning algorithms can also be used to train systems on huge datasets that</a:t>
            </a:r>
          </a:p>
          <a:p>
            <a:r>
              <a:rPr lang="en-US" dirty="0" smtClean="0"/>
              <a:t>cannot fit in one machine’s main memory (this is called out-of-core learning). The</a:t>
            </a:r>
          </a:p>
          <a:p>
            <a:r>
              <a:rPr lang="en-US" dirty="0" smtClean="0"/>
              <a:t>algorithm loads part of the data, runs a training step on that data, and repeats the</a:t>
            </a:r>
          </a:p>
          <a:p>
            <a:r>
              <a:rPr lang="en-US" dirty="0" smtClean="0"/>
              <a:t>process until it has run on all of the data (see Figure 1-14).</a:t>
            </a:r>
          </a:p>
          <a:p>
            <a:r>
              <a:rPr lang="en-US" dirty="0" smtClean="0"/>
              <a:t>Out-of-core learning is usually done offline (i.e., not on the live</a:t>
            </a:r>
          </a:p>
          <a:p>
            <a:r>
              <a:rPr lang="en-US" dirty="0" smtClean="0"/>
              <a:t>system), so online learning can be a confusing name. Think of it as</a:t>
            </a:r>
          </a:p>
          <a:p>
            <a:r>
              <a:rPr lang="en-US" dirty="0" smtClean="0"/>
              <a:t>incremental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1038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16632"/>
            <a:ext cx="889248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One important parameter of online learning systems is how fast they should adapt to</a:t>
            </a:r>
          </a:p>
          <a:p>
            <a:r>
              <a:rPr lang="en-US" dirty="0" smtClean="0"/>
              <a:t>changing data: this is called the learning rate. If you set a high learning rate, then your</a:t>
            </a:r>
          </a:p>
          <a:p>
            <a:r>
              <a:rPr lang="en-US" dirty="0" smtClean="0"/>
              <a:t>system will rapidly adapt to new data, but it will also tend to quickly forget the old</a:t>
            </a:r>
          </a:p>
          <a:p>
            <a:r>
              <a:rPr lang="en-US" dirty="0" smtClean="0"/>
              <a:t>data (you don’t want a spam filter to flag only the latest kinds of spam it was shown).</a:t>
            </a:r>
          </a:p>
          <a:p>
            <a:r>
              <a:rPr lang="en-US" dirty="0" smtClean="0"/>
              <a:t>Conversely, if you set a low learning rate, the system will have more inertia; that is, it</a:t>
            </a:r>
          </a:p>
          <a:p>
            <a:r>
              <a:rPr lang="en-US" dirty="0" smtClean="0"/>
              <a:t>will learn more slowly, but it will also be less sensitive to noise in the new data or to</a:t>
            </a:r>
          </a:p>
          <a:p>
            <a:r>
              <a:rPr lang="en-US" dirty="0" smtClean="0"/>
              <a:t>sequences of </a:t>
            </a:r>
            <a:r>
              <a:rPr lang="en-US" dirty="0" err="1" smtClean="0"/>
              <a:t>nonrepresentative</a:t>
            </a:r>
            <a:r>
              <a:rPr lang="en-US" dirty="0" smtClean="0"/>
              <a:t> data points (outliers).</a:t>
            </a:r>
          </a:p>
          <a:p>
            <a:r>
              <a:rPr lang="en-US" dirty="0" smtClean="0"/>
              <a:t>A big challenge with online learning is that if bad data is fed to the system, the sys‐</a:t>
            </a:r>
          </a:p>
          <a:p>
            <a:r>
              <a:rPr lang="en-US" dirty="0" err="1" smtClean="0"/>
              <a:t>tem’s</a:t>
            </a:r>
            <a:r>
              <a:rPr lang="en-US" dirty="0" smtClean="0"/>
              <a:t> performance will gradually decline. If we are talking about a live system, your</a:t>
            </a:r>
          </a:p>
          <a:p>
            <a:r>
              <a:rPr lang="en-US" dirty="0" smtClean="0"/>
              <a:t>clients will notice. For example, bad data could come from a malfunctioning sensor</a:t>
            </a:r>
          </a:p>
          <a:p>
            <a:r>
              <a:rPr lang="en-US" dirty="0" smtClean="0"/>
              <a:t>on a robot, or from someone spamming a search engine to try to rank high in search results. To reduce this risk, you need to monitor your system closely and promptly</a:t>
            </a:r>
          </a:p>
          <a:p>
            <a:r>
              <a:rPr lang="en-US" dirty="0" smtClean="0"/>
              <a:t>switch learning off (and possibly revert to a previously working state) if you detect a</a:t>
            </a:r>
          </a:p>
          <a:p>
            <a:r>
              <a:rPr lang="en-US" dirty="0" smtClean="0"/>
              <a:t>drop in performance. You may also want to monitor the input data and react to</a:t>
            </a:r>
          </a:p>
          <a:p>
            <a:r>
              <a:rPr lang="en-US" dirty="0" smtClean="0"/>
              <a:t>abnormal data (e.g., using an anomaly detection algorithm)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653136"/>
            <a:ext cx="6624736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830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467"/>
            <a:ext cx="910624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Instance-Based Versus Model-Based Learning</a:t>
            </a:r>
          </a:p>
          <a:p>
            <a:r>
              <a:rPr lang="en-US" dirty="0" smtClean="0"/>
              <a:t>One more way to categorize Machine Learning systems is by how they generalize.</a:t>
            </a:r>
          </a:p>
          <a:p>
            <a:r>
              <a:rPr lang="en-US" dirty="0" smtClean="0"/>
              <a:t>Most Machine Learning tasks are about making predictions. This means that given a</a:t>
            </a:r>
          </a:p>
          <a:p>
            <a:r>
              <a:rPr lang="en-US" dirty="0" smtClean="0"/>
              <a:t>number of training examples, the system needs to be able to generalize to examples it</a:t>
            </a:r>
          </a:p>
          <a:p>
            <a:r>
              <a:rPr lang="en-US" dirty="0" smtClean="0"/>
              <a:t>has never seen before. Having a good performance measure on the training data is</a:t>
            </a:r>
          </a:p>
          <a:p>
            <a:r>
              <a:rPr lang="en-US" dirty="0" smtClean="0"/>
              <a:t>good, but insufficient; the true goal is to perform well on new instances.</a:t>
            </a:r>
          </a:p>
          <a:p>
            <a:r>
              <a:rPr lang="en-US" dirty="0" smtClean="0"/>
              <a:t>There are two main approaches to generalization: instance-based learning and</a:t>
            </a:r>
          </a:p>
          <a:p>
            <a:r>
              <a:rPr lang="en-US" dirty="0" smtClean="0"/>
              <a:t>model-based learning.</a:t>
            </a:r>
          </a:p>
          <a:p>
            <a:r>
              <a:rPr lang="en-US" dirty="0" smtClean="0"/>
              <a:t>Instance-based learning</a:t>
            </a:r>
          </a:p>
          <a:p>
            <a:r>
              <a:rPr lang="en-US" dirty="0" smtClean="0"/>
              <a:t>Possibly the most trivial form of learning is simply to learn by heart. If you were to</a:t>
            </a:r>
          </a:p>
          <a:p>
            <a:r>
              <a:rPr lang="en-US" dirty="0" smtClean="0"/>
              <a:t>create a spam filter this way, it would just flag all emails that are identical to emails</a:t>
            </a:r>
          </a:p>
          <a:p>
            <a:r>
              <a:rPr lang="en-US" dirty="0" smtClean="0"/>
              <a:t>that have already been flagged by users—not the worst solution, but certainly not the</a:t>
            </a:r>
          </a:p>
          <a:p>
            <a:r>
              <a:rPr lang="en-US" dirty="0" smtClean="0"/>
              <a:t>best.</a:t>
            </a:r>
          </a:p>
          <a:p>
            <a:r>
              <a:rPr lang="en-US" dirty="0" smtClean="0"/>
              <a:t>Instead of just flagging emails that are identical to known spam emails, your spam</a:t>
            </a:r>
          </a:p>
          <a:p>
            <a:r>
              <a:rPr lang="en-US" dirty="0" smtClean="0"/>
              <a:t>filter could be programmed to also flag emails that are very similar to known spam</a:t>
            </a:r>
          </a:p>
          <a:p>
            <a:r>
              <a:rPr lang="en-US" dirty="0" smtClean="0"/>
              <a:t>emails. This requires a measure of similarity between two emails. A (very basic) </a:t>
            </a:r>
            <a:r>
              <a:rPr lang="en-US" dirty="0" err="1" smtClean="0"/>
              <a:t>simi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larity</a:t>
            </a:r>
            <a:r>
              <a:rPr lang="en-US" dirty="0" smtClean="0"/>
              <a:t> measure between two emails could be to count the number of words they have</a:t>
            </a:r>
          </a:p>
          <a:p>
            <a:r>
              <a:rPr lang="en-US" dirty="0" smtClean="0"/>
              <a:t>in common. The system would flag an email as spam if it has many words in com‐</a:t>
            </a:r>
          </a:p>
          <a:p>
            <a:r>
              <a:rPr lang="en-US" dirty="0" err="1" smtClean="0"/>
              <a:t>mon</a:t>
            </a:r>
            <a:r>
              <a:rPr lang="en-US" dirty="0" smtClean="0"/>
              <a:t> with a known spam email.</a:t>
            </a:r>
          </a:p>
          <a:p>
            <a:r>
              <a:rPr lang="en-US" dirty="0" smtClean="0"/>
              <a:t>This is called instance-based learning: the system learns the examples by heart, then</a:t>
            </a:r>
          </a:p>
          <a:p>
            <a:r>
              <a:rPr lang="en-US" dirty="0" smtClean="0"/>
              <a:t>generalizes to new cases by comparing them to the learned examples (or a subset of</a:t>
            </a:r>
          </a:p>
          <a:p>
            <a:r>
              <a:rPr lang="en-US" dirty="0" smtClean="0"/>
              <a:t>them), using a similarity measure. For example, in Figure 1-15 the new instance</a:t>
            </a:r>
          </a:p>
          <a:p>
            <a:r>
              <a:rPr lang="en-US" dirty="0" smtClean="0"/>
              <a:t>would be classified as a triangle because the majority of the most similar instances</a:t>
            </a:r>
          </a:p>
          <a:p>
            <a:r>
              <a:rPr lang="en-US" dirty="0" smtClean="0"/>
              <a:t>belong to that class.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170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64" y="116632"/>
            <a:ext cx="3411748" cy="129614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1484784"/>
            <a:ext cx="882047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Model-based learning</a:t>
            </a:r>
          </a:p>
          <a:p>
            <a:r>
              <a:rPr lang="en-US" dirty="0" smtClean="0"/>
              <a:t>Another way to generalize from a set of examples is to build a model of these exam‐</a:t>
            </a:r>
            <a:r>
              <a:rPr lang="en-US" dirty="0" err="1" smtClean="0"/>
              <a:t>ples</a:t>
            </a:r>
            <a:r>
              <a:rPr lang="en-US" dirty="0" smtClean="0"/>
              <a:t>, then use that model to make predictions. This is called model-based learning.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6492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464" y="0"/>
            <a:ext cx="8928992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Before you can use your model, you need to define the parameter values θ0</a:t>
            </a:r>
          </a:p>
          <a:p>
            <a:r>
              <a:rPr lang="en-US" dirty="0" smtClean="0"/>
              <a:t>and θ1</a:t>
            </a:r>
          </a:p>
          <a:p>
            <a:r>
              <a:rPr lang="en-US" dirty="0" smtClean="0"/>
              <a:t>.</a:t>
            </a:r>
          </a:p>
          <a:p>
            <a:r>
              <a:rPr lang="en-US" dirty="0" smtClean="0"/>
              <a:t>How can you know which values will make your model perform best? To answer this</a:t>
            </a:r>
          </a:p>
          <a:p>
            <a:r>
              <a:rPr lang="en-US" dirty="0" smtClean="0"/>
              <a:t>question, you need to specify a performance measure. You can either define a utility</a:t>
            </a:r>
          </a:p>
          <a:p>
            <a:r>
              <a:rPr lang="en-US" dirty="0" smtClean="0"/>
              <a:t>function (or fitness function) that measures how good your model is, or you can define</a:t>
            </a:r>
          </a:p>
          <a:p>
            <a:r>
              <a:rPr lang="en-US" dirty="0" smtClean="0"/>
              <a:t>a cost function that measures how bad it is. For linear regression problems, people</a:t>
            </a:r>
          </a:p>
          <a:p>
            <a:r>
              <a:rPr lang="en-US" dirty="0" smtClean="0"/>
              <a:t>typically use a cost function that measures the distance between the linear model’s</a:t>
            </a:r>
          </a:p>
          <a:p>
            <a:r>
              <a:rPr lang="en-US" dirty="0" smtClean="0"/>
              <a:t>predictions and the training examples; the objective is to minimize this distance.</a:t>
            </a:r>
          </a:p>
          <a:p>
            <a:r>
              <a:rPr lang="en-US" dirty="0" smtClean="0"/>
              <a:t>This is where the Linear Regression algorithm comes in: you feed it your training</a:t>
            </a:r>
          </a:p>
          <a:p>
            <a:r>
              <a:rPr lang="en-US" dirty="0" smtClean="0"/>
              <a:t>examples and it finds the parameters that make the linear model fit best to your data.</a:t>
            </a:r>
          </a:p>
          <a:p>
            <a:r>
              <a:rPr lang="en-US" dirty="0" smtClean="0"/>
              <a:t>This is called training the model. In our case the algorithm finds that the optimal</a:t>
            </a:r>
          </a:p>
          <a:p>
            <a:r>
              <a:rPr lang="en-US" dirty="0" smtClean="0"/>
              <a:t>parameter values are θ0</a:t>
            </a:r>
          </a:p>
          <a:p>
            <a:r>
              <a:rPr lang="en-US" dirty="0" smtClean="0"/>
              <a:t>= 4.85 and θ1</a:t>
            </a:r>
          </a:p>
          <a:p>
            <a:r>
              <a:rPr lang="en-US" dirty="0" smtClean="0"/>
              <a:t>= 4.91 × 10–5</a:t>
            </a:r>
          </a:p>
          <a:p>
            <a:r>
              <a:rPr lang="en-US" dirty="0" smtClean="0"/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208" y="4045230"/>
            <a:ext cx="5760640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5953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88640"/>
            <a:ext cx="5616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Now the model fits the training data as closely as possible (for a linear model).</a:t>
            </a:r>
            <a:endParaRPr lang="en-US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0112" y="260648"/>
            <a:ext cx="3240360" cy="183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4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11560" y="197346"/>
            <a:ext cx="770485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Main Challenges of Machine Learning</a:t>
            </a:r>
          </a:p>
          <a:p>
            <a:r>
              <a:rPr lang="en-US" dirty="0" smtClean="0"/>
              <a:t>In short, since your main task is to select a learning algorithm and train it on some</a:t>
            </a:r>
          </a:p>
          <a:p>
            <a:r>
              <a:rPr lang="en-US" dirty="0" smtClean="0"/>
              <a:t>data, the two things that can go wrong are “bad algorithm” and “bad data.” Let’s start</a:t>
            </a:r>
          </a:p>
          <a:p>
            <a:r>
              <a:rPr lang="en-US" dirty="0" smtClean="0"/>
              <a:t>with examples of bad data.</a:t>
            </a:r>
          </a:p>
          <a:p>
            <a:r>
              <a:rPr lang="en-US" dirty="0" smtClean="0"/>
              <a:t>Insufficient Quantity of Training Data</a:t>
            </a:r>
          </a:p>
          <a:p>
            <a:r>
              <a:rPr lang="en-US" dirty="0" smtClean="0"/>
              <a:t>For a toddler to learn what an apple is, all it takes is for you to point to an apple and</a:t>
            </a:r>
          </a:p>
          <a:p>
            <a:r>
              <a:rPr lang="en-US" dirty="0" smtClean="0"/>
              <a:t>say “apple” (possibly repeating this procedure a few times). Now the child is able to</a:t>
            </a:r>
          </a:p>
          <a:p>
            <a:r>
              <a:rPr lang="en-US" dirty="0" smtClean="0"/>
              <a:t>recognize apples in all sorts of colors and shapes. Genius.</a:t>
            </a:r>
          </a:p>
          <a:p>
            <a:r>
              <a:rPr lang="en-US" dirty="0" smtClean="0"/>
              <a:t>Machine Learning is not quite there yet; it takes a lot of data for most Machine Learn‐</a:t>
            </a:r>
          </a:p>
          <a:p>
            <a:r>
              <a:rPr lang="en-US" dirty="0" err="1" smtClean="0"/>
              <a:t>ing</a:t>
            </a:r>
            <a:r>
              <a:rPr lang="en-US" dirty="0" smtClean="0"/>
              <a:t> algorithms to work properly. Even for very simple problems you typically need</a:t>
            </a:r>
          </a:p>
          <a:p>
            <a:r>
              <a:rPr lang="en-US" dirty="0" smtClean="0"/>
              <a:t>thousands of examples, and for complex problems such as image or speech </a:t>
            </a:r>
            <a:r>
              <a:rPr lang="en-US" dirty="0" err="1" smtClean="0"/>
              <a:t>recogni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tion</a:t>
            </a:r>
            <a:r>
              <a:rPr lang="en-US" dirty="0" smtClean="0"/>
              <a:t> you may need millions of examples (unless you can reuse parts of an existing</a:t>
            </a:r>
          </a:p>
          <a:p>
            <a:r>
              <a:rPr lang="en-US" dirty="0" smtClean="0"/>
              <a:t>model).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2568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96" y="44624"/>
            <a:ext cx="8784976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he Unreasonable Effectiveness of Data</a:t>
            </a:r>
          </a:p>
          <a:p>
            <a:r>
              <a:rPr lang="en-US" dirty="0" smtClean="0"/>
              <a:t>In a famous paper published in 2001, Microsoft researchers Michele </a:t>
            </a:r>
            <a:r>
              <a:rPr lang="en-US" dirty="0" err="1" smtClean="0"/>
              <a:t>Banko</a:t>
            </a:r>
            <a:r>
              <a:rPr lang="en-US" dirty="0" smtClean="0"/>
              <a:t> and Eric</a:t>
            </a:r>
          </a:p>
          <a:p>
            <a:r>
              <a:rPr lang="en-US" dirty="0" smtClean="0"/>
              <a:t>Brill showed that very different Machine Learning algorithms, including fairly simple</a:t>
            </a:r>
          </a:p>
          <a:p>
            <a:r>
              <a:rPr lang="en-US" dirty="0" smtClean="0"/>
              <a:t>ones, performed almost identically well on a complex problem of natural language</a:t>
            </a:r>
          </a:p>
          <a:p>
            <a:r>
              <a:rPr lang="en-US" dirty="0" smtClean="0"/>
              <a:t>disambiguation8 once they were given enough data  The importance of data versus algorithms9</a:t>
            </a:r>
          </a:p>
          <a:p>
            <a:r>
              <a:rPr lang="en-US" dirty="0" smtClean="0"/>
              <a:t>As the authors put it: “these results suggest that we may want to reconsider the trade-</a:t>
            </a:r>
          </a:p>
          <a:p>
            <a:r>
              <a:rPr lang="en-US" dirty="0" smtClean="0"/>
              <a:t>off between spending time and money on algorithm development versus spending it</a:t>
            </a:r>
          </a:p>
          <a:p>
            <a:r>
              <a:rPr lang="en-US" dirty="0" smtClean="0"/>
              <a:t>on corpus development.”</a:t>
            </a:r>
          </a:p>
          <a:p>
            <a:r>
              <a:rPr lang="en-US" dirty="0" smtClean="0"/>
              <a:t>The idea that data matters more than algorithms for complex problems was further</a:t>
            </a:r>
          </a:p>
          <a:p>
            <a:r>
              <a:rPr lang="en-US" dirty="0" smtClean="0"/>
              <a:t>popularized by Peter </a:t>
            </a:r>
            <a:r>
              <a:rPr lang="en-US" dirty="0" err="1" smtClean="0"/>
              <a:t>Norvig</a:t>
            </a:r>
            <a:r>
              <a:rPr lang="en-US" dirty="0" smtClean="0"/>
              <a:t> et al. in a paper titled “The Unreasonable Effectiveness</a:t>
            </a:r>
          </a:p>
          <a:p>
            <a:r>
              <a:rPr lang="en-US" dirty="0" smtClean="0"/>
              <a:t>of Data” published in 2009.10</a:t>
            </a:r>
          </a:p>
          <a:p>
            <a:r>
              <a:rPr lang="en-US" dirty="0" smtClean="0"/>
              <a:t>It should be noted, however, that small- and medium-</a:t>
            </a:r>
          </a:p>
          <a:p>
            <a:r>
              <a:rPr lang="en-US" dirty="0" smtClean="0"/>
              <a:t>sized datasets are still very common, and it is not always easy or cheap to get extra</a:t>
            </a:r>
          </a:p>
          <a:p>
            <a:r>
              <a:rPr lang="en-US" dirty="0" smtClean="0"/>
              <a:t>training data, so don’t abandon algorithms just yet.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152" y="4553394"/>
            <a:ext cx="3132206" cy="2187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718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001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Nonrepresentative</a:t>
            </a:r>
            <a:r>
              <a:rPr lang="en-US" dirty="0" smtClean="0"/>
              <a:t> Training Data</a:t>
            </a:r>
          </a:p>
          <a:p>
            <a:r>
              <a:rPr lang="en-US" dirty="0" smtClean="0"/>
              <a:t>In order to generalize well, it is crucial that your training data be representative of the</a:t>
            </a:r>
          </a:p>
          <a:p>
            <a:r>
              <a:rPr lang="en-US" dirty="0" smtClean="0"/>
              <a:t>new cases you want to generalize to. This is true whether you use instance-based</a:t>
            </a:r>
          </a:p>
          <a:p>
            <a:r>
              <a:rPr lang="en-US" dirty="0" smtClean="0"/>
              <a:t>learning or model-based learning.</a:t>
            </a:r>
          </a:p>
          <a:p>
            <a:r>
              <a:rPr lang="en-US" dirty="0" smtClean="0"/>
              <a:t>For example, the set of countries we used earlier for training the linear model was not</a:t>
            </a:r>
          </a:p>
          <a:p>
            <a:r>
              <a:rPr lang="en-US" dirty="0" smtClean="0"/>
              <a:t>perfectly representative; a few countries were missing. A more representative training sample</a:t>
            </a:r>
          </a:p>
          <a:p>
            <a:r>
              <a:rPr lang="en-US" dirty="0" smtClean="0"/>
              <a:t>If you train a linear model on this data, you get the solid line, while the old model is</a:t>
            </a:r>
          </a:p>
          <a:p>
            <a:r>
              <a:rPr lang="en-US" dirty="0" smtClean="0"/>
              <a:t>represented by the dotted line. As you can see, not only does adding a few missing</a:t>
            </a:r>
          </a:p>
          <a:p>
            <a:r>
              <a:rPr lang="en-US" dirty="0" smtClean="0"/>
              <a:t>countries significantly alter the model, but it makes it clear that such a simple linear</a:t>
            </a:r>
          </a:p>
          <a:p>
            <a:r>
              <a:rPr lang="en-US" dirty="0" smtClean="0"/>
              <a:t>model is probably never going to work well. It seems that very rich countries are not</a:t>
            </a:r>
          </a:p>
          <a:p>
            <a:r>
              <a:rPr lang="en-US" dirty="0" smtClean="0"/>
              <a:t>happier than moderately rich countries (in fact they seem unhappier), and conversely</a:t>
            </a:r>
          </a:p>
          <a:p>
            <a:r>
              <a:rPr lang="en-US" dirty="0" smtClean="0"/>
              <a:t>some poor countries seem happier than many rich countries.</a:t>
            </a:r>
          </a:p>
          <a:p>
            <a:r>
              <a:rPr lang="en-US" dirty="0" smtClean="0"/>
              <a:t>By using a </a:t>
            </a:r>
            <a:r>
              <a:rPr lang="en-US" dirty="0" err="1" smtClean="0"/>
              <a:t>nonrepresentative</a:t>
            </a:r>
            <a:r>
              <a:rPr lang="en-US" dirty="0" smtClean="0"/>
              <a:t> training set, we trained a model that is unlikely to make</a:t>
            </a:r>
          </a:p>
          <a:p>
            <a:r>
              <a:rPr lang="en-US" dirty="0" smtClean="0"/>
              <a:t>accurate predictions, especially for very poor and very rich countries.</a:t>
            </a:r>
          </a:p>
          <a:p>
            <a:r>
              <a:rPr lang="en-US" dirty="0" smtClean="0"/>
              <a:t>It is crucial to use a training set that is representative of the cases you want to general‐</a:t>
            </a:r>
          </a:p>
          <a:p>
            <a:r>
              <a:rPr lang="en-US" dirty="0" err="1" smtClean="0"/>
              <a:t>ize</a:t>
            </a:r>
            <a:r>
              <a:rPr lang="en-US" dirty="0" smtClean="0"/>
              <a:t> to. This is often harder than it sounds: if the sample is too small, you will have</a:t>
            </a:r>
          </a:p>
          <a:p>
            <a:r>
              <a:rPr lang="en-US" dirty="0" smtClean="0"/>
              <a:t>sampling noise (i.e., </a:t>
            </a:r>
            <a:r>
              <a:rPr lang="en-US" dirty="0" err="1" smtClean="0"/>
              <a:t>nonrepresentative</a:t>
            </a:r>
            <a:r>
              <a:rPr lang="en-US" dirty="0" smtClean="0"/>
              <a:t> data as a result of chance), but even very large</a:t>
            </a:r>
          </a:p>
          <a:p>
            <a:r>
              <a:rPr lang="en-US" dirty="0" smtClean="0"/>
              <a:t>samples can be </a:t>
            </a:r>
            <a:r>
              <a:rPr lang="en-US" dirty="0" err="1" smtClean="0"/>
              <a:t>nonrepresentative</a:t>
            </a:r>
            <a:r>
              <a:rPr lang="en-US" dirty="0" smtClean="0"/>
              <a:t> if the sampling method is flawed. This is called</a:t>
            </a:r>
          </a:p>
          <a:p>
            <a:r>
              <a:rPr lang="en-US" dirty="0" smtClean="0"/>
              <a:t>sampling bias.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59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696" y="-34240"/>
            <a:ext cx="91440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Instead, Roosevelt won with 62% of the votes. The flaw was in the Literary Digest’s</a:t>
            </a:r>
          </a:p>
          <a:p>
            <a:r>
              <a:rPr lang="en-US" dirty="0" smtClean="0"/>
              <a:t>sampling method:</a:t>
            </a:r>
          </a:p>
          <a:p>
            <a:r>
              <a:rPr lang="en-US" dirty="0" smtClean="0"/>
              <a:t>• First, to obtain the addresses to send the polls to, the Literary Digest used </a:t>
            </a:r>
            <a:r>
              <a:rPr lang="en-US" dirty="0" err="1" smtClean="0"/>
              <a:t>tele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phone directories, lists of magazine subscribers, club membership lists, and the</a:t>
            </a:r>
          </a:p>
          <a:p>
            <a:r>
              <a:rPr lang="en-US" dirty="0" smtClean="0"/>
              <a:t>like. All of these lists tend to favor wealthier people, who are more likely to vote</a:t>
            </a:r>
          </a:p>
          <a:p>
            <a:r>
              <a:rPr lang="en-US" dirty="0" smtClean="0"/>
              <a:t>Republican (hence Landon).</a:t>
            </a:r>
          </a:p>
          <a:p>
            <a:r>
              <a:rPr lang="en-US" dirty="0" smtClean="0"/>
              <a:t>• Second, less than 25% of the people who received the poll answered. Again, this</a:t>
            </a:r>
          </a:p>
          <a:p>
            <a:r>
              <a:rPr lang="en-US" dirty="0" smtClean="0"/>
              <a:t>introduces a sampling bias, by ruling out people who don’t care much about </a:t>
            </a:r>
            <a:r>
              <a:rPr lang="en-US" dirty="0" err="1" smtClean="0"/>
              <a:t>poli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tics, people who don’t like the Literary Digest, and other key groups. This is a </a:t>
            </a:r>
            <a:r>
              <a:rPr lang="en-US" dirty="0" err="1" smtClean="0"/>
              <a:t>spe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cial</a:t>
            </a:r>
            <a:r>
              <a:rPr lang="en-US" dirty="0" smtClean="0"/>
              <a:t> type of sampling bias called nonresponse bias.</a:t>
            </a:r>
          </a:p>
          <a:p>
            <a:r>
              <a:rPr lang="en-US" dirty="0" smtClean="0"/>
              <a:t>Here is another example: say you want to build a system to recognize funk music vid‐</a:t>
            </a:r>
          </a:p>
          <a:p>
            <a:r>
              <a:rPr lang="en-US" dirty="0" err="1" smtClean="0"/>
              <a:t>eos</a:t>
            </a:r>
            <a:r>
              <a:rPr lang="en-US" dirty="0" smtClean="0"/>
              <a:t>. One way to build your training set is to search “funk music” on YouTube and use</a:t>
            </a:r>
          </a:p>
          <a:p>
            <a:r>
              <a:rPr lang="en-US" dirty="0" smtClean="0"/>
              <a:t>the resulting videos. But this assumes that YouTube’s search engine returns a set of</a:t>
            </a:r>
          </a:p>
          <a:p>
            <a:r>
              <a:rPr lang="en-US" dirty="0" smtClean="0"/>
              <a:t>videos that are representative of all the funk music videos on YouTube. In reality, the</a:t>
            </a:r>
          </a:p>
          <a:p>
            <a:r>
              <a:rPr lang="en-US" dirty="0" smtClean="0"/>
              <a:t>search results are likely to be biased toward popular artists (and if you live in Brazil</a:t>
            </a:r>
          </a:p>
          <a:p>
            <a:r>
              <a:rPr lang="en-US" dirty="0" smtClean="0"/>
              <a:t>you will get a lot of “funk carioca” videos, which sound nothing like James Brown).</a:t>
            </a:r>
          </a:p>
          <a:p>
            <a:r>
              <a:rPr lang="en-US" dirty="0" smtClean="0"/>
              <a:t>On the other hand, how else can you get a large training set?</a:t>
            </a:r>
          </a:p>
          <a:p>
            <a:r>
              <a:rPr lang="en-US" dirty="0" smtClean="0"/>
              <a:t>Poor-Quality Data</a:t>
            </a:r>
          </a:p>
          <a:p>
            <a:r>
              <a:rPr lang="en-US" dirty="0" smtClean="0"/>
              <a:t>Obviously, if your training data is full of errors, outliers, and noise (e.g., due to poor-</a:t>
            </a:r>
          </a:p>
          <a:p>
            <a:r>
              <a:rPr lang="en-US" dirty="0" smtClean="0"/>
              <a:t>quality measurements), it will make it harder for the system to detect the underlying</a:t>
            </a:r>
          </a:p>
          <a:p>
            <a:r>
              <a:rPr lang="en-US" dirty="0" smtClean="0"/>
              <a:t>patterns, so your system is less likely to perform well. It is often well worth the effort</a:t>
            </a:r>
          </a:p>
          <a:p>
            <a:r>
              <a:rPr lang="en-US" dirty="0" smtClean="0"/>
              <a:t>to spend time cleaning up your training data. The truth is, most data scientists spend</a:t>
            </a:r>
          </a:p>
          <a:p>
            <a:r>
              <a:rPr lang="en-US" dirty="0" smtClean="0"/>
              <a:t>a significant part of their time doing just that. For example:</a:t>
            </a:r>
          </a:p>
          <a:p>
            <a:r>
              <a:rPr lang="en-US" dirty="0" smtClean="0"/>
              <a:t>• If some instances are clearly outliers, it may help to simply discard them or try to</a:t>
            </a:r>
          </a:p>
          <a:p>
            <a:r>
              <a:rPr lang="en-US" dirty="0" smtClean="0"/>
              <a:t>fix the errors manually.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3240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97346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 If some instances are missing a few features (e.g., 5% of your customers did not</a:t>
            </a:r>
          </a:p>
          <a:p>
            <a:r>
              <a:rPr lang="en-US" dirty="0" smtClean="0"/>
              <a:t>specify their age), you must decide whether you want to ignore this attribute alto‐</a:t>
            </a:r>
          </a:p>
          <a:p>
            <a:r>
              <a:rPr lang="en-US" dirty="0" err="1" smtClean="0"/>
              <a:t>gether</a:t>
            </a:r>
            <a:r>
              <a:rPr lang="en-US" dirty="0" smtClean="0"/>
              <a:t>, ignore these instances, fill in the missing values (e.g., with the median</a:t>
            </a:r>
          </a:p>
          <a:p>
            <a:r>
              <a:rPr lang="en-US" dirty="0" smtClean="0"/>
              <a:t>age), or train one model with the feature and one model without it, and so on.</a:t>
            </a:r>
          </a:p>
          <a:p>
            <a:r>
              <a:rPr lang="en-US" dirty="0" smtClean="0"/>
              <a:t>Irrelevant Features</a:t>
            </a:r>
          </a:p>
          <a:p>
            <a:r>
              <a:rPr lang="en-US" dirty="0" smtClean="0"/>
              <a:t>As the saying goes: garbage in, garbage out. Your system will only be capable of learn‐</a:t>
            </a:r>
          </a:p>
          <a:p>
            <a:r>
              <a:rPr lang="en-US" dirty="0" err="1" smtClean="0"/>
              <a:t>ing</a:t>
            </a:r>
            <a:r>
              <a:rPr lang="en-US" dirty="0" smtClean="0"/>
              <a:t> if the training data contains enough relevant features and not too many irrelevant</a:t>
            </a:r>
          </a:p>
          <a:p>
            <a:r>
              <a:rPr lang="en-US" dirty="0" smtClean="0"/>
              <a:t>ones. A critical part of the success of a Machine Learning project is coming up with a</a:t>
            </a:r>
          </a:p>
          <a:p>
            <a:r>
              <a:rPr lang="en-US" dirty="0" smtClean="0"/>
              <a:t>good set of features to train on. This process, called feature engineering, involves Feature selection: selecting the most useful features to train on among existing</a:t>
            </a:r>
          </a:p>
          <a:p>
            <a:r>
              <a:rPr lang="en-US" dirty="0" smtClean="0"/>
              <a:t>features.</a:t>
            </a:r>
          </a:p>
          <a:p>
            <a:r>
              <a:rPr lang="en-US" dirty="0" smtClean="0"/>
              <a:t>• Feature extraction: combining existing features to produce a more useful one (as</a:t>
            </a:r>
          </a:p>
          <a:p>
            <a:r>
              <a:rPr lang="en-US" dirty="0" smtClean="0"/>
              <a:t>we saw earlier, dimensionality reduction algorithms can help).</a:t>
            </a:r>
          </a:p>
          <a:p>
            <a:r>
              <a:rPr lang="en-US" dirty="0" smtClean="0"/>
              <a:t>• Creating new features by gathering new data.</a:t>
            </a:r>
          </a:p>
          <a:p>
            <a:r>
              <a:rPr lang="en-US" dirty="0" smtClean="0"/>
              <a:t>Now that we have looked at many examples of bad data, let’s look at a couple of exam‐</a:t>
            </a:r>
          </a:p>
          <a:p>
            <a:r>
              <a:rPr lang="en-US" dirty="0" err="1" smtClean="0"/>
              <a:t>ples</a:t>
            </a:r>
            <a:r>
              <a:rPr lang="en-US" dirty="0" smtClean="0"/>
              <a:t> of bad algorithms.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829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0"/>
            <a:ext cx="903649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Overfitting</a:t>
            </a:r>
            <a:r>
              <a:rPr lang="en-US" dirty="0" smtClean="0"/>
              <a:t> the Training Data</a:t>
            </a:r>
          </a:p>
          <a:p>
            <a:r>
              <a:rPr lang="en-US" dirty="0" smtClean="0"/>
              <a:t>Say you are visiting a foreign country and the taxi driver rips you off. You might be</a:t>
            </a:r>
          </a:p>
          <a:p>
            <a:r>
              <a:rPr lang="en-US" dirty="0" smtClean="0"/>
              <a:t>tempted to say that all taxi drivers in that country are thieves. Overgeneralizing is</a:t>
            </a:r>
          </a:p>
          <a:p>
            <a:r>
              <a:rPr lang="en-US" dirty="0" smtClean="0"/>
              <a:t>something that we humans do all too often, and unfortunately machines can fall into</a:t>
            </a:r>
          </a:p>
          <a:p>
            <a:r>
              <a:rPr lang="en-US" dirty="0" smtClean="0"/>
              <a:t>the same trap if we are not careful. In Machine Learning this is called </a:t>
            </a:r>
            <a:r>
              <a:rPr lang="en-US" dirty="0" err="1" smtClean="0"/>
              <a:t>overfitting</a:t>
            </a:r>
            <a:r>
              <a:rPr lang="en-US" dirty="0" smtClean="0"/>
              <a:t>: it</a:t>
            </a:r>
          </a:p>
          <a:p>
            <a:r>
              <a:rPr lang="en-US" dirty="0" smtClean="0"/>
              <a:t>means that the model performs well on the training data, but it does not generalize</a:t>
            </a:r>
          </a:p>
          <a:p>
            <a:r>
              <a:rPr lang="en-US" dirty="0" smtClean="0"/>
              <a:t>well. Complex models such as deep neural networks can detect subtle patterns in the data,</a:t>
            </a:r>
          </a:p>
          <a:p>
            <a:r>
              <a:rPr lang="en-US" dirty="0" smtClean="0"/>
              <a:t>but if the training set is noisy, or if it is too small (which introduces sampling noise),</a:t>
            </a:r>
          </a:p>
          <a:p>
            <a:r>
              <a:rPr lang="en-US" dirty="0" smtClean="0"/>
              <a:t>then the model is likely to detect patterns in the noise itself. Obviously these patterns</a:t>
            </a:r>
          </a:p>
          <a:p>
            <a:r>
              <a:rPr lang="en-US" dirty="0" smtClean="0"/>
              <a:t>will not generalize to new instances. For example, say you feed your life satisfaction</a:t>
            </a:r>
          </a:p>
          <a:p>
            <a:r>
              <a:rPr lang="en-US" dirty="0" smtClean="0"/>
              <a:t>model many more attributes, including uninformative ones such as the country’s</a:t>
            </a:r>
          </a:p>
          <a:p>
            <a:r>
              <a:rPr lang="en-US" dirty="0" smtClean="0"/>
              <a:t>name. In that case, a complex model may detect patterns like the fact that all </a:t>
            </a:r>
            <a:r>
              <a:rPr lang="en-US" dirty="0" err="1" smtClean="0"/>
              <a:t>coun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tries in the training data with a w in their name have a life satisfaction greater than 7:</a:t>
            </a:r>
          </a:p>
          <a:p>
            <a:r>
              <a:rPr lang="en-US" dirty="0" smtClean="0"/>
              <a:t>New Zealand (7.3), Norway (7.4), Sweden (7.2), and Switzerland (7.5). How confident</a:t>
            </a:r>
            <a:r>
              <a:rPr lang="en-US" dirty="0" smtClean="0"/>
              <a:t> are you that the W-satisfaction rule generalizes to Rwanda or Zimbabwe? Obviously</a:t>
            </a:r>
          </a:p>
          <a:p>
            <a:r>
              <a:rPr lang="en-US" dirty="0" smtClean="0"/>
              <a:t>this pattern occurred in the training data by pure chance, but the model has no way</a:t>
            </a:r>
          </a:p>
          <a:p>
            <a:r>
              <a:rPr lang="en-US" dirty="0" smtClean="0"/>
              <a:t>to tell whether a pattern is real or simply the result of noise in the data.</a:t>
            </a:r>
          </a:p>
          <a:p>
            <a:r>
              <a:rPr lang="en-US" dirty="0" err="1" smtClean="0"/>
              <a:t>Overfitting</a:t>
            </a:r>
            <a:r>
              <a:rPr lang="en-US" dirty="0" smtClean="0"/>
              <a:t> happens when the model is too complex relative to the</a:t>
            </a:r>
          </a:p>
          <a:p>
            <a:r>
              <a:rPr lang="en-US" dirty="0" smtClean="0"/>
              <a:t>amount and noisiness of the training data. The possible solutions</a:t>
            </a:r>
          </a:p>
          <a:p>
            <a:r>
              <a:rPr lang="en-US" dirty="0" smtClean="0"/>
              <a:t>are:</a:t>
            </a:r>
          </a:p>
          <a:p>
            <a:r>
              <a:rPr lang="en-US" dirty="0" smtClean="0"/>
              <a:t>• To simplify the model by selecting one with fewer parameters</a:t>
            </a:r>
          </a:p>
          <a:p>
            <a:r>
              <a:rPr lang="en-US" dirty="0" smtClean="0"/>
              <a:t>(e.g., a linear model rather than a high-degree polynomial</a:t>
            </a:r>
          </a:p>
          <a:p>
            <a:r>
              <a:rPr lang="en-US" dirty="0" smtClean="0"/>
              <a:t>model), by reducing the number of attributes in the training</a:t>
            </a:r>
          </a:p>
        </p:txBody>
      </p:sp>
    </p:spTree>
    <p:extLst>
      <p:ext uri="{BB962C8B-B14F-4D97-AF65-F5344CB8AC3E}">
        <p14:creationId xmlns:p14="http://schemas.microsoft.com/office/powerpoint/2010/main" val="2480115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5720"/>
            <a:ext cx="9144000" cy="7294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are you that the W-satisfaction rule generalizes to Rwanda or Zimbabwe? Obviously</a:t>
            </a:r>
          </a:p>
          <a:p>
            <a:r>
              <a:rPr lang="en-US" dirty="0" smtClean="0"/>
              <a:t>this pattern occurred in the training data by pure chance, but the model has no way</a:t>
            </a:r>
          </a:p>
          <a:p>
            <a:r>
              <a:rPr lang="en-US" dirty="0" smtClean="0"/>
              <a:t>to tell whether a pattern is real or simply the result of noise in the data.</a:t>
            </a:r>
          </a:p>
          <a:p>
            <a:r>
              <a:rPr lang="en-US" dirty="0" err="1" smtClean="0"/>
              <a:t>Overfitting</a:t>
            </a:r>
            <a:r>
              <a:rPr lang="en-US" dirty="0" smtClean="0"/>
              <a:t> happens when the model is too complex relative to the</a:t>
            </a:r>
          </a:p>
          <a:p>
            <a:r>
              <a:rPr lang="en-US" dirty="0" smtClean="0"/>
              <a:t>amount and noisiness of the training data. The possible solutions</a:t>
            </a:r>
          </a:p>
          <a:p>
            <a:r>
              <a:rPr lang="en-US" dirty="0" smtClean="0"/>
              <a:t>are:</a:t>
            </a:r>
            <a:r>
              <a:rPr lang="en-US" dirty="0" smtClean="0"/>
              <a:t>• To simplify the model by selecting one with fewer parameters</a:t>
            </a:r>
          </a:p>
          <a:p>
            <a:r>
              <a:rPr lang="en-US" dirty="0" smtClean="0"/>
              <a:t>(e.g., a linear model rather than a high-degree polynomial</a:t>
            </a:r>
          </a:p>
          <a:p>
            <a:r>
              <a:rPr lang="en-US" dirty="0" smtClean="0"/>
              <a:t>model), by reducing the number of attributes in the training</a:t>
            </a:r>
          </a:p>
          <a:p>
            <a:r>
              <a:rPr lang="en-US" dirty="0" smtClean="0"/>
              <a:t>data or by constraining the model</a:t>
            </a:r>
          </a:p>
          <a:p>
            <a:r>
              <a:rPr lang="en-US" dirty="0" smtClean="0"/>
              <a:t>• To gather more training data</a:t>
            </a:r>
          </a:p>
          <a:p>
            <a:r>
              <a:rPr lang="en-US" dirty="0" smtClean="0"/>
              <a:t>• To reduce the noise in the training data (e.g., fix data errors</a:t>
            </a:r>
          </a:p>
          <a:p>
            <a:r>
              <a:rPr lang="en-US" dirty="0" smtClean="0"/>
              <a:t>and remove outliers)</a:t>
            </a:r>
          </a:p>
          <a:p>
            <a:r>
              <a:rPr lang="en-US" dirty="0" smtClean="0"/>
              <a:t>Constraining a model to make it simpler and reduce the risk of </a:t>
            </a:r>
            <a:r>
              <a:rPr lang="en-US" dirty="0" err="1" smtClean="0"/>
              <a:t>overfitting</a:t>
            </a:r>
            <a:r>
              <a:rPr lang="en-US" dirty="0" smtClean="0"/>
              <a:t> is called</a:t>
            </a:r>
          </a:p>
          <a:p>
            <a:r>
              <a:rPr lang="en-US" dirty="0" smtClean="0"/>
              <a:t>regularization. For example, the linear model we defined earlier has two parameters,</a:t>
            </a:r>
          </a:p>
          <a:p>
            <a:r>
              <a:rPr lang="en-US" dirty="0" smtClean="0"/>
              <a:t>θ0</a:t>
            </a:r>
          </a:p>
          <a:p>
            <a:r>
              <a:rPr lang="en-US" dirty="0" smtClean="0"/>
              <a:t>and θ1</a:t>
            </a:r>
          </a:p>
          <a:p>
            <a:r>
              <a:rPr lang="en-US" dirty="0" smtClean="0"/>
              <a:t>. This gives the learning algorithm two degrees of freedom to adapt the model</a:t>
            </a:r>
          </a:p>
          <a:p>
            <a:r>
              <a:rPr lang="en-US" dirty="0" smtClean="0"/>
              <a:t>to the training data: it can tweak both the height (θ0</a:t>
            </a:r>
          </a:p>
          <a:p>
            <a:r>
              <a:rPr lang="en-US" dirty="0" smtClean="0"/>
              <a:t>we forced θ1</a:t>
            </a:r>
          </a:p>
          <a:p>
            <a:r>
              <a:rPr lang="en-US" dirty="0" smtClean="0"/>
              <a:t>) and the slope (θ1</a:t>
            </a:r>
          </a:p>
          <a:p>
            <a:r>
              <a:rPr lang="en-US" dirty="0" smtClean="0"/>
              <a:t>) of the line. If</a:t>
            </a:r>
          </a:p>
          <a:p>
            <a:r>
              <a:rPr lang="en-US" dirty="0" smtClean="0"/>
              <a:t>= 0, the algorithm would have only one degree of freedom and would</a:t>
            </a:r>
          </a:p>
          <a:p>
            <a:r>
              <a:rPr lang="en-US" dirty="0" smtClean="0"/>
              <a:t>have a much harder time fitting the data properly: all it could do is move the line up</a:t>
            </a:r>
          </a:p>
          <a:p>
            <a:r>
              <a:rPr lang="en-US" dirty="0" smtClean="0"/>
              <a:t>or down to get as close as possible to the training instances, so it would end up</a:t>
            </a:r>
          </a:p>
          <a:p>
            <a:r>
              <a:rPr lang="en-US" dirty="0" smtClean="0"/>
              <a:t>around the mean. A very simple model indeed! If we allow the algorithm to modify θ1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0582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43608" y="332656"/>
            <a:ext cx="6750496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but we force it to keep it small, then the learning algorithm will effectively have some‐</a:t>
            </a:r>
          </a:p>
          <a:p>
            <a:r>
              <a:rPr lang="en-US" dirty="0" smtClean="0"/>
              <a:t>where in between one and two degrees of freedom. It will produce a simpler model</a:t>
            </a:r>
          </a:p>
          <a:p>
            <a:r>
              <a:rPr lang="en-US" dirty="0" smtClean="0"/>
              <a:t>than with two degrees of freedom, but more complex than with just one. You want to</a:t>
            </a:r>
          </a:p>
          <a:p>
            <a:r>
              <a:rPr lang="en-US" dirty="0" smtClean="0"/>
              <a:t>find the right balance between fitting the training data perfectly and keeping the</a:t>
            </a:r>
          </a:p>
          <a:p>
            <a:r>
              <a:rPr lang="en-US" dirty="0" smtClean="0"/>
              <a:t>model simple enough to ensure that it will generalize well.</a:t>
            </a:r>
          </a:p>
          <a:p>
            <a:r>
              <a:rPr lang="en-US" dirty="0" smtClean="0"/>
              <a:t>Figure 1-23 shows three models: the dotted line represents the original model that</a:t>
            </a:r>
          </a:p>
          <a:p>
            <a:r>
              <a:rPr lang="en-US" dirty="0" smtClean="0"/>
              <a:t>was trained with a few countries missing, the dashed line is our second model trained</a:t>
            </a:r>
          </a:p>
          <a:p>
            <a:r>
              <a:rPr lang="en-US" dirty="0" smtClean="0"/>
              <a:t>with all countries, and the solid line is a linear model trained with the same data as</a:t>
            </a:r>
          </a:p>
          <a:p>
            <a:r>
              <a:rPr lang="en-US" dirty="0" smtClean="0"/>
              <a:t>the first model but with a regularization constraint. You can see that regularization</a:t>
            </a:r>
          </a:p>
          <a:p>
            <a:r>
              <a:rPr lang="en-US" dirty="0" smtClean="0"/>
              <a:t>forced the model to have a smaller slope, which fits a bit less the training data that the</a:t>
            </a:r>
          </a:p>
          <a:p>
            <a:r>
              <a:rPr lang="en-US" dirty="0" smtClean="0"/>
              <a:t>model was trained on, but actually allows it to generalize better to new examples.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4034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48680"/>
            <a:ext cx="90364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amount of regularization to apply during learning can be controlled by a hyper‐</a:t>
            </a:r>
          </a:p>
          <a:p>
            <a:r>
              <a:rPr lang="en-US" dirty="0" smtClean="0"/>
              <a:t>parameter. A </a:t>
            </a:r>
            <a:r>
              <a:rPr lang="en-US" dirty="0" err="1" smtClean="0"/>
              <a:t>hyperparameter</a:t>
            </a:r>
            <a:r>
              <a:rPr lang="en-US" dirty="0" smtClean="0"/>
              <a:t> is a parameter of a learning algorithm (not of the</a:t>
            </a:r>
          </a:p>
          <a:p>
            <a:r>
              <a:rPr lang="en-US" dirty="0" smtClean="0"/>
              <a:t>model). As such, it is not affected by the learning algorithm itself; it must be set prior</a:t>
            </a:r>
          </a:p>
          <a:p>
            <a:r>
              <a:rPr lang="en-US" dirty="0" smtClean="0"/>
              <a:t>to training and remains constant during training. If you set the regularization hyper‐</a:t>
            </a:r>
          </a:p>
          <a:p>
            <a:r>
              <a:rPr lang="en-US" dirty="0" smtClean="0"/>
              <a:t>parameter to a very large value, you will get an almost flat model (a slope close to</a:t>
            </a:r>
          </a:p>
          <a:p>
            <a:r>
              <a:rPr lang="en-US" dirty="0" smtClean="0"/>
              <a:t>zero); the learning algorithm will almost certainly not </a:t>
            </a:r>
            <a:r>
              <a:rPr lang="en-US" dirty="0" err="1" smtClean="0"/>
              <a:t>overfit</a:t>
            </a:r>
            <a:r>
              <a:rPr lang="en-US" dirty="0" smtClean="0"/>
              <a:t> the training data, but it</a:t>
            </a:r>
          </a:p>
          <a:p>
            <a:r>
              <a:rPr lang="en-US" dirty="0" smtClean="0"/>
              <a:t>will be less likely to find a good solution. Tuning </a:t>
            </a:r>
            <a:r>
              <a:rPr lang="en-US" dirty="0" err="1" smtClean="0"/>
              <a:t>hyperparameters</a:t>
            </a:r>
            <a:r>
              <a:rPr lang="en-US" dirty="0" smtClean="0"/>
              <a:t> is an important</a:t>
            </a:r>
          </a:p>
          <a:p>
            <a:r>
              <a:rPr lang="en-US" dirty="0" smtClean="0"/>
              <a:t>part of building a Machine Learning system (you will see a detailed example in the</a:t>
            </a:r>
          </a:p>
          <a:p>
            <a:r>
              <a:rPr lang="en-US" dirty="0" smtClean="0"/>
              <a:t>next chapter).</a:t>
            </a:r>
          </a:p>
          <a:p>
            <a:r>
              <a:rPr lang="en-US" dirty="0" err="1" smtClean="0"/>
              <a:t>Underfitting</a:t>
            </a:r>
            <a:r>
              <a:rPr lang="en-US" dirty="0" smtClean="0"/>
              <a:t> the Training Data</a:t>
            </a:r>
          </a:p>
          <a:p>
            <a:r>
              <a:rPr lang="en-US" dirty="0" smtClean="0"/>
              <a:t>As you might guess, </a:t>
            </a:r>
            <a:r>
              <a:rPr lang="en-US" dirty="0" err="1" smtClean="0"/>
              <a:t>underfitting</a:t>
            </a:r>
            <a:r>
              <a:rPr lang="en-US" dirty="0" smtClean="0"/>
              <a:t> is the opposite of </a:t>
            </a:r>
            <a:r>
              <a:rPr lang="en-US" dirty="0" err="1" smtClean="0"/>
              <a:t>overfitting</a:t>
            </a:r>
            <a:r>
              <a:rPr lang="en-US" dirty="0" smtClean="0"/>
              <a:t>: it occurs when your</a:t>
            </a:r>
          </a:p>
          <a:p>
            <a:r>
              <a:rPr lang="en-US" dirty="0" smtClean="0"/>
              <a:t>model is too simple to learn the underlying structure of the data. For example, a </a:t>
            </a:r>
            <a:r>
              <a:rPr lang="en-US" dirty="0" err="1" smtClean="0"/>
              <a:t>lin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ear model of life satisfaction is prone to </a:t>
            </a:r>
            <a:r>
              <a:rPr lang="en-US" dirty="0" err="1" smtClean="0"/>
              <a:t>underfit</a:t>
            </a:r>
            <a:r>
              <a:rPr lang="en-US" dirty="0" smtClean="0"/>
              <a:t>; reality is just more complex than</a:t>
            </a:r>
          </a:p>
          <a:p>
            <a:r>
              <a:rPr lang="en-US" dirty="0" smtClean="0"/>
              <a:t>the model, so its predictions are bound to be inaccurate, even on the training exam‐</a:t>
            </a:r>
          </a:p>
          <a:p>
            <a:r>
              <a:rPr lang="en-US" dirty="0" err="1" smtClean="0"/>
              <a:t>ples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main options to fix this problem are:</a:t>
            </a:r>
          </a:p>
          <a:p>
            <a:r>
              <a:rPr lang="en-US" dirty="0" smtClean="0"/>
              <a:t>• Selecting a more powerful model, with more parameters</a:t>
            </a:r>
          </a:p>
          <a:p>
            <a:r>
              <a:rPr lang="en-US" dirty="0" smtClean="0"/>
              <a:t>• Feeding better features to the learning algorithm (feature engineering)</a:t>
            </a:r>
          </a:p>
          <a:p>
            <a:r>
              <a:rPr lang="en-US" dirty="0" smtClean="0"/>
              <a:t>• Reducing the constraints on the model (e.g., reducing the regularization hyper‐</a:t>
            </a:r>
          </a:p>
          <a:p>
            <a:r>
              <a:rPr lang="en-US" dirty="0" smtClean="0"/>
              <a:t>parameter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659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117693"/>
            <a:ext cx="7776864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Stepping Back</a:t>
            </a:r>
          </a:p>
          <a:p>
            <a:r>
              <a:rPr lang="en-US" dirty="0" smtClean="0"/>
              <a:t>By now you already know a lot about Machine Learning. However, we went through</a:t>
            </a:r>
          </a:p>
          <a:p>
            <a:r>
              <a:rPr lang="en-US" dirty="0" smtClean="0"/>
              <a:t>so many concepts that you may be feeling a little lost, so let’s step back and look at the</a:t>
            </a:r>
          </a:p>
          <a:p>
            <a:r>
              <a:rPr lang="en-US" dirty="0" smtClean="0"/>
              <a:t>big picture • Machine Learning is about making machines get better at some task by learning</a:t>
            </a:r>
          </a:p>
          <a:p>
            <a:r>
              <a:rPr lang="en-US" dirty="0" smtClean="0"/>
              <a:t>from data, instead of having to explicitly code rules.</a:t>
            </a:r>
          </a:p>
          <a:p>
            <a:r>
              <a:rPr lang="en-US" dirty="0" smtClean="0"/>
              <a:t>• There are many different types of ML systems: supervised or not, batch or online,</a:t>
            </a:r>
          </a:p>
          <a:p>
            <a:r>
              <a:rPr lang="en-US" dirty="0" smtClean="0"/>
              <a:t>instance-based or model-based, and so on.</a:t>
            </a:r>
          </a:p>
          <a:p>
            <a:r>
              <a:rPr lang="en-US" dirty="0" smtClean="0"/>
              <a:t>• In a ML project you gather data in a training set, and you feed the training set to</a:t>
            </a:r>
          </a:p>
          <a:p>
            <a:r>
              <a:rPr lang="en-US" dirty="0" smtClean="0"/>
              <a:t>a learning algorithm. If the algorithm is model-based it tunes some parameters to</a:t>
            </a:r>
          </a:p>
          <a:p>
            <a:r>
              <a:rPr lang="en-US" dirty="0" smtClean="0"/>
              <a:t>fit the model to the training set (i.e., to make good predictions on the training set</a:t>
            </a:r>
          </a:p>
          <a:p>
            <a:r>
              <a:rPr lang="en-US" dirty="0" smtClean="0"/>
              <a:t>itself), and then hopefully it will be able to make good predictions on new cases</a:t>
            </a:r>
          </a:p>
          <a:p>
            <a:r>
              <a:rPr lang="en-US" dirty="0" smtClean="0"/>
              <a:t>as well. If the algorithm is instance-based, it just learns the examples by heart and</a:t>
            </a:r>
          </a:p>
          <a:p>
            <a:r>
              <a:rPr lang="en-US" dirty="0" smtClean="0"/>
              <a:t>generalizes to new instances by comparing them to the learned instances using a</a:t>
            </a:r>
          </a:p>
          <a:p>
            <a:r>
              <a:rPr lang="en-US" dirty="0" smtClean="0"/>
              <a:t>similarity measure.</a:t>
            </a:r>
          </a:p>
        </p:txBody>
      </p:sp>
    </p:spTree>
    <p:extLst>
      <p:ext uri="{BB962C8B-B14F-4D97-AF65-F5344CB8AC3E}">
        <p14:creationId xmlns:p14="http://schemas.microsoft.com/office/powerpoint/2010/main" val="2639463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7504" y="1806458"/>
            <a:ext cx="87129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• The system will not perform well if your training set is too small, or if the data is</a:t>
            </a:r>
          </a:p>
          <a:p>
            <a:r>
              <a:rPr lang="en-US" dirty="0" smtClean="0"/>
              <a:t>not representative, noisy, or polluted with irrelevant features (garbage in, garbage</a:t>
            </a:r>
          </a:p>
          <a:p>
            <a:r>
              <a:rPr lang="en-US" dirty="0" smtClean="0"/>
              <a:t>out). Lastly, your model needs to be neither too simple (in which case it will</a:t>
            </a:r>
          </a:p>
          <a:p>
            <a:r>
              <a:rPr lang="en-US" dirty="0" err="1" smtClean="0"/>
              <a:t>underfit</a:t>
            </a:r>
            <a:r>
              <a:rPr lang="en-US" dirty="0" smtClean="0"/>
              <a:t>) nor too complex (in which case it will </a:t>
            </a:r>
            <a:r>
              <a:rPr lang="en-US" dirty="0" err="1" smtClean="0"/>
              <a:t>overfit</a:t>
            </a:r>
            <a:r>
              <a:rPr lang="en-US" dirty="0" smtClean="0"/>
              <a:t>).</a:t>
            </a:r>
          </a:p>
          <a:p>
            <a:r>
              <a:rPr lang="en-US" dirty="0" smtClean="0"/>
              <a:t>There’s just one last important topic to cover: once you have trained a model, you</a:t>
            </a:r>
          </a:p>
          <a:p>
            <a:r>
              <a:rPr lang="en-US" dirty="0" smtClean="0"/>
              <a:t>don’t want to just “hope” it generalizes to new cases. You want to evaluate it, and fine-</a:t>
            </a:r>
          </a:p>
          <a:p>
            <a:r>
              <a:rPr lang="en-US" dirty="0" smtClean="0"/>
              <a:t>tune it if necessary. Let’s see how.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239452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3528" y="0"/>
            <a:ext cx="828092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Testing and Validating</a:t>
            </a:r>
          </a:p>
          <a:p>
            <a:r>
              <a:rPr lang="en-US" dirty="0" smtClean="0"/>
              <a:t>The only way to know how well a model will generalize to new cases is to actually try</a:t>
            </a:r>
          </a:p>
          <a:p>
            <a:r>
              <a:rPr lang="en-US" dirty="0" smtClean="0"/>
              <a:t>it out on new cases. One way to do that is to put your model in production and </a:t>
            </a:r>
            <a:r>
              <a:rPr lang="en-US" dirty="0" err="1" smtClean="0"/>
              <a:t>moni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tor how well it performs. This works well, but if your model is horribly bad, your</a:t>
            </a:r>
          </a:p>
          <a:p>
            <a:r>
              <a:rPr lang="en-US" dirty="0" smtClean="0"/>
              <a:t>users will complain—not the best idea.</a:t>
            </a:r>
          </a:p>
          <a:p>
            <a:r>
              <a:rPr lang="en-US" dirty="0" smtClean="0"/>
              <a:t>A better option is to split your data into two sets: the training set and the test set. As</a:t>
            </a:r>
          </a:p>
          <a:p>
            <a:r>
              <a:rPr lang="en-US" dirty="0" smtClean="0"/>
              <a:t>these names imply, you train your model using the training set, and you test it using</a:t>
            </a:r>
          </a:p>
          <a:p>
            <a:r>
              <a:rPr lang="en-US" dirty="0" smtClean="0"/>
              <a:t>the test set. The error rate on new cases is called the generalization error (or out-of-</a:t>
            </a:r>
          </a:p>
          <a:p>
            <a:r>
              <a:rPr lang="en-US" dirty="0" smtClean="0"/>
              <a:t>sample error), and by evaluating your model on the test set, you get an estimate of this</a:t>
            </a:r>
          </a:p>
          <a:p>
            <a:r>
              <a:rPr lang="en-US" dirty="0" smtClean="0"/>
              <a:t>error. This value tells you how well your model will perform on instances it has never</a:t>
            </a:r>
          </a:p>
          <a:p>
            <a:r>
              <a:rPr lang="en-US" dirty="0" smtClean="0"/>
              <a:t>seen before.</a:t>
            </a:r>
          </a:p>
          <a:p>
            <a:r>
              <a:rPr lang="en-US" dirty="0" smtClean="0"/>
              <a:t>If the training error is low (i.e., your model makes few mistakes on the training set)</a:t>
            </a:r>
          </a:p>
          <a:p>
            <a:r>
              <a:rPr lang="en-US" dirty="0" smtClean="0"/>
              <a:t>but the generalization error is high, it means that your model is </a:t>
            </a:r>
            <a:r>
              <a:rPr lang="en-US" dirty="0" err="1" smtClean="0"/>
              <a:t>overfitting</a:t>
            </a:r>
            <a:r>
              <a:rPr lang="en-US" dirty="0" smtClean="0"/>
              <a:t> the train‐</a:t>
            </a:r>
          </a:p>
          <a:p>
            <a:r>
              <a:rPr lang="en-US" dirty="0" err="1" smtClean="0"/>
              <a:t>ing</a:t>
            </a:r>
            <a:r>
              <a:rPr lang="en-US" dirty="0" smtClean="0"/>
              <a:t> 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403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768" y="764704"/>
            <a:ext cx="885698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 smtClean="0"/>
              <a:t>Hyperparameter</a:t>
            </a:r>
            <a:r>
              <a:rPr lang="en-US" dirty="0" smtClean="0"/>
              <a:t> Tuning and Model Selection</a:t>
            </a:r>
          </a:p>
          <a:p>
            <a:r>
              <a:rPr lang="en-US" dirty="0" smtClean="0"/>
              <a:t>So evaluating a model is simple enough: just use a test set. Now suppose you are </a:t>
            </a:r>
            <a:r>
              <a:rPr lang="en-US" dirty="0" err="1" smtClean="0"/>
              <a:t>hesi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tating</a:t>
            </a:r>
            <a:r>
              <a:rPr lang="en-US" dirty="0" smtClean="0"/>
              <a:t> between two models (say a linear model and a polynomial model): how can</a:t>
            </a:r>
          </a:p>
          <a:p>
            <a:r>
              <a:rPr lang="en-US" dirty="0" smtClean="0"/>
              <a:t>you decide? One option is to train both and compare how well they generalize using</a:t>
            </a:r>
          </a:p>
          <a:p>
            <a:r>
              <a:rPr lang="en-US" dirty="0" smtClean="0"/>
              <a:t>the test set.</a:t>
            </a:r>
          </a:p>
          <a:p>
            <a:r>
              <a:rPr lang="en-US" dirty="0" smtClean="0"/>
              <a:t>Now suppose that the linear model generalizes better, but you want to apply some</a:t>
            </a:r>
          </a:p>
          <a:p>
            <a:r>
              <a:rPr lang="en-US" dirty="0" smtClean="0"/>
              <a:t>regularization to avoid </a:t>
            </a:r>
            <a:r>
              <a:rPr lang="en-US" dirty="0" err="1" smtClean="0"/>
              <a:t>overfitting</a:t>
            </a:r>
            <a:r>
              <a:rPr lang="en-US" dirty="0" smtClean="0"/>
              <a:t>. The question is: how do you choose the value of</a:t>
            </a:r>
          </a:p>
          <a:p>
            <a:r>
              <a:rPr lang="en-US" dirty="0" smtClean="0"/>
              <a:t>the regularization </a:t>
            </a:r>
            <a:r>
              <a:rPr lang="en-US" dirty="0" err="1" smtClean="0"/>
              <a:t>hyperparameter</a:t>
            </a:r>
            <a:r>
              <a:rPr lang="en-US" dirty="0" smtClean="0"/>
              <a:t>? One option is to train 100 different models using</a:t>
            </a:r>
          </a:p>
          <a:p>
            <a:r>
              <a:rPr lang="en-US" dirty="0" smtClean="0"/>
              <a:t>100 different values for this </a:t>
            </a:r>
            <a:r>
              <a:rPr lang="en-US" dirty="0" err="1" smtClean="0"/>
              <a:t>hyperparameter</a:t>
            </a:r>
            <a:r>
              <a:rPr lang="en-US" dirty="0" smtClean="0"/>
              <a:t>. Suppose you find the best </a:t>
            </a:r>
            <a:r>
              <a:rPr lang="en-US" dirty="0" err="1" smtClean="0"/>
              <a:t>hyperparame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ter</a:t>
            </a:r>
            <a:r>
              <a:rPr lang="en-US" dirty="0" smtClean="0"/>
              <a:t> value that produces a model with the lowest generalization error, say just 5% error.</a:t>
            </a:r>
          </a:p>
          <a:p>
            <a:r>
              <a:rPr lang="en-US" dirty="0" smtClean="0"/>
              <a:t>So you launch this model into production, but unfortunately it does not perform as</a:t>
            </a:r>
          </a:p>
          <a:p>
            <a:r>
              <a:rPr lang="en-US" dirty="0" smtClean="0"/>
              <a:t>well as expected and produces 15% errors. What just happened?</a:t>
            </a:r>
          </a:p>
          <a:p>
            <a:r>
              <a:rPr lang="en-US" dirty="0" smtClean="0"/>
              <a:t>The problem is that you measured the generalization error multiple times on the test</a:t>
            </a:r>
          </a:p>
          <a:p>
            <a:r>
              <a:rPr lang="en-US" dirty="0" smtClean="0"/>
              <a:t>set, and you adapted the model and </a:t>
            </a:r>
            <a:r>
              <a:rPr lang="en-US" dirty="0" err="1" smtClean="0"/>
              <a:t>hyperparameters</a:t>
            </a:r>
            <a:r>
              <a:rPr lang="en-US" dirty="0" smtClean="0"/>
              <a:t> to produce the best model for</a:t>
            </a:r>
          </a:p>
          <a:p>
            <a:r>
              <a:rPr lang="en-US" dirty="0" smtClean="0"/>
              <a:t>that particular set. This means that the model is unlikely to perform as well on new</a:t>
            </a:r>
          </a:p>
          <a:p>
            <a:r>
              <a:rPr lang="en-US" dirty="0" smtClean="0"/>
              <a:t>data.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079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7624" y="620688"/>
            <a:ext cx="610242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 common solution to this problem is called holdout validation: you simply hold out</a:t>
            </a:r>
          </a:p>
          <a:p>
            <a:r>
              <a:rPr lang="en-US" dirty="0" smtClean="0"/>
              <a:t>part of the training set to evaluate several candidate models and select the best one.</a:t>
            </a:r>
          </a:p>
          <a:p>
            <a:r>
              <a:rPr lang="en-US" dirty="0" smtClean="0"/>
              <a:t>The new </a:t>
            </a:r>
            <a:r>
              <a:rPr lang="en-US" dirty="0" err="1" smtClean="0"/>
              <a:t>heldout</a:t>
            </a:r>
            <a:r>
              <a:rPr lang="en-US" dirty="0" smtClean="0"/>
              <a:t> set is called the validation set (or sometimes the development set, or</a:t>
            </a:r>
          </a:p>
          <a:p>
            <a:r>
              <a:rPr lang="en-US" dirty="0" err="1" smtClean="0"/>
              <a:t>dev</a:t>
            </a:r>
            <a:r>
              <a:rPr lang="en-US" dirty="0" smtClean="0"/>
              <a:t> set). More specifically, you train multiple models with various </a:t>
            </a:r>
            <a:r>
              <a:rPr lang="en-US" dirty="0" err="1" smtClean="0"/>
              <a:t>hyperparameters</a:t>
            </a:r>
            <a:endParaRPr lang="en-US" dirty="0" smtClean="0"/>
          </a:p>
          <a:p>
            <a:r>
              <a:rPr lang="en-US" dirty="0" smtClean="0"/>
              <a:t>on the reduced training set (i.e., the full training set minus the validation set), and</a:t>
            </a:r>
          </a:p>
          <a:p>
            <a:r>
              <a:rPr lang="en-US" dirty="0" smtClean="0"/>
              <a:t>you select the model that performs best on the validation set. After this holdout </a:t>
            </a:r>
            <a:r>
              <a:rPr lang="en-US" dirty="0" err="1" smtClean="0"/>
              <a:t>vali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dation</a:t>
            </a:r>
            <a:r>
              <a:rPr lang="en-US" dirty="0" smtClean="0"/>
              <a:t> process, you train the best model on the full training set (including the </a:t>
            </a:r>
            <a:r>
              <a:rPr lang="en-US" dirty="0" err="1" smtClean="0"/>
              <a:t>valida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tion</a:t>
            </a:r>
            <a:r>
              <a:rPr lang="en-US" dirty="0" smtClean="0"/>
              <a:t> set), and this gives you the final model. Lastly, you evaluate this final model on</a:t>
            </a:r>
          </a:p>
          <a:p>
            <a:r>
              <a:rPr lang="en-US" dirty="0" smtClean="0"/>
              <a:t>the test set to get an estimate of the generalization error.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7840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19672" y="116632"/>
            <a:ext cx="639045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solution usually works quite well. However, if the validation set is too small, then</a:t>
            </a:r>
          </a:p>
          <a:p>
            <a:r>
              <a:rPr lang="en-US" dirty="0" smtClean="0"/>
              <a:t>model evaluations will be imprecise: you may end up selecting a suboptimal model by</a:t>
            </a:r>
          </a:p>
          <a:p>
            <a:r>
              <a:rPr lang="en-US" dirty="0" smtClean="0"/>
              <a:t>mistake. Conversely, if the validation set is too large, then the remaining training set</a:t>
            </a:r>
          </a:p>
          <a:p>
            <a:r>
              <a:rPr lang="en-US" dirty="0" smtClean="0"/>
              <a:t>will be much smaller than the full training set. Why is this bad? Well, since the final</a:t>
            </a:r>
          </a:p>
          <a:p>
            <a:r>
              <a:rPr lang="en-US" dirty="0" smtClean="0"/>
              <a:t>model will be trained on the full training set, it is not ideal to compare candidate</a:t>
            </a:r>
          </a:p>
          <a:p>
            <a:r>
              <a:rPr lang="en-US" dirty="0" smtClean="0"/>
              <a:t>models trained on a much smaller training set. It would be like selecting the fastest</a:t>
            </a:r>
          </a:p>
          <a:p>
            <a:r>
              <a:rPr lang="en-US" dirty="0" smtClean="0"/>
              <a:t>sprinter to participate in a marathon. One way to solve this problem is to perform</a:t>
            </a:r>
          </a:p>
          <a:p>
            <a:r>
              <a:rPr lang="en-US" dirty="0" smtClean="0"/>
              <a:t>repeated cross-validation, using many small validation sets. Each model is evaluated</a:t>
            </a:r>
          </a:p>
          <a:p>
            <a:r>
              <a:rPr lang="en-US" dirty="0" smtClean="0"/>
              <a:t>once per validation set, after it is trained on the rest of the data. By averaging out all</a:t>
            </a:r>
          </a:p>
          <a:p>
            <a:r>
              <a:rPr lang="en-US" dirty="0" smtClean="0"/>
              <a:t>the evaluations of a model, we get a much more accurate measure of its performance.</a:t>
            </a:r>
          </a:p>
          <a:p>
            <a:r>
              <a:rPr lang="en-US" dirty="0" smtClean="0"/>
              <a:t>However, there is a drawback: the training time is multiplied by the number of </a:t>
            </a:r>
            <a:r>
              <a:rPr lang="en-US" dirty="0" err="1" smtClean="0"/>
              <a:t>valida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tion</a:t>
            </a:r>
            <a:r>
              <a:rPr lang="en-US" dirty="0" smtClean="0"/>
              <a:t> sets.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1019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952" y="1315219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Data Mismatch</a:t>
            </a:r>
          </a:p>
          <a:p>
            <a:r>
              <a:rPr lang="en-US" dirty="0" smtClean="0"/>
              <a:t>In some cases, it is easy to get a large amount of data for training, but it is not per‐</a:t>
            </a:r>
          </a:p>
          <a:p>
            <a:r>
              <a:rPr lang="en-US" dirty="0" err="1" smtClean="0"/>
              <a:t>fectly</a:t>
            </a:r>
            <a:r>
              <a:rPr lang="en-US" dirty="0" smtClean="0"/>
              <a:t> representative of the data that will be used in production. For example, suppose</a:t>
            </a:r>
          </a:p>
          <a:p>
            <a:r>
              <a:rPr lang="en-US" dirty="0" smtClean="0"/>
              <a:t>you want to create a mobile app to take pictures of flowers and automatically deter‐</a:t>
            </a:r>
          </a:p>
          <a:p>
            <a:r>
              <a:rPr lang="en-US" dirty="0" smtClean="0"/>
              <a:t>mine their species. You can easily download millions of pictures of flowers on the</a:t>
            </a:r>
          </a:p>
          <a:p>
            <a:r>
              <a:rPr lang="en-US" dirty="0" smtClean="0"/>
              <a:t>web, but they won’t be perfectly representative of the pictures that will actually be</a:t>
            </a:r>
          </a:p>
          <a:p>
            <a:r>
              <a:rPr lang="en-US" dirty="0" smtClean="0"/>
              <a:t>taken using the app on a mobile device. Perhaps you only have 10,000 representative</a:t>
            </a:r>
          </a:p>
          <a:p>
            <a:r>
              <a:rPr lang="en-US" dirty="0" smtClean="0"/>
              <a:t>pictures (i.e., actually taken with the app). In this case, the most important rule to</a:t>
            </a:r>
          </a:p>
          <a:p>
            <a:r>
              <a:rPr lang="en-US" dirty="0" smtClean="0"/>
              <a:t>remember is that the validation set and the test must be as representative as possible</a:t>
            </a:r>
          </a:p>
          <a:p>
            <a:r>
              <a:rPr lang="en-US" dirty="0" smtClean="0"/>
              <a:t>of the data you expect to use in production, so they should be composed exclusively</a:t>
            </a:r>
          </a:p>
          <a:p>
            <a:r>
              <a:rPr lang="en-US" dirty="0" smtClean="0"/>
              <a:t>of representative pictures: you can shuffle them and put half in the validation set, and</a:t>
            </a:r>
          </a:p>
          <a:p>
            <a:r>
              <a:rPr lang="en-US" dirty="0" smtClean="0"/>
              <a:t>half in the test set (making sure that no duplicates or near-duplicates end up in both</a:t>
            </a:r>
          </a:p>
          <a:p>
            <a:r>
              <a:rPr lang="en-US" dirty="0" smtClean="0"/>
              <a:t>sets).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891023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1484784"/>
            <a:ext cx="90719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After training your model on the web pictures, if you observe that the </a:t>
            </a:r>
            <a:r>
              <a:rPr lang="en-US" dirty="0" err="1" smtClean="0"/>
              <a:t>perfor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mance</a:t>
            </a:r>
            <a:r>
              <a:rPr lang="en-US" dirty="0" smtClean="0"/>
              <a:t> of your model on the validation set is disappointing, you will not know</a:t>
            </a:r>
          </a:p>
          <a:p>
            <a:r>
              <a:rPr lang="en-US" dirty="0" smtClean="0"/>
              <a:t>whether this is because your model has </a:t>
            </a:r>
            <a:r>
              <a:rPr lang="en-US" dirty="0" err="1" smtClean="0"/>
              <a:t>overfit</a:t>
            </a:r>
            <a:r>
              <a:rPr lang="en-US" dirty="0" smtClean="0"/>
              <a:t> the training set, or whether this is just</a:t>
            </a:r>
          </a:p>
          <a:p>
            <a:r>
              <a:rPr lang="en-US" dirty="0" smtClean="0"/>
              <a:t>due to the mismatch between the web pictures and the mobile app pictures. One sol‐</a:t>
            </a:r>
          </a:p>
          <a:p>
            <a:r>
              <a:rPr lang="en-US" dirty="0" err="1" smtClean="0"/>
              <a:t>ution</a:t>
            </a:r>
            <a:r>
              <a:rPr lang="en-US" dirty="0" smtClean="0"/>
              <a:t> is to hold out part of the training pictures (from the web) in yet another set that</a:t>
            </a:r>
          </a:p>
          <a:p>
            <a:r>
              <a:rPr lang="en-US" dirty="0" smtClean="0"/>
              <a:t>Andrew Ng calls the train-</a:t>
            </a:r>
            <a:r>
              <a:rPr lang="en-US" dirty="0" err="1" smtClean="0"/>
              <a:t>dev</a:t>
            </a:r>
            <a:r>
              <a:rPr lang="en-US" dirty="0" smtClean="0"/>
              <a:t> set. After the model is trained (on the training set, not</a:t>
            </a:r>
          </a:p>
          <a:p>
            <a:r>
              <a:rPr lang="en-US" dirty="0" smtClean="0"/>
              <a:t>on the train-</a:t>
            </a:r>
            <a:r>
              <a:rPr lang="en-US" dirty="0" err="1" smtClean="0"/>
              <a:t>dev</a:t>
            </a:r>
            <a:r>
              <a:rPr lang="en-US" dirty="0" smtClean="0"/>
              <a:t> set), you can evaluate it on the train-</a:t>
            </a:r>
            <a:r>
              <a:rPr lang="en-US" dirty="0" err="1" smtClean="0"/>
              <a:t>dev</a:t>
            </a:r>
            <a:r>
              <a:rPr lang="en-US" dirty="0" smtClean="0"/>
              <a:t> set: if it performs well, then</a:t>
            </a:r>
          </a:p>
          <a:p>
            <a:r>
              <a:rPr lang="en-US" dirty="0" smtClean="0"/>
              <a:t>the model is not </a:t>
            </a:r>
            <a:r>
              <a:rPr lang="en-US" dirty="0" err="1" smtClean="0"/>
              <a:t>overfitting</a:t>
            </a:r>
            <a:r>
              <a:rPr lang="en-US" dirty="0" smtClean="0"/>
              <a:t> the training set, so if performs poorly on the validation</a:t>
            </a:r>
          </a:p>
          <a:p>
            <a:r>
              <a:rPr lang="en-US" dirty="0" smtClean="0"/>
              <a:t>set, the problem must come from the data mismatch. You can try to tackle this </a:t>
            </a:r>
            <a:r>
              <a:rPr lang="en-US" dirty="0" err="1" smtClean="0"/>
              <a:t>prob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lem</a:t>
            </a:r>
            <a:r>
              <a:rPr lang="en-US" dirty="0" smtClean="0"/>
              <a:t> by preprocessing the web images to make them look more like the pictures that</a:t>
            </a:r>
          </a:p>
          <a:p>
            <a:r>
              <a:rPr lang="en-US" dirty="0" smtClean="0"/>
              <a:t>will be taken by the mobile app, and then retraining the model. Conversely, if the</a:t>
            </a:r>
          </a:p>
          <a:p>
            <a:r>
              <a:rPr lang="en-US" dirty="0" smtClean="0"/>
              <a:t>model performs poorly on the train-</a:t>
            </a:r>
            <a:r>
              <a:rPr lang="en-US" dirty="0" err="1" smtClean="0"/>
              <a:t>dev</a:t>
            </a:r>
            <a:r>
              <a:rPr lang="en-US" dirty="0" smtClean="0"/>
              <a:t> set, then the model must have </a:t>
            </a:r>
            <a:r>
              <a:rPr lang="en-US" dirty="0" err="1" smtClean="0"/>
              <a:t>overfit</a:t>
            </a:r>
            <a:r>
              <a:rPr lang="en-US" dirty="0" smtClean="0"/>
              <a:t> the</a:t>
            </a:r>
          </a:p>
          <a:p>
            <a:r>
              <a:rPr lang="en-US" dirty="0" smtClean="0"/>
              <a:t>training set, so you should try to simplify or regularize the model, get more training</a:t>
            </a:r>
          </a:p>
          <a:p>
            <a:r>
              <a:rPr lang="en-US" dirty="0" smtClean="0"/>
              <a:t>data and clean up the training data, as discussed earlier.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5998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35847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No Free Lunch Theorem</a:t>
            </a:r>
          </a:p>
          <a:p>
            <a:r>
              <a:rPr lang="en-US" dirty="0" smtClean="0"/>
              <a:t>A model is a simplified version of the observations. The simplifications are meant to</a:t>
            </a:r>
          </a:p>
          <a:p>
            <a:r>
              <a:rPr lang="en-US" dirty="0" smtClean="0"/>
              <a:t>discard the superfluous details that are unlikely to generalize to new instances. How‐</a:t>
            </a:r>
          </a:p>
          <a:p>
            <a:r>
              <a:rPr lang="en-US" dirty="0" smtClean="0"/>
              <a:t>ever, to decide what data to discard and what data to keep, you must make </a:t>
            </a:r>
            <a:r>
              <a:rPr lang="en-US" dirty="0" err="1" smtClean="0"/>
              <a:t>assump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tions</a:t>
            </a:r>
            <a:r>
              <a:rPr lang="en-US" dirty="0" smtClean="0"/>
              <a:t>. For example, a linear model makes the assumption that the data is</a:t>
            </a:r>
          </a:p>
          <a:p>
            <a:r>
              <a:rPr lang="en-US" dirty="0" smtClean="0"/>
              <a:t>fundamentally linear and that the distance between the instances and the straight line</a:t>
            </a:r>
          </a:p>
          <a:p>
            <a:r>
              <a:rPr lang="en-US" dirty="0" smtClean="0"/>
              <a:t>is just noise, which can safely be ignored.</a:t>
            </a:r>
          </a:p>
          <a:p>
            <a:r>
              <a:rPr lang="en-US" dirty="0" smtClean="0"/>
              <a:t>In a famous 1996 paper,11</a:t>
            </a:r>
          </a:p>
          <a:p>
            <a:r>
              <a:rPr lang="en-US" dirty="0" smtClean="0"/>
              <a:t>David </a:t>
            </a:r>
            <a:r>
              <a:rPr lang="en-US" dirty="0" err="1" smtClean="0"/>
              <a:t>Wolpert</a:t>
            </a:r>
            <a:r>
              <a:rPr lang="en-US" dirty="0" smtClean="0"/>
              <a:t> demonstrated that if you make absolutely</a:t>
            </a:r>
          </a:p>
          <a:p>
            <a:r>
              <a:rPr lang="en-US" dirty="0" smtClean="0"/>
              <a:t>no assumption about the data, then there is no reason to prefer one model over any</a:t>
            </a:r>
          </a:p>
          <a:p>
            <a:r>
              <a:rPr lang="en-US" dirty="0" smtClean="0"/>
              <a:t>other. This is called the No Free Lunch (NFL) theorem. For some datasets the best model is a linear model, while for other datasets it is a neural network. There is no</a:t>
            </a:r>
          </a:p>
          <a:p>
            <a:r>
              <a:rPr lang="en-US" dirty="0" smtClean="0"/>
              <a:t>model that is a priori guaranteed to work better (hence the name of the theorem). The</a:t>
            </a:r>
          </a:p>
          <a:p>
            <a:r>
              <a:rPr lang="en-US" dirty="0" smtClean="0"/>
              <a:t>only way to know for sure which model is best is to evaluate them all. Since this is not</a:t>
            </a:r>
          </a:p>
          <a:p>
            <a:r>
              <a:rPr lang="en-US" dirty="0" smtClean="0"/>
              <a:t>possible, in practice you make some reasonable assumptions about the data and you</a:t>
            </a:r>
          </a:p>
          <a:p>
            <a:r>
              <a:rPr lang="en-US" dirty="0" smtClean="0"/>
              <a:t>evaluate only a few reasonable models. For example, for simple tasks you may </a:t>
            </a:r>
            <a:r>
              <a:rPr lang="en-US" dirty="0" err="1" smtClean="0"/>
              <a:t>evalu</a:t>
            </a:r>
            <a:r>
              <a:rPr lang="en-US" dirty="0" smtClean="0"/>
              <a:t>‐</a:t>
            </a:r>
          </a:p>
          <a:p>
            <a:r>
              <a:rPr lang="en-US" dirty="0" smtClean="0"/>
              <a:t>ate linear models with various levels of regularization, and for a complex problem you</a:t>
            </a:r>
          </a:p>
          <a:p>
            <a:r>
              <a:rPr lang="en-US" dirty="0" smtClean="0"/>
              <a:t>may evaluate various neural networks.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9289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480" y="836712"/>
            <a:ext cx="910850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In this chapter we have covered some of the most important concepts in Machine</a:t>
            </a:r>
          </a:p>
          <a:p>
            <a:r>
              <a:rPr lang="en-US" dirty="0" smtClean="0"/>
              <a:t>Learning. In the next chapters we will dive deeper and write more code, but before we</a:t>
            </a:r>
          </a:p>
          <a:p>
            <a:r>
              <a:rPr lang="en-US" dirty="0" smtClean="0"/>
              <a:t>do, make sure you know how to answer the following questions:</a:t>
            </a:r>
          </a:p>
          <a:p>
            <a:r>
              <a:rPr lang="en-US" dirty="0" smtClean="0"/>
              <a:t>1. How would you define Machine Learning?</a:t>
            </a:r>
          </a:p>
          <a:p>
            <a:r>
              <a:rPr lang="en-US" dirty="0" smtClean="0"/>
              <a:t>2. Can you name four types of problems where it shines?</a:t>
            </a:r>
          </a:p>
          <a:p>
            <a:r>
              <a:rPr lang="en-US" dirty="0" smtClean="0"/>
              <a:t>3. What is a labeled training set?</a:t>
            </a:r>
          </a:p>
          <a:p>
            <a:r>
              <a:rPr lang="en-US" dirty="0" smtClean="0"/>
              <a:t>4. What are the two most common supervised tasks?</a:t>
            </a:r>
          </a:p>
          <a:p>
            <a:r>
              <a:rPr lang="en-US" dirty="0" smtClean="0"/>
              <a:t>5. Can you name four common unsupervised tasks?</a:t>
            </a:r>
          </a:p>
          <a:p>
            <a:r>
              <a:rPr lang="en-US" dirty="0" smtClean="0"/>
              <a:t>6. What type of Machine Learning algorithm would you use to allow a robot to</a:t>
            </a:r>
          </a:p>
          <a:p>
            <a:r>
              <a:rPr lang="en-US" dirty="0" smtClean="0"/>
              <a:t>walk in various unknown terrains?</a:t>
            </a:r>
          </a:p>
          <a:p>
            <a:r>
              <a:rPr lang="en-US" dirty="0" smtClean="0"/>
              <a:t>7. What type of algorithm would you use to segment your customers into multiple</a:t>
            </a:r>
          </a:p>
          <a:p>
            <a:r>
              <a:rPr lang="en-US" dirty="0" smtClean="0"/>
              <a:t>groups?</a:t>
            </a:r>
          </a:p>
          <a:p>
            <a:r>
              <a:rPr lang="en-US" dirty="0" smtClean="0"/>
              <a:t>8. Would you frame the problem of spam detection as a supervised learning </a:t>
            </a:r>
            <a:r>
              <a:rPr lang="en-US" dirty="0" err="1" smtClean="0"/>
              <a:t>prob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lem</a:t>
            </a:r>
            <a:r>
              <a:rPr lang="en-US" dirty="0" smtClean="0"/>
              <a:t> or an unsupervised learning problem?</a:t>
            </a:r>
          </a:p>
          <a:p>
            <a:r>
              <a:rPr lang="en-US" dirty="0" smtClean="0"/>
              <a:t>9. What is an online learning system?</a:t>
            </a:r>
          </a:p>
          <a:p>
            <a:r>
              <a:rPr lang="en-US" dirty="0" smtClean="0"/>
              <a:t>10. What is out-of-core learning?</a:t>
            </a:r>
          </a:p>
          <a:p>
            <a:r>
              <a:rPr lang="en-US" dirty="0" smtClean="0"/>
              <a:t>11. What type of learning algorithm relies on a similarity measure to make </a:t>
            </a:r>
            <a:r>
              <a:rPr lang="en-US" dirty="0" err="1" smtClean="0"/>
              <a:t>predic</a:t>
            </a:r>
            <a:r>
              <a:rPr lang="en-US" dirty="0" smtClean="0"/>
              <a:t>‐</a:t>
            </a:r>
          </a:p>
          <a:p>
            <a:r>
              <a:rPr lang="en-US" dirty="0" err="1" smtClean="0"/>
              <a:t>tions</a:t>
            </a:r>
            <a:r>
              <a:rPr lang="en-US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3212145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1166843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12. What is the difference between a model parameter and a learning algorithm’s</a:t>
            </a:r>
          </a:p>
          <a:p>
            <a:r>
              <a:rPr lang="en-US" dirty="0" err="1" smtClean="0"/>
              <a:t>hyperparameter</a:t>
            </a:r>
            <a:r>
              <a:rPr lang="en-US" dirty="0" smtClean="0"/>
              <a:t>?</a:t>
            </a:r>
          </a:p>
          <a:p>
            <a:r>
              <a:rPr lang="en-US" dirty="0" smtClean="0"/>
              <a:t>13. What do model-based learning algorithms search for? What is the most common</a:t>
            </a:r>
          </a:p>
          <a:p>
            <a:r>
              <a:rPr lang="en-US" dirty="0" smtClean="0"/>
              <a:t>strategy they use to succeed? How do they make predictions?</a:t>
            </a:r>
          </a:p>
          <a:p>
            <a:r>
              <a:rPr lang="en-US" dirty="0" smtClean="0"/>
              <a:t>14. Can you name four of the main challenges in Machine Learning?</a:t>
            </a:r>
          </a:p>
          <a:p>
            <a:r>
              <a:rPr lang="en-US" dirty="0" smtClean="0"/>
              <a:t>15. If your model performs great on the training data but generalizes poorly to new</a:t>
            </a:r>
          </a:p>
          <a:p>
            <a:r>
              <a:rPr lang="en-US" dirty="0" smtClean="0"/>
              <a:t>instances, what is happening? Can you name three possible solutions?</a:t>
            </a:r>
          </a:p>
          <a:p>
            <a:r>
              <a:rPr lang="en-US" dirty="0" smtClean="0"/>
              <a:t>16. What is a test set and why would you want to use it?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1656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2274838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17. What is the purpose of a validation set?</a:t>
            </a:r>
          </a:p>
          <a:p>
            <a:r>
              <a:rPr lang="en-US" dirty="0" smtClean="0"/>
              <a:t>18. What can go wrong if you tune </a:t>
            </a:r>
            <a:r>
              <a:rPr lang="en-US" dirty="0" err="1" smtClean="0"/>
              <a:t>hyperparameters</a:t>
            </a:r>
            <a:r>
              <a:rPr lang="en-US" dirty="0" smtClean="0"/>
              <a:t> using the test set?</a:t>
            </a:r>
          </a:p>
          <a:p>
            <a:r>
              <a:rPr lang="en-US" dirty="0" smtClean="0"/>
              <a:t>19. What is repeated cross-validation and why would you prefer it to using a single</a:t>
            </a:r>
          </a:p>
          <a:p>
            <a:r>
              <a:rPr lang="en-US" dirty="0" smtClean="0"/>
              <a:t>validation set?</a:t>
            </a:r>
          </a:p>
          <a:p>
            <a:r>
              <a:rPr lang="en-US" dirty="0" smtClean="0"/>
              <a:t>Solutions to these exercises are available in ???.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80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238</TotalTime>
  <Words>8399</Words>
  <Application>Microsoft Office PowerPoint</Application>
  <PresentationFormat>On-screen Show (4:3)</PresentationFormat>
  <Paragraphs>635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Elemental</vt:lpstr>
      <vt:lpstr>MACHINE LEARNING</vt:lpstr>
      <vt:lpstr>ROADMAP</vt:lpstr>
      <vt:lpstr>PowerPoint Presentation</vt:lpstr>
      <vt:lpstr>Why Use Machine Learning?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</dc:title>
  <dc:creator>mayar</dc:creator>
  <cp:lastModifiedBy>mayar</cp:lastModifiedBy>
  <cp:revision>19</cp:revision>
  <dcterms:created xsi:type="dcterms:W3CDTF">2023-10-10T21:41:43Z</dcterms:created>
  <dcterms:modified xsi:type="dcterms:W3CDTF">2023-10-11T01:40:24Z</dcterms:modified>
</cp:coreProperties>
</file>